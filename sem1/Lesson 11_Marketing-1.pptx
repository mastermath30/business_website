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8" r:id="rId4"/>
    <p:sldMasterId id="2147483849" r:id="rId5"/>
    <p:sldMasterId id="2147483862" r:id="rId6"/>
  </p:sldMasterIdLst>
  <p:notesMasterIdLst>
    <p:notesMasterId r:id="rId29"/>
  </p:notesMasterIdLst>
  <p:handoutMasterIdLst>
    <p:handoutMasterId r:id="rId30"/>
  </p:handoutMasterIdLst>
  <p:sldIdLst>
    <p:sldId id="420" r:id="rId7"/>
    <p:sldId id="421" r:id="rId8"/>
    <p:sldId id="264" r:id="rId9"/>
    <p:sldId id="256" r:id="rId10"/>
    <p:sldId id="260" r:id="rId11"/>
    <p:sldId id="426" r:id="rId12"/>
    <p:sldId id="272" r:id="rId13"/>
    <p:sldId id="430" r:id="rId14"/>
    <p:sldId id="273" r:id="rId15"/>
    <p:sldId id="275" r:id="rId16"/>
    <p:sldId id="276" r:id="rId17"/>
    <p:sldId id="431" r:id="rId18"/>
    <p:sldId id="433" r:id="rId19"/>
    <p:sldId id="259" r:id="rId20"/>
    <p:sldId id="425" r:id="rId21"/>
    <p:sldId id="424" r:id="rId22"/>
    <p:sldId id="422" r:id="rId23"/>
    <p:sldId id="423" r:id="rId24"/>
    <p:sldId id="428" r:id="rId25"/>
    <p:sldId id="427" r:id="rId26"/>
    <p:sldId id="429" r:id="rId27"/>
    <p:sldId id="432" r:id="rId28"/>
  </p:sldIdLst>
  <p:sldSz cx="9144000" cy="5143500" type="screen16x9"/>
  <p:notesSz cx="7010400" cy="92964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3" pos="2232" userDrawn="1">
          <p15:clr>
            <a:srgbClr val="A4A3A4"/>
          </p15:clr>
        </p15:guide>
        <p15:guide id="4"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4042"/>
    <a:srgbClr val="595959"/>
    <a:srgbClr val="E2F0D0"/>
    <a:srgbClr val="91CAAA"/>
    <a:srgbClr val="DBDADC"/>
    <a:srgbClr val="2597CB"/>
    <a:srgbClr val="2370AF"/>
    <a:srgbClr val="4EABD5"/>
    <a:srgbClr val="E46C24"/>
    <a:srgbClr val="E89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0A2777-DB5C-49E3-B2E9-8FF86C4BB78B}" v="76" dt="2025-12-11T20:27:19.671"/>
  </p1510:revLst>
</p1510:revInfo>
</file>

<file path=ppt/tableStyles.xml><?xml version="1.0" encoding="utf-8"?>
<a:tblStyleLst xmlns:a="http://schemas.openxmlformats.org/drawingml/2006/main" def="{2D5ABB26-0587-4C30-8999-92F81FD0307C}">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124" autoAdjust="0"/>
  </p:normalViewPr>
  <p:slideViewPr>
    <p:cSldViewPr snapToGrid="0">
      <p:cViewPr varScale="1">
        <p:scale>
          <a:sx n="51" d="100"/>
          <a:sy n="51" d="100"/>
        </p:scale>
        <p:origin x="1608" y="24"/>
      </p:cViewPr>
      <p:guideLst>
        <p:guide pos="2880"/>
        <p:guide pos="2232"/>
        <p:guide orient="horz" pos="1620"/>
      </p:guideLst>
    </p:cSldViewPr>
  </p:slideViewPr>
  <p:notesTextViewPr>
    <p:cViewPr>
      <p:scale>
        <a:sx n="3" d="2"/>
        <a:sy n="3" d="2"/>
      </p:scale>
      <p:origin x="0" y="-4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fka Schafer" userId="318b1ac2-30d3-4beb-81ce-7e66308a1db1" providerId="ADAL" clId="{6ADB8242-FC07-4006-B08C-E5283FADA5DD}"/>
    <pc:docChg chg="custSel delSld modSld">
      <pc:chgData name="Ryfka Schafer" userId="318b1ac2-30d3-4beb-81ce-7e66308a1db1" providerId="ADAL" clId="{6ADB8242-FC07-4006-B08C-E5283FADA5DD}" dt="2025-12-11T20:27:19.671" v="150"/>
      <pc:docMkLst>
        <pc:docMk/>
      </pc:docMkLst>
      <pc:sldChg chg="addSp delSp modSp mod">
        <pc:chgData name="Ryfka Schafer" userId="318b1ac2-30d3-4beb-81ce-7e66308a1db1" providerId="ADAL" clId="{6ADB8242-FC07-4006-B08C-E5283FADA5DD}" dt="2025-12-08T19:59:34.161" v="66"/>
        <pc:sldMkLst>
          <pc:docMk/>
          <pc:sldMk cId="369342865" sldId="256"/>
        </pc:sldMkLst>
        <pc:spChg chg="add mod">
          <ac:chgData name="Ryfka Schafer" userId="318b1ac2-30d3-4beb-81ce-7e66308a1db1" providerId="ADAL" clId="{6ADB8242-FC07-4006-B08C-E5283FADA5DD}" dt="2025-12-08T19:59:34.161" v="66"/>
          <ac:spMkLst>
            <pc:docMk/>
            <pc:sldMk cId="369342865" sldId="256"/>
            <ac:spMk id="4" creationId="{B54F80BB-0966-B478-4E80-6CC3A90DA08A}"/>
          </ac:spMkLst>
        </pc:spChg>
      </pc:sldChg>
      <pc:sldChg chg="addSp delSp modSp mod">
        <pc:chgData name="Ryfka Schafer" userId="318b1ac2-30d3-4beb-81ce-7e66308a1db1" providerId="ADAL" clId="{6ADB8242-FC07-4006-B08C-E5283FADA5DD}" dt="2025-12-11T20:09:41.016" v="138"/>
        <pc:sldMkLst>
          <pc:docMk/>
          <pc:sldMk cId="843997422" sldId="259"/>
        </pc:sldMkLst>
        <pc:spChg chg="add del mod">
          <ac:chgData name="Ryfka Schafer" userId="318b1ac2-30d3-4beb-81ce-7e66308a1db1" providerId="ADAL" clId="{6ADB8242-FC07-4006-B08C-E5283FADA5DD}" dt="2025-12-11T20:09:24.607" v="122"/>
          <ac:spMkLst>
            <pc:docMk/>
            <pc:sldMk cId="843997422" sldId="259"/>
            <ac:spMk id="5" creationId="{87C5F012-FD4E-4C34-18E4-4FF75F38FC2C}"/>
          </ac:spMkLst>
        </pc:spChg>
        <pc:spChg chg="add del mod">
          <ac:chgData name="Ryfka Schafer" userId="318b1ac2-30d3-4beb-81ce-7e66308a1db1" providerId="ADAL" clId="{6ADB8242-FC07-4006-B08C-E5283FADA5DD}" dt="2025-12-11T20:09:26.418" v="128"/>
          <ac:spMkLst>
            <pc:docMk/>
            <pc:sldMk cId="843997422" sldId="259"/>
            <ac:spMk id="6" creationId="{DB5E6A00-93AB-319D-7DAF-A22374FD4952}"/>
          </ac:spMkLst>
        </pc:spChg>
        <pc:spChg chg="add del mod">
          <ac:chgData name="Ryfka Schafer" userId="318b1ac2-30d3-4beb-81ce-7e66308a1db1" providerId="ADAL" clId="{6ADB8242-FC07-4006-B08C-E5283FADA5DD}" dt="2025-12-11T20:09:35.396" v="134"/>
          <ac:spMkLst>
            <pc:docMk/>
            <pc:sldMk cId="843997422" sldId="259"/>
            <ac:spMk id="7" creationId="{1B9C3799-AD38-A328-567C-790EF716BA4A}"/>
          </ac:spMkLst>
        </pc:spChg>
        <pc:spChg chg="add del mod">
          <ac:chgData name="Ryfka Schafer" userId="318b1ac2-30d3-4beb-81ce-7e66308a1db1" providerId="ADAL" clId="{6ADB8242-FC07-4006-B08C-E5283FADA5DD}" dt="2025-12-10T17:15:53.496" v="104"/>
          <ac:spMkLst>
            <pc:docMk/>
            <pc:sldMk cId="843997422" sldId="259"/>
            <ac:spMk id="7" creationId="{45A83371-922F-9084-D7F8-E044230FA7C7}"/>
          </ac:spMkLst>
        </pc:spChg>
        <pc:spChg chg="add mod">
          <ac:chgData name="Ryfka Schafer" userId="318b1ac2-30d3-4beb-81ce-7e66308a1db1" providerId="ADAL" clId="{6ADB8242-FC07-4006-B08C-E5283FADA5DD}" dt="2025-12-11T20:09:41.016" v="138"/>
          <ac:spMkLst>
            <pc:docMk/>
            <pc:sldMk cId="843997422" sldId="259"/>
            <ac:spMk id="8" creationId="{5992AC7A-9E43-AC05-A134-53DB517B58FE}"/>
          </ac:spMkLst>
        </pc:spChg>
      </pc:sldChg>
      <pc:sldChg chg="addSp delSp modSp mod">
        <pc:chgData name="Ryfka Schafer" userId="318b1ac2-30d3-4beb-81ce-7e66308a1db1" providerId="ADAL" clId="{6ADB8242-FC07-4006-B08C-E5283FADA5DD}" dt="2025-12-08T19:59:40.771" v="72"/>
        <pc:sldMkLst>
          <pc:docMk/>
          <pc:sldMk cId="3235930293" sldId="426"/>
        </pc:sldMkLst>
        <pc:spChg chg="add mod">
          <ac:chgData name="Ryfka Schafer" userId="318b1ac2-30d3-4beb-81ce-7e66308a1db1" providerId="ADAL" clId="{6ADB8242-FC07-4006-B08C-E5283FADA5DD}" dt="2025-12-08T19:59:40.771" v="72"/>
          <ac:spMkLst>
            <pc:docMk/>
            <pc:sldMk cId="3235930293" sldId="426"/>
            <ac:spMk id="5" creationId="{EC48C479-469D-ECE9-DEEC-F597F78DBBCC}"/>
          </ac:spMkLst>
        </pc:spChg>
      </pc:sldChg>
      <pc:sldChg chg="addSp delSp modSp mod">
        <pc:chgData name="Ryfka Schafer" userId="318b1ac2-30d3-4beb-81ce-7e66308a1db1" providerId="ADAL" clId="{6ADB8242-FC07-4006-B08C-E5283FADA5DD}" dt="2025-12-11T20:27:19.671" v="150"/>
        <pc:sldMkLst>
          <pc:docMk/>
          <pc:sldMk cId="2445273959" sldId="427"/>
        </pc:sldMkLst>
        <pc:spChg chg="add del mod">
          <ac:chgData name="Ryfka Schafer" userId="318b1ac2-30d3-4beb-81ce-7e66308a1db1" providerId="ADAL" clId="{6ADB8242-FC07-4006-B08C-E5283FADA5DD}" dt="2025-12-11T20:10:20.010" v="142"/>
          <ac:spMkLst>
            <pc:docMk/>
            <pc:sldMk cId="2445273959" sldId="427"/>
            <ac:spMk id="3" creationId="{1A6DD948-E4F9-28D2-08FA-786F5D31D4B4}"/>
          </ac:spMkLst>
        </pc:spChg>
        <pc:spChg chg="add del mod">
          <ac:chgData name="Ryfka Schafer" userId="318b1ac2-30d3-4beb-81ce-7e66308a1db1" providerId="ADAL" clId="{6ADB8242-FC07-4006-B08C-E5283FADA5DD}" dt="2025-12-11T17:17:43.354" v="112"/>
          <ac:spMkLst>
            <pc:docMk/>
            <pc:sldMk cId="2445273959" sldId="427"/>
            <ac:spMk id="4" creationId="{BF30B901-72C2-31C8-A635-B140B9FB39CE}"/>
          </ac:spMkLst>
        </pc:spChg>
        <pc:spChg chg="add mod">
          <ac:chgData name="Ryfka Schafer" userId="318b1ac2-30d3-4beb-81ce-7e66308a1db1" providerId="ADAL" clId="{6ADB8242-FC07-4006-B08C-E5283FADA5DD}" dt="2025-12-11T20:27:19.666" v="146"/>
          <ac:spMkLst>
            <pc:docMk/>
            <pc:sldMk cId="2445273959" sldId="427"/>
            <ac:spMk id="4" creationId="{CFAD9744-DC3D-9BAC-8315-2356D1B30135}"/>
          </ac:spMkLst>
        </pc:spChg>
        <pc:spChg chg="add del mod">
          <ac:chgData name="Ryfka Schafer" userId="318b1ac2-30d3-4beb-81ce-7e66308a1db1" providerId="ADAL" clId="{6ADB8242-FC07-4006-B08C-E5283FADA5DD}" dt="2025-12-11T17:17:43.354" v="110"/>
          <ac:spMkLst>
            <pc:docMk/>
            <pc:sldMk cId="2445273959" sldId="427"/>
            <ac:spMk id="5" creationId="{D2BEB7BD-DE90-F57E-D450-DF561BDA6E6A}"/>
          </ac:spMkLst>
        </pc:spChg>
        <pc:spChg chg="add mod">
          <ac:chgData name="Ryfka Schafer" userId="318b1ac2-30d3-4beb-81ce-7e66308a1db1" providerId="ADAL" clId="{6ADB8242-FC07-4006-B08C-E5283FADA5DD}" dt="2025-12-11T20:27:19.671" v="150"/>
          <ac:spMkLst>
            <pc:docMk/>
            <pc:sldMk cId="2445273959" sldId="427"/>
            <ac:spMk id="5" creationId="{E8CDA58E-92D0-0F4B-BA0B-570403EEEB98}"/>
          </ac:spMkLst>
        </pc:spChg>
        <pc:spChg chg="add del mod">
          <ac:chgData name="Ryfka Schafer" userId="318b1ac2-30d3-4beb-81ce-7e66308a1db1" providerId="ADAL" clId="{6ADB8242-FC07-4006-B08C-E5283FADA5DD}" dt="2025-12-11T20:10:20.010" v="140"/>
          <ac:spMkLst>
            <pc:docMk/>
            <pc:sldMk cId="2445273959" sldId="427"/>
            <ac:spMk id="6" creationId="{C6E4FC05-DA36-709B-2A2A-8696F4049AA5}"/>
          </ac:spMkLst>
        </pc:spChg>
      </pc:sldChg>
      <pc:sldChg chg="modSp mod">
        <pc:chgData name="Ryfka Schafer" userId="318b1ac2-30d3-4beb-81ce-7e66308a1db1" providerId="ADAL" clId="{6ADB8242-FC07-4006-B08C-E5283FADA5DD}" dt="2025-12-08T17:38:41.547" v="60"/>
        <pc:sldMkLst>
          <pc:docMk/>
          <pc:sldMk cId="1697027170" sldId="433"/>
        </pc:sldMkLst>
        <pc:spChg chg="mod">
          <ac:chgData name="Ryfka Schafer" userId="318b1ac2-30d3-4beb-81ce-7e66308a1db1" providerId="ADAL" clId="{6ADB8242-FC07-4006-B08C-E5283FADA5DD}" dt="2025-12-08T17:38:41.547" v="60"/>
          <ac:spMkLst>
            <pc:docMk/>
            <pc:sldMk cId="1697027170" sldId="433"/>
            <ac:spMk id="3" creationId="{C5883466-4CF8-758F-578C-9E4D0E16409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1C2FC3-D3FB-45A8-ABB0-08EBB9B7AE03}" type="doc">
      <dgm:prSet loTypeId="urn:microsoft.com/office/officeart/2005/8/layout/matrix1" loCatId="matrix" qsTypeId="urn:microsoft.com/office/officeart/2005/8/quickstyle/simple5" qsCatId="simple" csTypeId="urn:microsoft.com/office/officeart/2005/8/colors/colorful1" csCatId="colorful" phldr="1"/>
      <dgm:spPr/>
      <dgm:t>
        <a:bodyPr/>
        <a:lstStyle/>
        <a:p>
          <a:endParaRPr lang="en-US"/>
        </a:p>
      </dgm:t>
    </dgm:pt>
    <dgm:pt modelId="{9A4FFBA9-3EF7-4FC2-A722-06613F870A48}">
      <dgm:prSet phldrT="[Text]"/>
      <dgm:spPr/>
      <dgm:t>
        <a:bodyPr/>
        <a:lstStyle/>
        <a:p>
          <a:r>
            <a:rPr lang="en-US" b="1" dirty="0"/>
            <a:t>Who</a:t>
          </a:r>
          <a:r>
            <a:rPr lang="en-US" dirty="0"/>
            <a:t> will buy it?</a:t>
          </a:r>
        </a:p>
      </dgm:t>
    </dgm:pt>
    <dgm:pt modelId="{F4397994-CD5D-4FED-B7E4-F8B2476F2730}" type="parTrans" cxnId="{5EBE017F-BDD0-4F64-B535-4192EC970335}">
      <dgm:prSet/>
      <dgm:spPr/>
      <dgm:t>
        <a:bodyPr/>
        <a:lstStyle/>
        <a:p>
          <a:endParaRPr lang="en-US"/>
        </a:p>
      </dgm:t>
    </dgm:pt>
    <dgm:pt modelId="{A336AA5F-42AE-4617-B347-15C6F9B54E1F}" type="sibTrans" cxnId="{5EBE017F-BDD0-4F64-B535-4192EC970335}">
      <dgm:prSet/>
      <dgm:spPr/>
      <dgm:t>
        <a:bodyPr/>
        <a:lstStyle/>
        <a:p>
          <a:endParaRPr lang="en-US"/>
        </a:p>
      </dgm:t>
    </dgm:pt>
    <dgm:pt modelId="{59601896-E642-4251-B314-5B5B019A06D3}">
      <dgm:prSet phldrT="[Text]"/>
      <dgm:spPr/>
      <dgm:t>
        <a:bodyPr/>
        <a:lstStyle/>
        <a:p>
          <a:endParaRPr lang="en-US" b="1" dirty="0"/>
        </a:p>
        <a:p>
          <a:r>
            <a:rPr lang="en-US" b="1" dirty="0"/>
            <a:t>What</a:t>
          </a:r>
          <a:r>
            <a:rPr lang="en-US" dirty="0"/>
            <a:t>, specifically, will you sell?</a:t>
          </a:r>
        </a:p>
      </dgm:t>
    </dgm:pt>
    <dgm:pt modelId="{F4F2AA4C-096A-47BB-A18A-2D0C1FE4073D}" type="parTrans" cxnId="{2987630C-9264-4B7F-B3A7-359A481E6323}">
      <dgm:prSet/>
      <dgm:spPr/>
      <dgm:t>
        <a:bodyPr/>
        <a:lstStyle/>
        <a:p>
          <a:endParaRPr lang="en-US"/>
        </a:p>
      </dgm:t>
    </dgm:pt>
    <dgm:pt modelId="{E9431CF6-9FBE-4C91-A93E-EEFB0BBF7F3E}" type="sibTrans" cxnId="{2987630C-9264-4B7F-B3A7-359A481E6323}">
      <dgm:prSet/>
      <dgm:spPr/>
      <dgm:t>
        <a:bodyPr/>
        <a:lstStyle/>
        <a:p>
          <a:endParaRPr lang="en-US"/>
        </a:p>
      </dgm:t>
    </dgm:pt>
    <dgm:pt modelId="{F87F8C03-3F2C-48EB-964E-C1E43C17DB41}">
      <dgm:prSet phldrT="[Text]"/>
      <dgm:spPr/>
      <dgm:t>
        <a:bodyPr/>
        <a:lstStyle/>
        <a:p>
          <a:endParaRPr lang="en-US" b="1" dirty="0"/>
        </a:p>
        <a:p>
          <a:r>
            <a:rPr lang="en-US" b="1" dirty="0"/>
            <a:t>Where</a:t>
          </a:r>
          <a:r>
            <a:rPr lang="en-US" dirty="0"/>
            <a:t> will you sell it?</a:t>
          </a:r>
        </a:p>
      </dgm:t>
    </dgm:pt>
    <dgm:pt modelId="{6C6D8499-0D1D-4045-8F8E-164568BF65E1}" type="parTrans" cxnId="{7A3D0EA0-0C0C-4471-AD7C-93E302918B0E}">
      <dgm:prSet/>
      <dgm:spPr/>
      <dgm:t>
        <a:bodyPr/>
        <a:lstStyle/>
        <a:p>
          <a:endParaRPr lang="en-US"/>
        </a:p>
      </dgm:t>
    </dgm:pt>
    <dgm:pt modelId="{EEDAFBCE-B085-43A3-B740-94EA4EC6C0FB}" type="sibTrans" cxnId="{7A3D0EA0-0C0C-4471-AD7C-93E302918B0E}">
      <dgm:prSet/>
      <dgm:spPr/>
      <dgm:t>
        <a:bodyPr/>
        <a:lstStyle/>
        <a:p>
          <a:endParaRPr lang="en-US"/>
        </a:p>
      </dgm:t>
    </dgm:pt>
    <dgm:pt modelId="{66F13D81-2FF6-486F-AD7B-472DE96FCAC8}">
      <dgm:prSet phldrT="[Text]"/>
      <dgm:spPr/>
      <dgm:t>
        <a:bodyPr/>
        <a:lstStyle/>
        <a:p>
          <a:r>
            <a:rPr lang="en-US" b="1" dirty="0"/>
            <a:t>How much </a:t>
          </a:r>
          <a:r>
            <a:rPr lang="en-US" dirty="0"/>
            <a:t>will you charge?</a:t>
          </a:r>
        </a:p>
        <a:p>
          <a:endParaRPr lang="en-US" dirty="0"/>
        </a:p>
      </dgm:t>
    </dgm:pt>
    <dgm:pt modelId="{9C5A5789-929E-45E6-AD7F-DBDE4E1CC866}" type="parTrans" cxnId="{54186BF1-748F-4FE7-B22C-AE03F75D1FA8}">
      <dgm:prSet/>
      <dgm:spPr/>
      <dgm:t>
        <a:bodyPr/>
        <a:lstStyle/>
        <a:p>
          <a:endParaRPr lang="en-US"/>
        </a:p>
      </dgm:t>
    </dgm:pt>
    <dgm:pt modelId="{4AC03EB4-AE55-4266-A414-E7E896AC1611}" type="sibTrans" cxnId="{54186BF1-748F-4FE7-B22C-AE03F75D1FA8}">
      <dgm:prSet/>
      <dgm:spPr/>
      <dgm:t>
        <a:bodyPr/>
        <a:lstStyle/>
        <a:p>
          <a:endParaRPr lang="en-US"/>
        </a:p>
      </dgm:t>
    </dgm:pt>
    <dgm:pt modelId="{6B0E86EF-31C4-44BF-9D75-CE0716C15DB2}">
      <dgm:prSet phldrT="[Text]"/>
      <dgm:spPr/>
      <dgm:t>
        <a:bodyPr/>
        <a:lstStyle/>
        <a:p>
          <a:r>
            <a:rPr lang="en-US" dirty="0"/>
            <a:t>How will you </a:t>
          </a:r>
          <a:r>
            <a:rPr lang="en-US" b="1" dirty="0"/>
            <a:t>tell people</a:t>
          </a:r>
          <a:r>
            <a:rPr lang="en-US" dirty="0"/>
            <a:t> about it?</a:t>
          </a:r>
        </a:p>
        <a:p>
          <a:endParaRPr lang="en-US" dirty="0"/>
        </a:p>
      </dgm:t>
    </dgm:pt>
    <dgm:pt modelId="{0083E5A8-2FB4-4A60-8538-B6E9CC6CCD7C}" type="parTrans" cxnId="{A177B615-F172-4CE8-A15D-79094E93AF4D}">
      <dgm:prSet/>
      <dgm:spPr/>
      <dgm:t>
        <a:bodyPr/>
        <a:lstStyle/>
        <a:p>
          <a:endParaRPr lang="en-US"/>
        </a:p>
      </dgm:t>
    </dgm:pt>
    <dgm:pt modelId="{A7DDB2C6-846C-4CE8-8C1B-8110C10192E8}" type="sibTrans" cxnId="{A177B615-F172-4CE8-A15D-79094E93AF4D}">
      <dgm:prSet/>
      <dgm:spPr/>
      <dgm:t>
        <a:bodyPr/>
        <a:lstStyle/>
        <a:p>
          <a:endParaRPr lang="en-US"/>
        </a:p>
      </dgm:t>
    </dgm:pt>
    <dgm:pt modelId="{93BAC664-BDCF-4309-AB03-4A72DF82559B}" type="pres">
      <dgm:prSet presAssocID="{A81C2FC3-D3FB-45A8-ABB0-08EBB9B7AE03}" presName="diagram" presStyleCnt="0">
        <dgm:presLayoutVars>
          <dgm:chMax val="1"/>
          <dgm:dir/>
          <dgm:animLvl val="ctr"/>
          <dgm:resizeHandles val="exact"/>
        </dgm:presLayoutVars>
      </dgm:prSet>
      <dgm:spPr/>
    </dgm:pt>
    <dgm:pt modelId="{E460D2DE-E7D3-4C8B-9E2C-7AAC0F7C80EC}" type="pres">
      <dgm:prSet presAssocID="{A81C2FC3-D3FB-45A8-ABB0-08EBB9B7AE03}" presName="matrix" presStyleCnt="0"/>
      <dgm:spPr/>
    </dgm:pt>
    <dgm:pt modelId="{1D4E4611-F5AB-42C3-8C69-692D813E46A1}" type="pres">
      <dgm:prSet presAssocID="{A81C2FC3-D3FB-45A8-ABB0-08EBB9B7AE03}" presName="tile1" presStyleLbl="node1" presStyleIdx="0" presStyleCnt="4"/>
      <dgm:spPr/>
    </dgm:pt>
    <dgm:pt modelId="{B6C27AC9-2228-400A-8E40-CEB026BA7B7E}" type="pres">
      <dgm:prSet presAssocID="{A81C2FC3-D3FB-45A8-ABB0-08EBB9B7AE03}" presName="tile1text" presStyleLbl="node1" presStyleIdx="0" presStyleCnt="4">
        <dgm:presLayoutVars>
          <dgm:chMax val="0"/>
          <dgm:chPref val="0"/>
          <dgm:bulletEnabled val="1"/>
        </dgm:presLayoutVars>
      </dgm:prSet>
      <dgm:spPr/>
    </dgm:pt>
    <dgm:pt modelId="{41F0C89E-52BB-4CB8-83C2-CD9D1E9AAC20}" type="pres">
      <dgm:prSet presAssocID="{A81C2FC3-D3FB-45A8-ABB0-08EBB9B7AE03}" presName="tile2" presStyleLbl="node1" presStyleIdx="1" presStyleCnt="4" custLinFactNeighborY="-12245"/>
      <dgm:spPr/>
    </dgm:pt>
    <dgm:pt modelId="{32BEE2A8-88A2-4155-8895-CCDE64BD2D36}" type="pres">
      <dgm:prSet presAssocID="{A81C2FC3-D3FB-45A8-ABB0-08EBB9B7AE03}" presName="tile2text" presStyleLbl="node1" presStyleIdx="1" presStyleCnt="4">
        <dgm:presLayoutVars>
          <dgm:chMax val="0"/>
          <dgm:chPref val="0"/>
          <dgm:bulletEnabled val="1"/>
        </dgm:presLayoutVars>
      </dgm:prSet>
      <dgm:spPr/>
    </dgm:pt>
    <dgm:pt modelId="{A843C109-034B-4811-8CC0-7B1FB34B0857}" type="pres">
      <dgm:prSet presAssocID="{A81C2FC3-D3FB-45A8-ABB0-08EBB9B7AE03}" presName="tile3" presStyleLbl="node1" presStyleIdx="2" presStyleCnt="4"/>
      <dgm:spPr/>
    </dgm:pt>
    <dgm:pt modelId="{BAAC8918-8A4D-4C3A-A0B7-54ABA493CBE5}" type="pres">
      <dgm:prSet presAssocID="{A81C2FC3-D3FB-45A8-ABB0-08EBB9B7AE03}" presName="tile3text" presStyleLbl="node1" presStyleIdx="2" presStyleCnt="4">
        <dgm:presLayoutVars>
          <dgm:chMax val="0"/>
          <dgm:chPref val="0"/>
          <dgm:bulletEnabled val="1"/>
        </dgm:presLayoutVars>
      </dgm:prSet>
      <dgm:spPr/>
    </dgm:pt>
    <dgm:pt modelId="{E786413E-E10F-409E-B2BB-4D273FB18D40}" type="pres">
      <dgm:prSet presAssocID="{A81C2FC3-D3FB-45A8-ABB0-08EBB9B7AE03}" presName="tile4" presStyleLbl="node1" presStyleIdx="3" presStyleCnt="4"/>
      <dgm:spPr/>
    </dgm:pt>
    <dgm:pt modelId="{4EE6CFE9-8985-469F-A209-9CCCD7B693FF}" type="pres">
      <dgm:prSet presAssocID="{A81C2FC3-D3FB-45A8-ABB0-08EBB9B7AE03}" presName="tile4text" presStyleLbl="node1" presStyleIdx="3" presStyleCnt="4">
        <dgm:presLayoutVars>
          <dgm:chMax val="0"/>
          <dgm:chPref val="0"/>
          <dgm:bulletEnabled val="1"/>
        </dgm:presLayoutVars>
      </dgm:prSet>
      <dgm:spPr/>
    </dgm:pt>
    <dgm:pt modelId="{B5C97945-E88E-4B9B-9980-A0EEBAF43308}" type="pres">
      <dgm:prSet presAssocID="{A81C2FC3-D3FB-45A8-ABB0-08EBB9B7AE03}" presName="centerTile" presStyleLbl="fgShp" presStyleIdx="0" presStyleCnt="1">
        <dgm:presLayoutVars>
          <dgm:chMax val="0"/>
          <dgm:chPref val="0"/>
        </dgm:presLayoutVars>
      </dgm:prSet>
      <dgm:spPr/>
    </dgm:pt>
  </dgm:ptLst>
  <dgm:cxnLst>
    <dgm:cxn modelId="{2987630C-9264-4B7F-B3A7-359A481E6323}" srcId="{9A4FFBA9-3EF7-4FC2-A722-06613F870A48}" destId="{59601896-E642-4251-B314-5B5B019A06D3}" srcOrd="0" destOrd="0" parTransId="{F4F2AA4C-096A-47BB-A18A-2D0C1FE4073D}" sibTransId="{E9431CF6-9FBE-4C91-A93E-EEFB0BBF7F3E}"/>
    <dgm:cxn modelId="{A177B615-F172-4CE8-A15D-79094E93AF4D}" srcId="{9A4FFBA9-3EF7-4FC2-A722-06613F870A48}" destId="{6B0E86EF-31C4-44BF-9D75-CE0716C15DB2}" srcOrd="3" destOrd="0" parTransId="{0083E5A8-2FB4-4A60-8538-B6E9CC6CCD7C}" sibTransId="{A7DDB2C6-846C-4CE8-8C1B-8110C10192E8}"/>
    <dgm:cxn modelId="{04D5781D-2B24-49F6-9BD1-20961BB9062C}" type="presOf" srcId="{59601896-E642-4251-B314-5B5B019A06D3}" destId="{1D4E4611-F5AB-42C3-8C69-692D813E46A1}" srcOrd="0" destOrd="0" presId="urn:microsoft.com/office/officeart/2005/8/layout/matrix1"/>
    <dgm:cxn modelId="{9FF97D66-977E-4C28-B260-DDDDF311C5ED}" type="presOf" srcId="{6B0E86EF-31C4-44BF-9D75-CE0716C15DB2}" destId="{E786413E-E10F-409E-B2BB-4D273FB18D40}" srcOrd="0" destOrd="0" presId="urn:microsoft.com/office/officeart/2005/8/layout/matrix1"/>
    <dgm:cxn modelId="{B02F814A-068A-4A47-84C9-D904391D74F4}" type="presOf" srcId="{59601896-E642-4251-B314-5B5B019A06D3}" destId="{B6C27AC9-2228-400A-8E40-CEB026BA7B7E}" srcOrd="1" destOrd="0" presId="urn:microsoft.com/office/officeart/2005/8/layout/matrix1"/>
    <dgm:cxn modelId="{81A27950-68F6-4087-8AF7-7E0F03E79163}" type="presOf" srcId="{9A4FFBA9-3EF7-4FC2-A722-06613F870A48}" destId="{B5C97945-E88E-4B9B-9980-A0EEBAF43308}" srcOrd="0" destOrd="0" presId="urn:microsoft.com/office/officeart/2005/8/layout/matrix1"/>
    <dgm:cxn modelId="{7C438F7B-39A7-4FAE-8EDB-66C796499974}" type="presOf" srcId="{F87F8C03-3F2C-48EB-964E-C1E43C17DB41}" destId="{41F0C89E-52BB-4CB8-83C2-CD9D1E9AAC20}" srcOrd="0" destOrd="0" presId="urn:microsoft.com/office/officeart/2005/8/layout/matrix1"/>
    <dgm:cxn modelId="{5EBE017F-BDD0-4F64-B535-4192EC970335}" srcId="{A81C2FC3-D3FB-45A8-ABB0-08EBB9B7AE03}" destId="{9A4FFBA9-3EF7-4FC2-A722-06613F870A48}" srcOrd="0" destOrd="0" parTransId="{F4397994-CD5D-4FED-B7E4-F8B2476F2730}" sibTransId="{A336AA5F-42AE-4617-B347-15C6F9B54E1F}"/>
    <dgm:cxn modelId="{55BA5C9D-69A8-4FE2-9E19-849AA9280BF6}" type="presOf" srcId="{6B0E86EF-31C4-44BF-9D75-CE0716C15DB2}" destId="{4EE6CFE9-8985-469F-A209-9CCCD7B693FF}" srcOrd="1" destOrd="0" presId="urn:microsoft.com/office/officeart/2005/8/layout/matrix1"/>
    <dgm:cxn modelId="{7A3D0EA0-0C0C-4471-AD7C-93E302918B0E}" srcId="{9A4FFBA9-3EF7-4FC2-A722-06613F870A48}" destId="{F87F8C03-3F2C-48EB-964E-C1E43C17DB41}" srcOrd="1" destOrd="0" parTransId="{6C6D8499-0D1D-4045-8F8E-164568BF65E1}" sibTransId="{EEDAFBCE-B085-43A3-B740-94EA4EC6C0FB}"/>
    <dgm:cxn modelId="{2F9168B3-01A3-43EF-A970-C30982A37205}" type="presOf" srcId="{A81C2FC3-D3FB-45A8-ABB0-08EBB9B7AE03}" destId="{93BAC664-BDCF-4309-AB03-4A72DF82559B}" srcOrd="0" destOrd="0" presId="urn:microsoft.com/office/officeart/2005/8/layout/matrix1"/>
    <dgm:cxn modelId="{4CE8C8D1-EAE8-43A5-8229-018343FE54F5}" type="presOf" srcId="{66F13D81-2FF6-486F-AD7B-472DE96FCAC8}" destId="{A843C109-034B-4811-8CC0-7B1FB34B0857}" srcOrd="0" destOrd="0" presId="urn:microsoft.com/office/officeart/2005/8/layout/matrix1"/>
    <dgm:cxn modelId="{EB1CDDEA-583F-4609-96FE-ABE409DC9131}" type="presOf" srcId="{F87F8C03-3F2C-48EB-964E-C1E43C17DB41}" destId="{32BEE2A8-88A2-4155-8895-CCDE64BD2D36}" srcOrd="1" destOrd="0" presId="urn:microsoft.com/office/officeart/2005/8/layout/matrix1"/>
    <dgm:cxn modelId="{54186BF1-748F-4FE7-B22C-AE03F75D1FA8}" srcId="{9A4FFBA9-3EF7-4FC2-A722-06613F870A48}" destId="{66F13D81-2FF6-486F-AD7B-472DE96FCAC8}" srcOrd="2" destOrd="0" parTransId="{9C5A5789-929E-45E6-AD7F-DBDE4E1CC866}" sibTransId="{4AC03EB4-AE55-4266-A414-E7E896AC1611}"/>
    <dgm:cxn modelId="{DAECFFF8-F66A-4916-919F-A9B383347CB8}" type="presOf" srcId="{66F13D81-2FF6-486F-AD7B-472DE96FCAC8}" destId="{BAAC8918-8A4D-4C3A-A0B7-54ABA493CBE5}" srcOrd="1" destOrd="0" presId="urn:microsoft.com/office/officeart/2005/8/layout/matrix1"/>
    <dgm:cxn modelId="{2E9153F5-FF58-4A92-A72F-9FC53FDB5A37}" type="presParOf" srcId="{93BAC664-BDCF-4309-AB03-4A72DF82559B}" destId="{E460D2DE-E7D3-4C8B-9E2C-7AAC0F7C80EC}" srcOrd="0" destOrd="0" presId="urn:microsoft.com/office/officeart/2005/8/layout/matrix1"/>
    <dgm:cxn modelId="{4DEFCA4C-0D0F-4452-93CE-36B8D83BA9D3}" type="presParOf" srcId="{E460D2DE-E7D3-4C8B-9E2C-7AAC0F7C80EC}" destId="{1D4E4611-F5AB-42C3-8C69-692D813E46A1}" srcOrd="0" destOrd="0" presId="urn:microsoft.com/office/officeart/2005/8/layout/matrix1"/>
    <dgm:cxn modelId="{BD44E0E2-8AEE-43C7-8C10-CC988C0EEB03}" type="presParOf" srcId="{E460D2DE-E7D3-4C8B-9E2C-7AAC0F7C80EC}" destId="{B6C27AC9-2228-400A-8E40-CEB026BA7B7E}" srcOrd="1" destOrd="0" presId="urn:microsoft.com/office/officeart/2005/8/layout/matrix1"/>
    <dgm:cxn modelId="{93E050A4-46F2-4ADE-836E-61CDF7472382}" type="presParOf" srcId="{E460D2DE-E7D3-4C8B-9E2C-7AAC0F7C80EC}" destId="{41F0C89E-52BB-4CB8-83C2-CD9D1E9AAC20}" srcOrd="2" destOrd="0" presId="urn:microsoft.com/office/officeart/2005/8/layout/matrix1"/>
    <dgm:cxn modelId="{1876998B-D09E-4EB6-82D7-207E24D490AE}" type="presParOf" srcId="{E460D2DE-E7D3-4C8B-9E2C-7AAC0F7C80EC}" destId="{32BEE2A8-88A2-4155-8895-CCDE64BD2D36}" srcOrd="3" destOrd="0" presId="urn:microsoft.com/office/officeart/2005/8/layout/matrix1"/>
    <dgm:cxn modelId="{F9C3965D-86F1-428F-94CC-22AAD4689511}" type="presParOf" srcId="{E460D2DE-E7D3-4C8B-9E2C-7AAC0F7C80EC}" destId="{A843C109-034B-4811-8CC0-7B1FB34B0857}" srcOrd="4" destOrd="0" presId="urn:microsoft.com/office/officeart/2005/8/layout/matrix1"/>
    <dgm:cxn modelId="{D419177E-EB33-4BD8-8976-09A27B75ADF2}" type="presParOf" srcId="{E460D2DE-E7D3-4C8B-9E2C-7AAC0F7C80EC}" destId="{BAAC8918-8A4D-4C3A-A0B7-54ABA493CBE5}" srcOrd="5" destOrd="0" presId="urn:microsoft.com/office/officeart/2005/8/layout/matrix1"/>
    <dgm:cxn modelId="{614B2170-DA25-4E42-91CF-75BC90B4A71B}" type="presParOf" srcId="{E460D2DE-E7D3-4C8B-9E2C-7AAC0F7C80EC}" destId="{E786413E-E10F-409E-B2BB-4D273FB18D40}" srcOrd="6" destOrd="0" presId="urn:microsoft.com/office/officeart/2005/8/layout/matrix1"/>
    <dgm:cxn modelId="{DC0EC476-82FB-4CCB-A89D-5790D95AE2A0}" type="presParOf" srcId="{E460D2DE-E7D3-4C8B-9E2C-7AAC0F7C80EC}" destId="{4EE6CFE9-8985-469F-A209-9CCCD7B693FF}" srcOrd="7" destOrd="0" presId="urn:microsoft.com/office/officeart/2005/8/layout/matrix1"/>
    <dgm:cxn modelId="{8F0A384A-AEE1-4C9C-80DF-7862D268544D}" type="presParOf" srcId="{93BAC664-BDCF-4309-AB03-4A72DF82559B}" destId="{B5C97945-E88E-4B9B-9980-A0EEBAF43308}" srcOrd="1" destOrd="0" presId="urn:microsoft.com/office/officeart/2005/8/layout/matrix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1C2FC3-D3FB-45A8-ABB0-08EBB9B7AE03}" type="doc">
      <dgm:prSet loTypeId="urn:microsoft.com/office/officeart/2005/8/layout/matrix1" loCatId="matrix" qsTypeId="urn:microsoft.com/office/officeart/2005/8/quickstyle/simple5" qsCatId="simple" csTypeId="urn:microsoft.com/office/officeart/2005/8/colors/colorful1" csCatId="colorful" phldr="1"/>
      <dgm:spPr/>
      <dgm:t>
        <a:bodyPr/>
        <a:lstStyle/>
        <a:p>
          <a:endParaRPr lang="en-US"/>
        </a:p>
      </dgm:t>
    </dgm:pt>
    <dgm:pt modelId="{F87F8C03-3F2C-48EB-964E-C1E43C17DB41}">
      <dgm:prSet phldrT="[Text]"/>
      <dgm:spPr/>
      <dgm:t>
        <a:bodyPr/>
        <a:lstStyle/>
        <a:p>
          <a:r>
            <a:rPr lang="en-US" b="1" dirty="0"/>
            <a:t>Place: </a:t>
          </a:r>
        </a:p>
      </dgm:t>
    </dgm:pt>
    <dgm:pt modelId="{6C6D8499-0D1D-4045-8F8E-164568BF65E1}" type="parTrans" cxnId="{7A3D0EA0-0C0C-4471-AD7C-93E302918B0E}">
      <dgm:prSet/>
      <dgm:spPr/>
      <dgm:t>
        <a:bodyPr/>
        <a:lstStyle/>
        <a:p>
          <a:endParaRPr lang="en-US"/>
        </a:p>
      </dgm:t>
    </dgm:pt>
    <dgm:pt modelId="{EEDAFBCE-B085-43A3-B740-94EA4EC6C0FB}" type="sibTrans" cxnId="{7A3D0EA0-0C0C-4471-AD7C-93E302918B0E}">
      <dgm:prSet/>
      <dgm:spPr/>
      <dgm:t>
        <a:bodyPr/>
        <a:lstStyle/>
        <a:p>
          <a:endParaRPr lang="en-US"/>
        </a:p>
      </dgm:t>
    </dgm:pt>
    <dgm:pt modelId="{66F13D81-2FF6-486F-AD7B-472DE96FCAC8}">
      <dgm:prSet phldrT="[Text]"/>
      <dgm:spPr/>
      <dgm:t>
        <a:bodyPr/>
        <a:lstStyle/>
        <a:p>
          <a:r>
            <a:rPr lang="en-US" dirty="0"/>
            <a:t>Price:  </a:t>
          </a:r>
        </a:p>
      </dgm:t>
    </dgm:pt>
    <dgm:pt modelId="{9C5A5789-929E-45E6-AD7F-DBDE4E1CC866}" type="parTrans" cxnId="{54186BF1-748F-4FE7-B22C-AE03F75D1FA8}">
      <dgm:prSet/>
      <dgm:spPr/>
      <dgm:t>
        <a:bodyPr/>
        <a:lstStyle/>
        <a:p>
          <a:endParaRPr lang="en-US"/>
        </a:p>
      </dgm:t>
    </dgm:pt>
    <dgm:pt modelId="{4AC03EB4-AE55-4266-A414-E7E896AC1611}" type="sibTrans" cxnId="{54186BF1-748F-4FE7-B22C-AE03F75D1FA8}">
      <dgm:prSet/>
      <dgm:spPr/>
      <dgm:t>
        <a:bodyPr/>
        <a:lstStyle/>
        <a:p>
          <a:endParaRPr lang="en-US"/>
        </a:p>
      </dgm:t>
    </dgm:pt>
    <dgm:pt modelId="{6B0E86EF-31C4-44BF-9D75-CE0716C15DB2}">
      <dgm:prSet phldrT="[Text]"/>
      <dgm:spPr/>
      <dgm:t>
        <a:bodyPr/>
        <a:lstStyle/>
        <a:p>
          <a:r>
            <a:rPr lang="en-US" dirty="0"/>
            <a:t>Promotion:</a:t>
          </a:r>
        </a:p>
      </dgm:t>
    </dgm:pt>
    <dgm:pt modelId="{0083E5A8-2FB4-4A60-8538-B6E9CC6CCD7C}" type="parTrans" cxnId="{A177B615-F172-4CE8-A15D-79094E93AF4D}">
      <dgm:prSet/>
      <dgm:spPr/>
      <dgm:t>
        <a:bodyPr/>
        <a:lstStyle/>
        <a:p>
          <a:endParaRPr lang="en-US"/>
        </a:p>
      </dgm:t>
    </dgm:pt>
    <dgm:pt modelId="{A7DDB2C6-846C-4CE8-8C1B-8110C10192E8}" type="sibTrans" cxnId="{A177B615-F172-4CE8-A15D-79094E93AF4D}">
      <dgm:prSet/>
      <dgm:spPr/>
      <dgm:t>
        <a:bodyPr/>
        <a:lstStyle/>
        <a:p>
          <a:endParaRPr lang="en-US"/>
        </a:p>
      </dgm:t>
    </dgm:pt>
    <dgm:pt modelId="{59601896-E642-4251-B314-5B5B019A06D3}">
      <dgm:prSet phldrT="[Text]"/>
      <dgm:spPr/>
      <dgm:t>
        <a:bodyPr/>
        <a:lstStyle/>
        <a:p>
          <a:r>
            <a:rPr lang="en-US" b="1" dirty="0"/>
            <a:t>Product: </a:t>
          </a:r>
        </a:p>
      </dgm:t>
    </dgm:pt>
    <dgm:pt modelId="{E9431CF6-9FBE-4C91-A93E-EEFB0BBF7F3E}" type="sibTrans" cxnId="{2987630C-9264-4B7F-B3A7-359A481E6323}">
      <dgm:prSet/>
      <dgm:spPr/>
      <dgm:t>
        <a:bodyPr/>
        <a:lstStyle/>
        <a:p>
          <a:endParaRPr lang="en-US"/>
        </a:p>
      </dgm:t>
    </dgm:pt>
    <dgm:pt modelId="{F4F2AA4C-096A-47BB-A18A-2D0C1FE4073D}" type="parTrans" cxnId="{2987630C-9264-4B7F-B3A7-359A481E6323}">
      <dgm:prSet/>
      <dgm:spPr/>
      <dgm:t>
        <a:bodyPr/>
        <a:lstStyle/>
        <a:p>
          <a:endParaRPr lang="en-US"/>
        </a:p>
      </dgm:t>
    </dgm:pt>
    <dgm:pt modelId="{9A4FFBA9-3EF7-4FC2-A722-06613F870A48}">
      <dgm:prSet phldrT="[Text]"/>
      <dgm:spPr/>
      <dgm:t>
        <a:bodyPr/>
        <a:lstStyle/>
        <a:p>
          <a:r>
            <a:rPr lang="en-US" dirty="0"/>
            <a:t>=Target Market</a:t>
          </a:r>
        </a:p>
      </dgm:t>
    </dgm:pt>
    <dgm:pt modelId="{A336AA5F-42AE-4617-B347-15C6F9B54E1F}" type="sibTrans" cxnId="{5EBE017F-BDD0-4F64-B535-4192EC970335}">
      <dgm:prSet/>
      <dgm:spPr/>
      <dgm:t>
        <a:bodyPr/>
        <a:lstStyle/>
        <a:p>
          <a:endParaRPr lang="en-US"/>
        </a:p>
      </dgm:t>
    </dgm:pt>
    <dgm:pt modelId="{F4397994-CD5D-4FED-B7E4-F8B2476F2730}" type="parTrans" cxnId="{5EBE017F-BDD0-4F64-B535-4192EC970335}">
      <dgm:prSet/>
      <dgm:spPr/>
      <dgm:t>
        <a:bodyPr/>
        <a:lstStyle/>
        <a:p>
          <a:endParaRPr lang="en-US"/>
        </a:p>
      </dgm:t>
    </dgm:pt>
    <dgm:pt modelId="{93BAC664-BDCF-4309-AB03-4A72DF82559B}" type="pres">
      <dgm:prSet presAssocID="{A81C2FC3-D3FB-45A8-ABB0-08EBB9B7AE03}" presName="diagram" presStyleCnt="0">
        <dgm:presLayoutVars>
          <dgm:chMax val="1"/>
          <dgm:dir/>
          <dgm:animLvl val="ctr"/>
          <dgm:resizeHandles val="exact"/>
        </dgm:presLayoutVars>
      </dgm:prSet>
      <dgm:spPr/>
    </dgm:pt>
    <dgm:pt modelId="{E460D2DE-E7D3-4C8B-9E2C-7AAC0F7C80EC}" type="pres">
      <dgm:prSet presAssocID="{A81C2FC3-D3FB-45A8-ABB0-08EBB9B7AE03}" presName="matrix" presStyleCnt="0"/>
      <dgm:spPr/>
    </dgm:pt>
    <dgm:pt modelId="{1D4E4611-F5AB-42C3-8C69-692D813E46A1}" type="pres">
      <dgm:prSet presAssocID="{A81C2FC3-D3FB-45A8-ABB0-08EBB9B7AE03}" presName="tile1" presStyleLbl="node1" presStyleIdx="0" presStyleCnt="4"/>
      <dgm:spPr/>
    </dgm:pt>
    <dgm:pt modelId="{B6C27AC9-2228-400A-8E40-CEB026BA7B7E}" type="pres">
      <dgm:prSet presAssocID="{A81C2FC3-D3FB-45A8-ABB0-08EBB9B7AE03}" presName="tile1text" presStyleLbl="node1" presStyleIdx="0" presStyleCnt="4">
        <dgm:presLayoutVars>
          <dgm:chMax val="0"/>
          <dgm:chPref val="0"/>
          <dgm:bulletEnabled val="1"/>
        </dgm:presLayoutVars>
      </dgm:prSet>
      <dgm:spPr/>
    </dgm:pt>
    <dgm:pt modelId="{41F0C89E-52BB-4CB8-83C2-CD9D1E9AAC20}" type="pres">
      <dgm:prSet presAssocID="{A81C2FC3-D3FB-45A8-ABB0-08EBB9B7AE03}" presName="tile2" presStyleLbl="node1" presStyleIdx="1" presStyleCnt="4" custLinFactNeighborY="-12245"/>
      <dgm:spPr/>
    </dgm:pt>
    <dgm:pt modelId="{32BEE2A8-88A2-4155-8895-CCDE64BD2D36}" type="pres">
      <dgm:prSet presAssocID="{A81C2FC3-D3FB-45A8-ABB0-08EBB9B7AE03}" presName="tile2text" presStyleLbl="node1" presStyleIdx="1" presStyleCnt="4">
        <dgm:presLayoutVars>
          <dgm:chMax val="0"/>
          <dgm:chPref val="0"/>
          <dgm:bulletEnabled val="1"/>
        </dgm:presLayoutVars>
      </dgm:prSet>
      <dgm:spPr/>
    </dgm:pt>
    <dgm:pt modelId="{A843C109-034B-4811-8CC0-7B1FB34B0857}" type="pres">
      <dgm:prSet presAssocID="{A81C2FC3-D3FB-45A8-ABB0-08EBB9B7AE03}" presName="tile3" presStyleLbl="node1" presStyleIdx="2" presStyleCnt="4"/>
      <dgm:spPr/>
    </dgm:pt>
    <dgm:pt modelId="{BAAC8918-8A4D-4C3A-A0B7-54ABA493CBE5}" type="pres">
      <dgm:prSet presAssocID="{A81C2FC3-D3FB-45A8-ABB0-08EBB9B7AE03}" presName="tile3text" presStyleLbl="node1" presStyleIdx="2" presStyleCnt="4">
        <dgm:presLayoutVars>
          <dgm:chMax val="0"/>
          <dgm:chPref val="0"/>
          <dgm:bulletEnabled val="1"/>
        </dgm:presLayoutVars>
      </dgm:prSet>
      <dgm:spPr/>
    </dgm:pt>
    <dgm:pt modelId="{E786413E-E10F-409E-B2BB-4D273FB18D40}" type="pres">
      <dgm:prSet presAssocID="{A81C2FC3-D3FB-45A8-ABB0-08EBB9B7AE03}" presName="tile4" presStyleLbl="node1" presStyleIdx="3" presStyleCnt="4"/>
      <dgm:spPr/>
    </dgm:pt>
    <dgm:pt modelId="{4EE6CFE9-8985-469F-A209-9CCCD7B693FF}" type="pres">
      <dgm:prSet presAssocID="{A81C2FC3-D3FB-45A8-ABB0-08EBB9B7AE03}" presName="tile4text" presStyleLbl="node1" presStyleIdx="3" presStyleCnt="4">
        <dgm:presLayoutVars>
          <dgm:chMax val="0"/>
          <dgm:chPref val="0"/>
          <dgm:bulletEnabled val="1"/>
        </dgm:presLayoutVars>
      </dgm:prSet>
      <dgm:spPr/>
    </dgm:pt>
    <dgm:pt modelId="{B5C97945-E88E-4B9B-9980-A0EEBAF43308}" type="pres">
      <dgm:prSet presAssocID="{A81C2FC3-D3FB-45A8-ABB0-08EBB9B7AE03}" presName="centerTile" presStyleLbl="fgShp" presStyleIdx="0" presStyleCnt="1">
        <dgm:presLayoutVars>
          <dgm:chMax val="0"/>
          <dgm:chPref val="0"/>
        </dgm:presLayoutVars>
      </dgm:prSet>
      <dgm:spPr/>
    </dgm:pt>
  </dgm:ptLst>
  <dgm:cxnLst>
    <dgm:cxn modelId="{2987630C-9264-4B7F-B3A7-359A481E6323}" srcId="{9A4FFBA9-3EF7-4FC2-A722-06613F870A48}" destId="{59601896-E642-4251-B314-5B5B019A06D3}" srcOrd="0" destOrd="0" parTransId="{F4F2AA4C-096A-47BB-A18A-2D0C1FE4073D}" sibTransId="{E9431CF6-9FBE-4C91-A93E-EEFB0BBF7F3E}"/>
    <dgm:cxn modelId="{A177B615-F172-4CE8-A15D-79094E93AF4D}" srcId="{9A4FFBA9-3EF7-4FC2-A722-06613F870A48}" destId="{6B0E86EF-31C4-44BF-9D75-CE0716C15DB2}" srcOrd="3" destOrd="0" parTransId="{0083E5A8-2FB4-4A60-8538-B6E9CC6CCD7C}" sibTransId="{A7DDB2C6-846C-4CE8-8C1B-8110C10192E8}"/>
    <dgm:cxn modelId="{04D5781D-2B24-49F6-9BD1-20961BB9062C}" type="presOf" srcId="{59601896-E642-4251-B314-5B5B019A06D3}" destId="{1D4E4611-F5AB-42C3-8C69-692D813E46A1}" srcOrd="0" destOrd="0" presId="urn:microsoft.com/office/officeart/2005/8/layout/matrix1"/>
    <dgm:cxn modelId="{9FF97D66-977E-4C28-B260-DDDDF311C5ED}" type="presOf" srcId="{6B0E86EF-31C4-44BF-9D75-CE0716C15DB2}" destId="{E786413E-E10F-409E-B2BB-4D273FB18D40}" srcOrd="0" destOrd="0" presId="urn:microsoft.com/office/officeart/2005/8/layout/matrix1"/>
    <dgm:cxn modelId="{B02F814A-068A-4A47-84C9-D904391D74F4}" type="presOf" srcId="{59601896-E642-4251-B314-5B5B019A06D3}" destId="{B6C27AC9-2228-400A-8E40-CEB026BA7B7E}" srcOrd="1" destOrd="0" presId="urn:microsoft.com/office/officeart/2005/8/layout/matrix1"/>
    <dgm:cxn modelId="{81A27950-68F6-4087-8AF7-7E0F03E79163}" type="presOf" srcId="{9A4FFBA9-3EF7-4FC2-A722-06613F870A48}" destId="{B5C97945-E88E-4B9B-9980-A0EEBAF43308}" srcOrd="0" destOrd="0" presId="urn:microsoft.com/office/officeart/2005/8/layout/matrix1"/>
    <dgm:cxn modelId="{7C438F7B-39A7-4FAE-8EDB-66C796499974}" type="presOf" srcId="{F87F8C03-3F2C-48EB-964E-C1E43C17DB41}" destId="{41F0C89E-52BB-4CB8-83C2-CD9D1E9AAC20}" srcOrd="0" destOrd="0" presId="urn:microsoft.com/office/officeart/2005/8/layout/matrix1"/>
    <dgm:cxn modelId="{5EBE017F-BDD0-4F64-B535-4192EC970335}" srcId="{A81C2FC3-D3FB-45A8-ABB0-08EBB9B7AE03}" destId="{9A4FFBA9-3EF7-4FC2-A722-06613F870A48}" srcOrd="0" destOrd="0" parTransId="{F4397994-CD5D-4FED-B7E4-F8B2476F2730}" sibTransId="{A336AA5F-42AE-4617-B347-15C6F9B54E1F}"/>
    <dgm:cxn modelId="{55BA5C9D-69A8-4FE2-9E19-849AA9280BF6}" type="presOf" srcId="{6B0E86EF-31C4-44BF-9D75-CE0716C15DB2}" destId="{4EE6CFE9-8985-469F-A209-9CCCD7B693FF}" srcOrd="1" destOrd="0" presId="urn:microsoft.com/office/officeart/2005/8/layout/matrix1"/>
    <dgm:cxn modelId="{7A3D0EA0-0C0C-4471-AD7C-93E302918B0E}" srcId="{9A4FFBA9-3EF7-4FC2-A722-06613F870A48}" destId="{F87F8C03-3F2C-48EB-964E-C1E43C17DB41}" srcOrd="1" destOrd="0" parTransId="{6C6D8499-0D1D-4045-8F8E-164568BF65E1}" sibTransId="{EEDAFBCE-B085-43A3-B740-94EA4EC6C0FB}"/>
    <dgm:cxn modelId="{2F9168B3-01A3-43EF-A970-C30982A37205}" type="presOf" srcId="{A81C2FC3-D3FB-45A8-ABB0-08EBB9B7AE03}" destId="{93BAC664-BDCF-4309-AB03-4A72DF82559B}" srcOrd="0" destOrd="0" presId="urn:microsoft.com/office/officeart/2005/8/layout/matrix1"/>
    <dgm:cxn modelId="{4CE8C8D1-EAE8-43A5-8229-018343FE54F5}" type="presOf" srcId="{66F13D81-2FF6-486F-AD7B-472DE96FCAC8}" destId="{A843C109-034B-4811-8CC0-7B1FB34B0857}" srcOrd="0" destOrd="0" presId="urn:microsoft.com/office/officeart/2005/8/layout/matrix1"/>
    <dgm:cxn modelId="{EB1CDDEA-583F-4609-96FE-ABE409DC9131}" type="presOf" srcId="{F87F8C03-3F2C-48EB-964E-C1E43C17DB41}" destId="{32BEE2A8-88A2-4155-8895-CCDE64BD2D36}" srcOrd="1" destOrd="0" presId="urn:microsoft.com/office/officeart/2005/8/layout/matrix1"/>
    <dgm:cxn modelId="{54186BF1-748F-4FE7-B22C-AE03F75D1FA8}" srcId="{9A4FFBA9-3EF7-4FC2-A722-06613F870A48}" destId="{66F13D81-2FF6-486F-AD7B-472DE96FCAC8}" srcOrd="2" destOrd="0" parTransId="{9C5A5789-929E-45E6-AD7F-DBDE4E1CC866}" sibTransId="{4AC03EB4-AE55-4266-A414-E7E896AC1611}"/>
    <dgm:cxn modelId="{DAECFFF8-F66A-4916-919F-A9B383347CB8}" type="presOf" srcId="{66F13D81-2FF6-486F-AD7B-472DE96FCAC8}" destId="{BAAC8918-8A4D-4C3A-A0B7-54ABA493CBE5}" srcOrd="1" destOrd="0" presId="urn:microsoft.com/office/officeart/2005/8/layout/matrix1"/>
    <dgm:cxn modelId="{2E9153F5-FF58-4A92-A72F-9FC53FDB5A37}" type="presParOf" srcId="{93BAC664-BDCF-4309-AB03-4A72DF82559B}" destId="{E460D2DE-E7D3-4C8B-9E2C-7AAC0F7C80EC}" srcOrd="0" destOrd="0" presId="urn:microsoft.com/office/officeart/2005/8/layout/matrix1"/>
    <dgm:cxn modelId="{4DEFCA4C-0D0F-4452-93CE-36B8D83BA9D3}" type="presParOf" srcId="{E460D2DE-E7D3-4C8B-9E2C-7AAC0F7C80EC}" destId="{1D4E4611-F5AB-42C3-8C69-692D813E46A1}" srcOrd="0" destOrd="0" presId="urn:microsoft.com/office/officeart/2005/8/layout/matrix1"/>
    <dgm:cxn modelId="{BD44E0E2-8AEE-43C7-8C10-CC988C0EEB03}" type="presParOf" srcId="{E460D2DE-E7D3-4C8B-9E2C-7AAC0F7C80EC}" destId="{B6C27AC9-2228-400A-8E40-CEB026BA7B7E}" srcOrd="1" destOrd="0" presId="urn:microsoft.com/office/officeart/2005/8/layout/matrix1"/>
    <dgm:cxn modelId="{93E050A4-46F2-4ADE-836E-61CDF7472382}" type="presParOf" srcId="{E460D2DE-E7D3-4C8B-9E2C-7AAC0F7C80EC}" destId="{41F0C89E-52BB-4CB8-83C2-CD9D1E9AAC20}" srcOrd="2" destOrd="0" presId="urn:microsoft.com/office/officeart/2005/8/layout/matrix1"/>
    <dgm:cxn modelId="{1876998B-D09E-4EB6-82D7-207E24D490AE}" type="presParOf" srcId="{E460D2DE-E7D3-4C8B-9E2C-7AAC0F7C80EC}" destId="{32BEE2A8-88A2-4155-8895-CCDE64BD2D36}" srcOrd="3" destOrd="0" presId="urn:microsoft.com/office/officeart/2005/8/layout/matrix1"/>
    <dgm:cxn modelId="{F9C3965D-86F1-428F-94CC-22AAD4689511}" type="presParOf" srcId="{E460D2DE-E7D3-4C8B-9E2C-7AAC0F7C80EC}" destId="{A843C109-034B-4811-8CC0-7B1FB34B0857}" srcOrd="4" destOrd="0" presId="urn:microsoft.com/office/officeart/2005/8/layout/matrix1"/>
    <dgm:cxn modelId="{D419177E-EB33-4BD8-8976-09A27B75ADF2}" type="presParOf" srcId="{E460D2DE-E7D3-4C8B-9E2C-7AAC0F7C80EC}" destId="{BAAC8918-8A4D-4C3A-A0B7-54ABA493CBE5}" srcOrd="5" destOrd="0" presId="urn:microsoft.com/office/officeart/2005/8/layout/matrix1"/>
    <dgm:cxn modelId="{614B2170-DA25-4E42-91CF-75BC90B4A71B}" type="presParOf" srcId="{E460D2DE-E7D3-4C8B-9E2C-7AAC0F7C80EC}" destId="{E786413E-E10F-409E-B2BB-4D273FB18D40}" srcOrd="6" destOrd="0" presId="urn:microsoft.com/office/officeart/2005/8/layout/matrix1"/>
    <dgm:cxn modelId="{DC0EC476-82FB-4CCB-A89D-5790D95AE2A0}" type="presParOf" srcId="{E460D2DE-E7D3-4C8B-9E2C-7AAC0F7C80EC}" destId="{4EE6CFE9-8985-469F-A209-9CCCD7B693FF}" srcOrd="7" destOrd="0" presId="urn:microsoft.com/office/officeart/2005/8/layout/matrix1"/>
    <dgm:cxn modelId="{8F0A384A-AEE1-4C9C-80DF-7862D268544D}" type="presParOf" srcId="{93BAC664-BDCF-4309-AB03-4A72DF82559B}" destId="{B5C97945-E88E-4B9B-9980-A0EEBAF43308}"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4E4611-F5AB-42C3-8C69-692D813E46A1}">
      <dsp:nvSpPr>
        <dsp:cNvPr id="0" name=""/>
        <dsp:cNvSpPr/>
      </dsp:nvSpPr>
      <dsp:spPr>
        <a:xfrm rot="16200000">
          <a:off x="113092" y="-113092"/>
          <a:ext cx="1461222" cy="1687407"/>
        </a:xfrm>
        <a:prstGeom prst="round1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endParaRPr lang="en-US" sz="1500" b="1" kern="1200" dirty="0"/>
        </a:p>
        <a:p>
          <a:pPr marL="0" lvl="0" indent="0" algn="ctr" defTabSz="666750">
            <a:lnSpc>
              <a:spcPct val="90000"/>
            </a:lnSpc>
            <a:spcBef>
              <a:spcPct val="0"/>
            </a:spcBef>
            <a:spcAft>
              <a:spcPct val="35000"/>
            </a:spcAft>
            <a:buNone/>
          </a:pPr>
          <a:r>
            <a:rPr lang="en-US" sz="1500" b="1" kern="1200" dirty="0"/>
            <a:t>What</a:t>
          </a:r>
          <a:r>
            <a:rPr lang="en-US" sz="1500" kern="1200" dirty="0"/>
            <a:t>, specifically, will you sell?</a:t>
          </a:r>
        </a:p>
      </dsp:txBody>
      <dsp:txXfrm rot="5400000">
        <a:off x="0" y="0"/>
        <a:ext cx="1687407" cy="1095916"/>
      </dsp:txXfrm>
    </dsp:sp>
    <dsp:sp modelId="{41F0C89E-52BB-4CB8-83C2-CD9D1E9AAC20}">
      <dsp:nvSpPr>
        <dsp:cNvPr id="0" name=""/>
        <dsp:cNvSpPr/>
      </dsp:nvSpPr>
      <dsp:spPr>
        <a:xfrm>
          <a:off x="1687407" y="0"/>
          <a:ext cx="1687407" cy="1461222"/>
        </a:xfrm>
        <a:prstGeom prst="round1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endParaRPr lang="en-US" sz="1500" b="1" kern="1200" dirty="0"/>
        </a:p>
        <a:p>
          <a:pPr marL="0" lvl="0" indent="0" algn="ctr" defTabSz="666750">
            <a:lnSpc>
              <a:spcPct val="90000"/>
            </a:lnSpc>
            <a:spcBef>
              <a:spcPct val="0"/>
            </a:spcBef>
            <a:spcAft>
              <a:spcPct val="35000"/>
            </a:spcAft>
            <a:buNone/>
          </a:pPr>
          <a:r>
            <a:rPr lang="en-US" sz="1500" b="1" kern="1200" dirty="0"/>
            <a:t>Where</a:t>
          </a:r>
          <a:r>
            <a:rPr lang="en-US" sz="1500" kern="1200" dirty="0"/>
            <a:t> will you sell it?</a:t>
          </a:r>
        </a:p>
      </dsp:txBody>
      <dsp:txXfrm>
        <a:off x="1687407" y="0"/>
        <a:ext cx="1687407" cy="1095916"/>
      </dsp:txXfrm>
    </dsp:sp>
    <dsp:sp modelId="{A843C109-034B-4811-8CC0-7B1FB34B0857}">
      <dsp:nvSpPr>
        <dsp:cNvPr id="0" name=""/>
        <dsp:cNvSpPr/>
      </dsp:nvSpPr>
      <dsp:spPr>
        <a:xfrm rot="10800000">
          <a:off x="0" y="1461222"/>
          <a:ext cx="1687407" cy="1461222"/>
        </a:xfrm>
        <a:prstGeom prst="round1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How much </a:t>
          </a:r>
          <a:r>
            <a:rPr lang="en-US" sz="1500" kern="1200" dirty="0"/>
            <a:t>will you charge?</a:t>
          </a:r>
        </a:p>
        <a:p>
          <a:pPr marL="0" lvl="0" indent="0" algn="ctr" defTabSz="666750">
            <a:lnSpc>
              <a:spcPct val="90000"/>
            </a:lnSpc>
            <a:spcBef>
              <a:spcPct val="0"/>
            </a:spcBef>
            <a:spcAft>
              <a:spcPct val="35000"/>
            </a:spcAft>
            <a:buNone/>
          </a:pPr>
          <a:endParaRPr lang="en-US" sz="1500" kern="1200" dirty="0"/>
        </a:p>
      </dsp:txBody>
      <dsp:txXfrm rot="10800000">
        <a:off x="0" y="1826527"/>
        <a:ext cx="1687407" cy="1095916"/>
      </dsp:txXfrm>
    </dsp:sp>
    <dsp:sp modelId="{E786413E-E10F-409E-B2BB-4D273FB18D40}">
      <dsp:nvSpPr>
        <dsp:cNvPr id="0" name=""/>
        <dsp:cNvSpPr/>
      </dsp:nvSpPr>
      <dsp:spPr>
        <a:xfrm rot="5400000">
          <a:off x="1800500" y="1348129"/>
          <a:ext cx="1461222" cy="1687407"/>
        </a:xfrm>
        <a:prstGeom prst="round1Rect">
          <a:avLst/>
        </a:prstGeom>
        <a:gradFill rotWithShape="0">
          <a:gsLst>
            <a:gs pos="0">
              <a:schemeClr val="accent5">
                <a:hueOff val="0"/>
                <a:satOff val="0"/>
                <a:lumOff val="0"/>
                <a:alphaOff val="0"/>
                <a:tint val="96000"/>
                <a:lumMod val="100000"/>
              </a:schemeClr>
            </a:gs>
            <a:gs pos="78000">
              <a:schemeClr val="accent5">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How will you </a:t>
          </a:r>
          <a:r>
            <a:rPr lang="en-US" sz="1500" b="1" kern="1200" dirty="0"/>
            <a:t>tell people</a:t>
          </a:r>
          <a:r>
            <a:rPr lang="en-US" sz="1500" kern="1200" dirty="0"/>
            <a:t> about it?</a:t>
          </a:r>
        </a:p>
        <a:p>
          <a:pPr marL="0" lvl="0" indent="0" algn="ctr" defTabSz="666750">
            <a:lnSpc>
              <a:spcPct val="90000"/>
            </a:lnSpc>
            <a:spcBef>
              <a:spcPct val="0"/>
            </a:spcBef>
            <a:spcAft>
              <a:spcPct val="35000"/>
            </a:spcAft>
            <a:buNone/>
          </a:pPr>
          <a:endParaRPr lang="en-US" sz="1500" kern="1200" dirty="0"/>
        </a:p>
      </dsp:txBody>
      <dsp:txXfrm rot="-5400000">
        <a:off x="1687407" y="1826527"/>
        <a:ext cx="1687407" cy="1095916"/>
      </dsp:txXfrm>
    </dsp:sp>
    <dsp:sp modelId="{B5C97945-E88E-4B9B-9980-A0EEBAF43308}">
      <dsp:nvSpPr>
        <dsp:cNvPr id="0" name=""/>
        <dsp:cNvSpPr/>
      </dsp:nvSpPr>
      <dsp:spPr>
        <a:xfrm>
          <a:off x="1181185" y="1095916"/>
          <a:ext cx="1012444" cy="730611"/>
        </a:xfrm>
        <a:prstGeom prst="roundRect">
          <a:avLst/>
        </a:prstGeom>
        <a:gradFill rotWithShape="0">
          <a:gsLst>
            <a:gs pos="0">
              <a:schemeClr val="accent2">
                <a:tint val="40000"/>
                <a:hueOff val="0"/>
                <a:satOff val="0"/>
                <a:lumOff val="0"/>
                <a:alphaOff val="0"/>
                <a:tint val="96000"/>
                <a:lumMod val="100000"/>
              </a:schemeClr>
            </a:gs>
            <a:gs pos="78000">
              <a:schemeClr val="accent2">
                <a:tint val="40000"/>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Who</a:t>
          </a:r>
          <a:r>
            <a:rPr lang="en-US" sz="1500" kern="1200" dirty="0"/>
            <a:t> will buy it?</a:t>
          </a:r>
        </a:p>
      </dsp:txBody>
      <dsp:txXfrm>
        <a:off x="1216850" y="1131581"/>
        <a:ext cx="941114" cy="6592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4E4611-F5AB-42C3-8C69-692D813E46A1}">
      <dsp:nvSpPr>
        <dsp:cNvPr id="0" name=""/>
        <dsp:cNvSpPr/>
      </dsp:nvSpPr>
      <dsp:spPr>
        <a:xfrm rot="16200000">
          <a:off x="470873" y="-470873"/>
          <a:ext cx="1981614" cy="2923361"/>
        </a:xfrm>
        <a:prstGeom prst="round1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b="1" kern="1200" dirty="0"/>
            <a:t>Product: </a:t>
          </a:r>
        </a:p>
      </dsp:txBody>
      <dsp:txXfrm rot="5400000">
        <a:off x="0" y="0"/>
        <a:ext cx="2923361" cy="1486210"/>
      </dsp:txXfrm>
    </dsp:sp>
    <dsp:sp modelId="{41F0C89E-52BB-4CB8-83C2-CD9D1E9AAC20}">
      <dsp:nvSpPr>
        <dsp:cNvPr id="0" name=""/>
        <dsp:cNvSpPr/>
      </dsp:nvSpPr>
      <dsp:spPr>
        <a:xfrm>
          <a:off x="2923361" y="0"/>
          <a:ext cx="2923361" cy="1981614"/>
        </a:xfrm>
        <a:prstGeom prst="round1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b="1" kern="1200" dirty="0"/>
            <a:t>Place: </a:t>
          </a:r>
        </a:p>
      </dsp:txBody>
      <dsp:txXfrm>
        <a:off x="2923361" y="0"/>
        <a:ext cx="2923361" cy="1486210"/>
      </dsp:txXfrm>
    </dsp:sp>
    <dsp:sp modelId="{A843C109-034B-4811-8CC0-7B1FB34B0857}">
      <dsp:nvSpPr>
        <dsp:cNvPr id="0" name=""/>
        <dsp:cNvSpPr/>
      </dsp:nvSpPr>
      <dsp:spPr>
        <a:xfrm rot="10800000">
          <a:off x="0" y="1981614"/>
          <a:ext cx="2923361" cy="1981614"/>
        </a:xfrm>
        <a:prstGeom prst="round1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Price:  </a:t>
          </a:r>
        </a:p>
      </dsp:txBody>
      <dsp:txXfrm rot="10800000">
        <a:off x="0" y="2477018"/>
        <a:ext cx="2923361" cy="1486210"/>
      </dsp:txXfrm>
    </dsp:sp>
    <dsp:sp modelId="{E786413E-E10F-409E-B2BB-4D273FB18D40}">
      <dsp:nvSpPr>
        <dsp:cNvPr id="0" name=""/>
        <dsp:cNvSpPr/>
      </dsp:nvSpPr>
      <dsp:spPr>
        <a:xfrm rot="5400000">
          <a:off x="3394234" y="1510741"/>
          <a:ext cx="1981614" cy="2923361"/>
        </a:xfrm>
        <a:prstGeom prst="round1Rect">
          <a:avLst/>
        </a:prstGeom>
        <a:gradFill rotWithShape="0">
          <a:gsLst>
            <a:gs pos="0">
              <a:schemeClr val="accent5">
                <a:hueOff val="0"/>
                <a:satOff val="0"/>
                <a:lumOff val="0"/>
                <a:alphaOff val="0"/>
                <a:tint val="96000"/>
                <a:lumMod val="100000"/>
              </a:schemeClr>
            </a:gs>
            <a:gs pos="78000">
              <a:schemeClr val="accent5">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Promotion:</a:t>
          </a:r>
        </a:p>
      </dsp:txBody>
      <dsp:txXfrm rot="-5400000">
        <a:off x="2923361" y="2477018"/>
        <a:ext cx="2923361" cy="1486210"/>
      </dsp:txXfrm>
    </dsp:sp>
    <dsp:sp modelId="{B5C97945-E88E-4B9B-9980-A0EEBAF43308}">
      <dsp:nvSpPr>
        <dsp:cNvPr id="0" name=""/>
        <dsp:cNvSpPr/>
      </dsp:nvSpPr>
      <dsp:spPr>
        <a:xfrm>
          <a:off x="2046352" y="1486210"/>
          <a:ext cx="1754016" cy="990807"/>
        </a:xfrm>
        <a:prstGeom prst="roundRect">
          <a:avLst/>
        </a:prstGeom>
        <a:gradFill rotWithShape="0">
          <a:gsLst>
            <a:gs pos="0">
              <a:schemeClr val="accent2">
                <a:tint val="40000"/>
                <a:hueOff val="0"/>
                <a:satOff val="0"/>
                <a:lumOff val="0"/>
                <a:alphaOff val="0"/>
                <a:tint val="96000"/>
                <a:lumMod val="100000"/>
              </a:schemeClr>
            </a:gs>
            <a:gs pos="78000">
              <a:schemeClr val="accent2">
                <a:tint val="40000"/>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=Target Market</a:t>
          </a:r>
        </a:p>
      </dsp:txBody>
      <dsp:txXfrm>
        <a:off x="2094719" y="1534577"/>
        <a:ext cx="1657282" cy="894073"/>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6" name="Date Placeholder 5"/>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200"/>
            </a:lvl1pPr>
          </a:lstStyle>
          <a:p>
            <a:fld id="{4888D498-CA9B-8D40-B07D-EB92BE597C17}" type="datetimeFigureOut">
              <a:rPr lang="en-US" smtClean="0"/>
              <a:t>12/11/2025</a:t>
            </a:fld>
            <a:endParaRPr lang="en-US"/>
          </a:p>
        </p:txBody>
      </p:sp>
    </p:spTree>
    <p:extLst>
      <p:ext uri="{BB962C8B-B14F-4D97-AF65-F5344CB8AC3E}">
        <p14:creationId xmlns:p14="http://schemas.microsoft.com/office/powerpoint/2010/main" val="61527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200"/>
            </a:lvl1pPr>
          </a:lstStyle>
          <a:p>
            <a:fld id="{13AAC0AE-F2B6-6846-ABA1-89ECC7B4183F}" type="datetimeFigureOut">
              <a:rPr lang="en-US" smtClean="0"/>
              <a:t>12/11/2025</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200"/>
            </a:lvl1pPr>
          </a:lstStyle>
          <a:p>
            <a:fld id="{75EC4D74-3CE0-A14E-94A9-E88D6AC0C899}" type="slidenum">
              <a:rPr lang="en-US" smtClean="0"/>
              <a:t>‹#›</a:t>
            </a:fld>
            <a:endParaRPr lang="en-US"/>
          </a:p>
        </p:txBody>
      </p:sp>
    </p:spTree>
    <p:extLst>
      <p:ext uri="{BB962C8B-B14F-4D97-AF65-F5344CB8AC3E}">
        <p14:creationId xmlns:p14="http://schemas.microsoft.com/office/powerpoint/2010/main" val="5263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youtube.com/watch?v=XhMVWzVXNNk&amp;embeds_euri=https%3A%2F%2Fhubblecontent.osi.office.net%2Fcontentsvc%2Fvideohostpage%2Fvideo%3Flcid%3D1033%26syslcid%3D1033%26uilcid%3D1033%26app%3D3%26ver%3D16%26build%3D16.0.1&amp;feature=emb_logo"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youtube.com/watch?v=tF9r9LrOb70&amp;t=47s"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visualcapitalist.com/cp/animated-most-valuable-brands-from-2000-2022/"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u="none" strike="noStrike" kern="1200" baseline="0" dirty="0">
                <a:solidFill>
                  <a:schemeClr val="tx1"/>
                </a:solidFill>
                <a:latin typeface="+mn-lt"/>
                <a:ea typeface="+mn-ea"/>
                <a:cs typeface="+mn-cs"/>
              </a:rPr>
              <a:t>http://www.youtube.com/watch?v=JIirzTdaey4</a:t>
            </a:r>
          </a:p>
          <a:p>
            <a:r>
              <a:rPr lang="en-US" sz="1200" b="0" i="1" u="none" strike="noStrike" kern="1200" baseline="0" dirty="0">
                <a:solidFill>
                  <a:schemeClr val="tx1"/>
                </a:solidFill>
                <a:latin typeface="+mn-lt"/>
                <a:ea typeface="+mn-ea"/>
                <a:cs typeface="+mn-cs"/>
              </a:rPr>
              <a:t>5 min video</a:t>
            </a:r>
          </a:p>
          <a:p>
            <a:endParaRPr lang="en-US"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(picture is a YouTube video to an explanation about the 4 P’s)</a:t>
            </a:r>
          </a:p>
          <a:p>
            <a:r>
              <a:rPr lang="en-US" sz="1200" b="0" i="1" u="none" strike="noStrike" kern="1200" baseline="0" dirty="0">
                <a:solidFill>
                  <a:schemeClr val="tx1"/>
                </a:solidFill>
                <a:latin typeface="+mn-lt"/>
                <a:ea typeface="+mn-ea"/>
                <a:cs typeface="+mn-cs"/>
              </a:rPr>
              <a:t>Write the 4 questions on the board</a:t>
            </a:r>
          </a:p>
          <a:p>
            <a:endParaRPr lang="en-US" sz="1200" b="0" i="1" u="none" strike="noStrike" kern="1200" baseline="0" dirty="0">
              <a:solidFill>
                <a:schemeClr val="tx1"/>
              </a:solidFill>
              <a:latin typeface="+mn-lt"/>
              <a:ea typeface="+mn-ea"/>
              <a:cs typeface="+mn-cs"/>
            </a:endParaRPr>
          </a:p>
          <a:p>
            <a:endParaRPr lang="en-US" sz="1200" b="0" i="1" u="none" strike="noStrike" kern="1200" baseline="0" dirty="0">
              <a:solidFill>
                <a:schemeClr val="tx1"/>
              </a:solidFill>
              <a:latin typeface="+mn-lt"/>
              <a:ea typeface="+mn-ea"/>
              <a:cs typeface="+mn-cs"/>
            </a:endParaRPr>
          </a:p>
          <a:p>
            <a:endParaRPr lang="en-US" sz="1200" b="0" i="1"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Next, ask students to help you out as you cross out each of the questions you</a:t>
            </a:r>
          </a:p>
          <a:p>
            <a:r>
              <a:rPr lang="en-US" sz="1200" b="0" i="0" u="none" strike="noStrike" kern="1200" baseline="0" dirty="0">
                <a:solidFill>
                  <a:schemeClr val="tx1"/>
                </a:solidFill>
                <a:latin typeface="+mn-lt"/>
                <a:ea typeface="+mn-ea"/>
                <a:cs typeface="+mn-cs"/>
              </a:rPr>
              <a:t>initially wrote on the board and replace it with one of the 4 Ps as follows:</a:t>
            </a:r>
          </a:p>
          <a:p>
            <a:r>
              <a:rPr lang="en-US" sz="1200" b="1" i="0" u="none" strike="noStrike" kern="1200" baseline="0" dirty="0">
                <a:solidFill>
                  <a:schemeClr val="tx1"/>
                </a:solidFill>
                <a:latin typeface="+mn-lt"/>
                <a:ea typeface="+mn-ea"/>
                <a:cs typeface="+mn-cs"/>
              </a:rPr>
              <a:t>What? Where? How much? How will you tell people?</a:t>
            </a:r>
          </a:p>
          <a:p>
            <a:r>
              <a:rPr lang="en-US" sz="1200" b="1" i="0" u="none" strike="noStrike" kern="1200" baseline="0" dirty="0">
                <a:solidFill>
                  <a:schemeClr val="tx1"/>
                </a:solidFill>
                <a:latin typeface="+mn-lt"/>
                <a:ea typeface="+mn-ea"/>
                <a:cs typeface="+mn-cs"/>
              </a:rPr>
              <a:t>Product Place Price Promotion</a:t>
            </a:r>
          </a:p>
          <a:p>
            <a:r>
              <a:rPr lang="en-US" sz="1200" b="0" i="0" u="none" strike="noStrike" kern="1200" baseline="0" dirty="0">
                <a:solidFill>
                  <a:schemeClr val="tx1"/>
                </a:solidFill>
                <a:latin typeface="+mn-lt"/>
                <a:ea typeface="+mn-ea"/>
                <a:cs typeface="+mn-cs"/>
              </a:rPr>
              <a:t>Finally, address the </a:t>
            </a:r>
            <a:r>
              <a:rPr lang="en-US" sz="1200" b="1" i="0" u="none" strike="noStrike" kern="1200" baseline="0" dirty="0">
                <a:solidFill>
                  <a:schemeClr val="tx1"/>
                </a:solidFill>
                <a:latin typeface="+mn-lt"/>
                <a:ea typeface="+mn-ea"/>
                <a:cs typeface="+mn-cs"/>
              </a:rPr>
              <a:t>Who? </a:t>
            </a:r>
            <a:r>
              <a:rPr lang="en-US" sz="1200" b="0" i="0" u="none" strike="noStrike" kern="1200" baseline="0" dirty="0">
                <a:solidFill>
                  <a:schemeClr val="tx1"/>
                </a:solidFill>
                <a:latin typeface="+mn-lt"/>
                <a:ea typeface="+mn-ea"/>
                <a:cs typeface="+mn-cs"/>
              </a:rPr>
              <a:t>question. Explain that many marketers consider</a:t>
            </a:r>
          </a:p>
          <a:p>
            <a:r>
              <a:rPr lang="en-US" sz="1200" b="1" i="0" u="none" strike="noStrike" kern="1200" baseline="0" dirty="0">
                <a:solidFill>
                  <a:schemeClr val="tx1"/>
                </a:solidFill>
                <a:latin typeface="+mn-lt"/>
                <a:ea typeface="+mn-ea"/>
                <a:cs typeface="+mn-cs"/>
              </a:rPr>
              <a:t>People </a:t>
            </a:r>
            <a:r>
              <a:rPr lang="en-US" sz="1200" b="0" i="0" u="none" strike="noStrike" kern="1200" baseline="0" dirty="0">
                <a:solidFill>
                  <a:schemeClr val="tx1"/>
                </a:solidFill>
                <a:latin typeface="+mn-lt"/>
                <a:ea typeface="+mn-ea"/>
                <a:cs typeface="+mn-cs"/>
              </a:rPr>
              <a:t>to be the fifth P because it is so important to know who your target</a:t>
            </a:r>
          </a:p>
          <a:p>
            <a:r>
              <a:rPr lang="en-US" sz="1200" b="0" i="0" u="none" strike="noStrike" kern="1200" baseline="0" dirty="0">
                <a:solidFill>
                  <a:schemeClr val="tx1"/>
                </a:solidFill>
                <a:latin typeface="+mn-lt"/>
                <a:ea typeface="+mn-ea"/>
                <a:cs typeface="+mn-cs"/>
              </a:rPr>
              <a:t>market is in order to figure out the best strategy for each of the other 4 Ps. This</a:t>
            </a:r>
          </a:p>
          <a:p>
            <a:r>
              <a:rPr lang="en-US" sz="1200" b="0" i="0" u="none" strike="noStrike" kern="1200" baseline="0" dirty="0">
                <a:solidFill>
                  <a:schemeClr val="tx1"/>
                </a:solidFill>
                <a:latin typeface="+mn-lt"/>
                <a:ea typeface="+mn-ea"/>
                <a:cs typeface="+mn-cs"/>
              </a:rPr>
              <a:t>is why the question </a:t>
            </a:r>
            <a:r>
              <a:rPr lang="en-US" sz="1200" b="1" i="0" u="none" strike="noStrike" kern="1200" baseline="0" dirty="0">
                <a:solidFill>
                  <a:schemeClr val="tx1"/>
                </a:solidFill>
                <a:latin typeface="+mn-lt"/>
                <a:ea typeface="+mn-ea"/>
                <a:cs typeface="+mn-cs"/>
              </a:rPr>
              <a:t>Who will buy it? </a:t>
            </a:r>
            <a:r>
              <a:rPr lang="en-US" sz="1200" b="0" i="0" u="none" strike="noStrike" kern="1200" baseline="0" dirty="0">
                <a:solidFill>
                  <a:schemeClr val="tx1"/>
                </a:solidFill>
                <a:latin typeface="+mn-lt"/>
                <a:ea typeface="+mn-ea"/>
                <a:cs typeface="+mn-cs"/>
              </a:rPr>
              <a:t>appears in the middle of the diagram on</a:t>
            </a:r>
          </a:p>
          <a:p>
            <a:r>
              <a:rPr lang="en-US" sz="1200" b="0" i="0" u="none" strike="noStrike" kern="1200" baseline="0" dirty="0">
                <a:solidFill>
                  <a:schemeClr val="tx1"/>
                </a:solidFill>
                <a:latin typeface="+mn-lt"/>
                <a:ea typeface="+mn-ea"/>
                <a:cs typeface="+mn-cs"/>
              </a:rPr>
              <a:t>the handout. When you develop an idea of who your average customer is, you</a:t>
            </a:r>
          </a:p>
          <a:p>
            <a:r>
              <a:rPr lang="en-US" sz="1200" b="0" i="0" u="none" strike="noStrike" kern="1200" baseline="0" dirty="0">
                <a:solidFill>
                  <a:schemeClr val="tx1"/>
                </a:solidFill>
                <a:latin typeface="+mn-lt"/>
                <a:ea typeface="+mn-ea"/>
                <a:cs typeface="+mn-cs"/>
              </a:rPr>
              <a:t>are creating what is known as a </a:t>
            </a:r>
            <a:r>
              <a:rPr lang="en-US" sz="1200" b="0" i="1" u="none" strike="noStrike" kern="1200" baseline="0" dirty="0">
                <a:solidFill>
                  <a:schemeClr val="tx1"/>
                </a:solidFill>
                <a:latin typeface="+mn-lt"/>
                <a:ea typeface="+mn-ea"/>
                <a:cs typeface="+mn-cs"/>
              </a:rPr>
              <a:t>customer profile</a:t>
            </a:r>
            <a:r>
              <a:rPr lang="en-US" sz="1200" b="0" i="0" u="none" strike="noStrike" kern="1200" baseline="0" dirty="0">
                <a:solidFill>
                  <a:schemeClr val="tx1"/>
                </a:solidFill>
                <a:latin typeface="+mn-lt"/>
                <a:ea typeface="+mn-ea"/>
                <a:cs typeface="+mn-cs"/>
              </a:rPr>
              <a:t>. The better you understand your</a:t>
            </a:r>
          </a:p>
          <a:p>
            <a:r>
              <a:rPr lang="en-US" sz="1200" b="0" i="0" u="none" strike="noStrike" kern="1200" baseline="0" dirty="0">
                <a:solidFill>
                  <a:schemeClr val="tx1"/>
                </a:solidFill>
                <a:latin typeface="+mn-lt"/>
                <a:ea typeface="+mn-ea"/>
                <a:cs typeface="+mn-cs"/>
              </a:rPr>
              <a:t>customers, the more successful your marketing plan is likely to be.</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EF9FDB-CC78-424B-9331-AFE6657D802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6659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https://www.youtube.com/watch?v=KMgbMg18mgo</a:t>
            </a:r>
          </a:p>
          <a:p>
            <a:endParaRPr lang="en-US" dirty="0"/>
          </a:p>
          <a:p>
            <a:r>
              <a:rPr lang="en-US" dirty="0"/>
              <a:t>https://www.youtube.com/watch?v=4fdOymG2cds</a:t>
            </a:r>
          </a:p>
        </p:txBody>
      </p:sp>
      <p:sp>
        <p:nvSpPr>
          <p:cNvPr id="4" name="Slide Number Placeholder 3"/>
          <p:cNvSpPr>
            <a:spLocks noGrp="1"/>
          </p:cNvSpPr>
          <p:nvPr>
            <p:ph type="sldNum" sz="quarter" idx="5"/>
          </p:nvPr>
        </p:nvSpPr>
        <p:spPr/>
        <p:txBody>
          <a:bodyPr/>
          <a:lstStyle/>
          <a:p>
            <a:fld id="{75EC4D74-3CE0-A14E-94A9-E88D6AC0C899}" type="slidenum">
              <a:rPr lang="en-US" smtClean="0"/>
              <a:t>8</a:t>
            </a:fld>
            <a:endParaRPr lang="en-US"/>
          </a:p>
        </p:txBody>
      </p:sp>
    </p:spTree>
    <p:extLst>
      <p:ext uri="{BB962C8B-B14F-4D97-AF65-F5344CB8AC3E}">
        <p14:creationId xmlns:p14="http://schemas.microsoft.com/office/powerpoint/2010/main" val="1534429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dirty="0"/>
              <a:t>How and where the product will be distributed: For global companies, it may mean making decisions about which products will be sold in which countries and which retail outlets or other means of selling the product will best reach the customer. </a:t>
            </a:r>
          </a:p>
          <a:p>
            <a:endParaRPr lang="en-US" dirty="0"/>
          </a:p>
        </p:txBody>
      </p:sp>
    </p:spTree>
    <p:extLst>
      <p:ext uri="{BB962C8B-B14F-4D97-AF65-F5344CB8AC3E}">
        <p14:creationId xmlns:p14="http://schemas.microsoft.com/office/powerpoint/2010/main" val="418349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https://www.youtube.com/watch?v=4eIDBV4Mpek</a:t>
            </a:r>
          </a:p>
        </p:txBody>
      </p:sp>
      <p:sp>
        <p:nvSpPr>
          <p:cNvPr id="4" name="Slide Number Placeholder 3"/>
          <p:cNvSpPr>
            <a:spLocks noGrp="1"/>
          </p:cNvSpPr>
          <p:nvPr>
            <p:ph type="sldNum" sz="quarter" idx="5"/>
          </p:nvPr>
        </p:nvSpPr>
        <p:spPr/>
        <p:txBody>
          <a:bodyPr/>
          <a:lstStyle/>
          <a:p>
            <a:fld id="{75EC4D74-3CE0-A14E-94A9-E88D6AC0C899}" type="slidenum">
              <a:rPr lang="en-US" smtClean="0"/>
              <a:t>12</a:t>
            </a:fld>
            <a:endParaRPr lang="en-US"/>
          </a:p>
        </p:txBody>
      </p:sp>
    </p:spTree>
    <p:extLst>
      <p:ext uri="{BB962C8B-B14F-4D97-AF65-F5344CB8AC3E}">
        <p14:creationId xmlns:p14="http://schemas.microsoft.com/office/powerpoint/2010/main" val="2033829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Ways to Create Better Customer Behavior Analytics. This blog post discusses how to use analytics to better determine consumer behavior. https://www.datameer.com/blog/six-ways-create-better-customer-behavior-analytics/</a:t>
            </a:r>
          </a:p>
          <a:p>
            <a:endParaRPr lang="en-US" dirty="0"/>
          </a:p>
          <a:p>
            <a:r>
              <a:rPr lang="en-US" dirty="0"/>
              <a:t>Predictive Analytics: Predicting Customer Behavior to Improve ROI. This article discusses predictive analytics as applies to consumer behavior. https://www.hausmanmarketingletter.com/predictive-analytics-improve-roi/</a:t>
            </a:r>
          </a:p>
        </p:txBody>
      </p:sp>
      <p:sp>
        <p:nvSpPr>
          <p:cNvPr id="4" name="Slide Number Placeholder 3"/>
          <p:cNvSpPr>
            <a:spLocks noGrp="1"/>
          </p:cNvSpPr>
          <p:nvPr>
            <p:ph type="sldNum" sz="quarter" idx="5"/>
          </p:nvPr>
        </p:nvSpPr>
        <p:spPr/>
        <p:txBody>
          <a:bodyPr/>
          <a:lstStyle/>
          <a:p>
            <a:fld id="{75EC4D74-3CE0-A14E-94A9-E88D6AC0C899}" type="slidenum">
              <a:rPr lang="en-US" smtClean="0"/>
              <a:t>13</a:t>
            </a:fld>
            <a:endParaRPr lang="en-US"/>
          </a:p>
        </p:txBody>
      </p:sp>
    </p:spTree>
    <p:extLst>
      <p:ext uri="{BB962C8B-B14F-4D97-AF65-F5344CB8AC3E}">
        <p14:creationId xmlns:p14="http://schemas.microsoft.com/office/powerpoint/2010/main" val="1332764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students are working, write the following terms on the board:</a:t>
            </a:r>
          </a:p>
          <a:p>
            <a:r>
              <a:rPr lang="en-US" sz="1200" b="1" i="0" u="none" strike="noStrike" kern="1200" baseline="0" dirty="0">
                <a:solidFill>
                  <a:schemeClr val="tx1"/>
                </a:solidFill>
                <a:latin typeface="+mn-lt"/>
                <a:ea typeface="+mn-ea"/>
                <a:cs typeface="+mn-cs"/>
              </a:rPr>
              <a:t>What? Where? How much? How will you tell people?</a:t>
            </a:r>
          </a:p>
          <a:p>
            <a:r>
              <a:rPr lang="en-US" sz="1200" b="0" i="0" u="none" strike="noStrike" kern="1200" baseline="0" dirty="0">
                <a:solidFill>
                  <a:schemeClr val="tx1"/>
                </a:solidFill>
                <a:latin typeface="+mn-lt"/>
                <a:ea typeface="+mn-ea"/>
                <a:cs typeface="+mn-cs"/>
              </a:rPr>
              <a:t>Once the lists are complete, explain to students that each of these questions</a:t>
            </a:r>
          </a:p>
          <a:p>
            <a:r>
              <a:rPr lang="en-US" sz="1200" b="0" i="0" u="none" strike="noStrike" kern="1200" baseline="0" dirty="0">
                <a:solidFill>
                  <a:schemeClr val="tx1"/>
                </a:solidFill>
                <a:latin typeface="+mn-lt"/>
                <a:ea typeface="+mn-ea"/>
                <a:cs typeface="+mn-cs"/>
              </a:rPr>
              <a:t>addresses one of the fundamental cornerstones of marketing, the 4 Ps. Briefly</a:t>
            </a:r>
          </a:p>
          <a:p>
            <a:r>
              <a:rPr lang="en-US" sz="1200" b="0" i="0" u="none" strike="noStrike" kern="1200" baseline="0" dirty="0">
                <a:solidFill>
                  <a:schemeClr val="tx1"/>
                </a:solidFill>
                <a:latin typeface="+mn-lt"/>
                <a:ea typeface="+mn-ea"/>
                <a:cs typeface="+mn-cs"/>
              </a:rPr>
              <a:t>explain the 4 Ps to them.</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EF9FDB-CC78-424B-9331-AFE6657D802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3486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4 separate people to create a P without the others seeing, write on post it note. Pass it to the front and someone in class puts them all on a chart</a:t>
            </a:r>
          </a:p>
          <a:p>
            <a:endParaRPr lang="en-US" dirty="0"/>
          </a:p>
          <a:p>
            <a:r>
              <a:rPr lang="en-US" dirty="0"/>
              <a:t>Others in class figure out who the target market might be</a:t>
            </a:r>
          </a:p>
        </p:txBody>
      </p:sp>
      <p:sp>
        <p:nvSpPr>
          <p:cNvPr id="4" name="Slide Number Placeholder 3"/>
          <p:cNvSpPr>
            <a:spLocks noGrp="1"/>
          </p:cNvSpPr>
          <p:nvPr>
            <p:ph type="sldNum" sz="quarter" idx="5"/>
          </p:nvPr>
        </p:nvSpPr>
        <p:spPr/>
        <p:txBody>
          <a:bodyPr/>
          <a:lstStyle/>
          <a:p>
            <a:fld id="{75EC4D74-3CE0-A14E-94A9-E88D6AC0C899}" type="slidenum">
              <a:rPr lang="en-US" smtClean="0"/>
              <a:t>15</a:t>
            </a:fld>
            <a:endParaRPr lang="en-US"/>
          </a:p>
        </p:txBody>
      </p:sp>
    </p:spTree>
    <p:extLst>
      <p:ext uri="{BB962C8B-B14F-4D97-AF65-F5344CB8AC3E}">
        <p14:creationId xmlns:p14="http://schemas.microsoft.com/office/powerpoint/2010/main" val="357666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the target market for that product</a:t>
            </a:r>
          </a:p>
        </p:txBody>
      </p:sp>
      <p:sp>
        <p:nvSpPr>
          <p:cNvPr id="4" name="Slide Number Placeholder 3"/>
          <p:cNvSpPr>
            <a:spLocks noGrp="1"/>
          </p:cNvSpPr>
          <p:nvPr>
            <p:ph type="sldNum" sz="quarter" idx="5"/>
          </p:nvPr>
        </p:nvSpPr>
        <p:spPr/>
        <p:txBody>
          <a:bodyPr/>
          <a:lstStyle/>
          <a:p>
            <a:fld id="{75EC4D74-3CE0-A14E-94A9-E88D6AC0C899}" type="slidenum">
              <a:rPr lang="en-US" smtClean="0"/>
              <a:t>16</a:t>
            </a:fld>
            <a:endParaRPr lang="en-US"/>
          </a:p>
        </p:txBody>
      </p:sp>
    </p:spTree>
    <p:extLst>
      <p:ext uri="{BB962C8B-B14F-4D97-AF65-F5344CB8AC3E}">
        <p14:creationId xmlns:p14="http://schemas.microsoft.com/office/powerpoint/2010/main" val="3467587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The Secret Behind Coca-Cola Marketing Strategy – YouTube</a:t>
            </a:r>
            <a:r>
              <a:rPr lang="en-US" dirty="0"/>
              <a:t>  8 minutes</a:t>
            </a:r>
          </a:p>
          <a:p>
            <a:r>
              <a:rPr lang="en-US" dirty="0"/>
              <a:t>https://www.youtube.com/watch?v=XhMVWzVXNNk</a:t>
            </a:r>
          </a:p>
          <a:p>
            <a:endParaRPr lang="en-US" dirty="0"/>
          </a:p>
          <a:p>
            <a:endParaRPr lang="en-US" dirty="0"/>
          </a:p>
          <a:p>
            <a:r>
              <a:rPr lang="en-US" sz="1200" kern="1200" dirty="0">
                <a:solidFill>
                  <a:schemeClr val="tx1"/>
                </a:solidFill>
                <a:effectLst/>
                <a:latin typeface="+mn-lt"/>
                <a:ea typeface="+mn-ea"/>
                <a:cs typeface="+mn-cs"/>
              </a:rPr>
              <a:t>Instructions: write a one word or partial sentence answer for each question. You should be able to answer all of these while you’re watching the video.</a:t>
            </a:r>
          </a:p>
          <a:p>
            <a:pPr lvl="0"/>
            <a:r>
              <a:rPr lang="en-US" sz="1200" kern="1200" dirty="0">
                <a:solidFill>
                  <a:schemeClr val="tx1"/>
                </a:solidFill>
                <a:effectLst/>
                <a:latin typeface="+mn-lt"/>
                <a:ea typeface="+mn-ea"/>
                <a:cs typeface="+mn-cs"/>
              </a:rPr>
              <a:t>How many bottles of coke were sold per day when first starting out? What does this tell you about starting out in your entrepreneurial endeavors?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Instead of focusing on selling just a drink, what does Coke focus on selling in all, or most, of its advertising campaigns?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What is one example of something Coke did to develop their “sharing campaign”.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Which of the 4Ps (product, promotion, price, place) did this specific technique utilize?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What did Coke do to personalize their product?</a:t>
            </a:r>
          </a:p>
          <a:p>
            <a:endParaRPr lang="en-US" dirty="0"/>
          </a:p>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20</a:t>
            </a:fld>
            <a:endParaRPr lang="en-US"/>
          </a:p>
        </p:txBody>
      </p:sp>
    </p:spTree>
    <p:extLst>
      <p:ext uri="{BB962C8B-B14F-4D97-AF65-F5344CB8AC3E}">
        <p14:creationId xmlns:p14="http://schemas.microsoft.com/office/powerpoint/2010/main" val="3899737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Elon Musk Spends 0$ on Marketing - Tesla's Marketing Breakdown – YouTube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https://www.youtube.com/watch?v=tF9r9LrOb70&amp;t=2s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Instructions: write a one word or partial sentence answer for each question. You should be able to answer all of these while you’re watching the 8-minute video.</a:t>
            </a:r>
          </a:p>
          <a:p>
            <a:endParaRPr lang="en-US" dirty="0"/>
          </a:p>
          <a:p>
            <a:r>
              <a:rPr lang="en-US" dirty="0"/>
              <a:t>1. With what social media company do auto companies spend most of their ad money?</a:t>
            </a:r>
          </a:p>
          <a:p>
            <a:endParaRPr lang="en-US" dirty="0"/>
          </a:p>
          <a:p>
            <a:r>
              <a:rPr lang="en-US" dirty="0"/>
              <a:t>2. How much money does Tesla spend on Facebook, Instagram, Twitter, and YouTube?</a:t>
            </a:r>
          </a:p>
          <a:p>
            <a:endParaRPr lang="en-US" dirty="0"/>
          </a:p>
          <a:p>
            <a:r>
              <a:rPr lang="en-US" dirty="0"/>
              <a:t>3. What does the video say you have to do to get free publicity?</a:t>
            </a:r>
          </a:p>
          <a:p>
            <a:endParaRPr lang="en-US" dirty="0"/>
          </a:p>
          <a:p>
            <a:r>
              <a:rPr lang="en-US" dirty="0"/>
              <a:t>4. What do customer advocates do for a company?</a:t>
            </a:r>
          </a:p>
        </p:txBody>
      </p:sp>
      <p:sp>
        <p:nvSpPr>
          <p:cNvPr id="4" name="Slide Number Placeholder 3"/>
          <p:cNvSpPr>
            <a:spLocks noGrp="1"/>
          </p:cNvSpPr>
          <p:nvPr>
            <p:ph type="sldNum" sz="quarter" idx="5"/>
          </p:nvPr>
        </p:nvSpPr>
        <p:spPr/>
        <p:txBody>
          <a:bodyPr/>
          <a:lstStyle/>
          <a:p>
            <a:fld id="{75EC4D74-3CE0-A14E-94A9-E88D6AC0C899}" type="slidenum">
              <a:rPr lang="en-US" smtClean="0"/>
              <a:t>21</a:t>
            </a:fld>
            <a:endParaRPr lang="en-US"/>
          </a:p>
        </p:txBody>
      </p:sp>
    </p:spTree>
    <p:extLst>
      <p:ext uri="{BB962C8B-B14F-4D97-AF65-F5344CB8AC3E}">
        <p14:creationId xmlns:p14="http://schemas.microsoft.com/office/powerpoint/2010/main" val="3925417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Animated: The Most Valuable Brands From 2000–2022 (visualcapitalist.com)</a:t>
            </a:r>
            <a:endParaRPr lang="en-US" dirty="0"/>
          </a:p>
          <a:p>
            <a:r>
              <a:rPr lang="en-US" dirty="0">
                <a:hlinkClick r:id="rId3"/>
              </a:rPr>
              <a:t>Animated: The Most Valuable Brands From 2000–2022 (visualcapitalist.com)</a:t>
            </a:r>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22</a:t>
            </a:fld>
            <a:endParaRPr lang="en-US"/>
          </a:p>
        </p:txBody>
      </p:sp>
    </p:spTree>
    <p:extLst>
      <p:ext uri="{BB962C8B-B14F-4D97-AF65-F5344CB8AC3E}">
        <p14:creationId xmlns:p14="http://schemas.microsoft.com/office/powerpoint/2010/main" val="36350490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9E2BFF-0B83-4EEC-B349-6032F0DFE8E4}"/>
              </a:ext>
            </a:extLst>
          </p:cNvPr>
          <p:cNvSpPr/>
          <p:nvPr userDrawn="1"/>
        </p:nvSpPr>
        <p:spPr>
          <a:xfrm rot="10800000">
            <a:off x="0" y="0"/>
            <a:ext cx="9144000" cy="5143500"/>
          </a:xfrm>
          <a:prstGeom prst="rect">
            <a:avLst/>
          </a:prstGeom>
          <a:gradFill flip="none" rotWithShape="1">
            <a:gsLst>
              <a:gs pos="0">
                <a:schemeClr val="bg2">
                  <a:lumMod val="50000"/>
                </a:schemeClr>
              </a:gs>
              <a:gs pos="62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18"/>
          <p:cNvSpPr>
            <a:spLocks noGrp="1"/>
          </p:cNvSpPr>
          <p:nvPr>
            <p:ph type="body" sz="quarter" idx="10" hasCustomPrompt="1"/>
          </p:nvPr>
        </p:nvSpPr>
        <p:spPr>
          <a:xfrm>
            <a:off x="1728216" y="3295142"/>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a:t>Click to edit optional sub-header</a:t>
            </a:r>
            <a:br>
              <a:rPr lang="en-US"/>
            </a:br>
            <a:r>
              <a:rPr lang="en-US"/>
              <a:t>Arial, 12pt, sentence case</a:t>
            </a:r>
          </a:p>
        </p:txBody>
      </p:sp>
      <p:sp>
        <p:nvSpPr>
          <p:cNvPr id="9" name="Title 1"/>
          <p:cNvSpPr>
            <a:spLocks noGrp="1"/>
          </p:cNvSpPr>
          <p:nvPr>
            <p:ph type="title" hasCustomPrompt="1"/>
          </p:nvPr>
        </p:nvSpPr>
        <p:spPr>
          <a:xfrm>
            <a:off x="1728216" y="2230871"/>
            <a:ext cx="5687568" cy="952270"/>
          </a:xfrm>
          <a:prstGeom prst="rect">
            <a:avLst/>
          </a:prstGeom>
        </p:spPr>
        <p:txBody>
          <a:bodyPr anchor="b"/>
          <a:lstStyle>
            <a:lvl1pPr algn="ctr">
              <a:defRPr sz="2000" cap="all" baseline="0">
                <a:solidFill>
                  <a:schemeClr val="bg1"/>
                </a:solidFill>
              </a:defRPr>
            </a:lvl1pPr>
          </a:lstStyle>
          <a:p>
            <a:r>
              <a:rPr lang="en-US" dirty="0"/>
              <a:t>TITLE, ARIAL, 20PT, UPPERCASE</a:t>
            </a:r>
          </a:p>
        </p:txBody>
      </p:sp>
      <p:pic>
        <p:nvPicPr>
          <p:cNvPr id="4" name="Picture 3" descr="A picture containing drawing&#10;&#10;Description automatically generated">
            <a:extLst>
              <a:ext uri="{FF2B5EF4-FFF2-40B4-BE49-F238E27FC236}">
                <a16:creationId xmlns:a16="http://schemas.microsoft.com/office/drawing/2014/main" id="{68CD39B6-2E49-4642-967A-D62CD650C9F5}"/>
              </a:ext>
            </a:extLst>
          </p:cNvPr>
          <p:cNvPicPr>
            <a:picLocks noChangeAspect="1"/>
          </p:cNvPicPr>
          <p:nvPr userDrawn="1"/>
        </p:nvPicPr>
        <p:blipFill>
          <a:blip r:embed="rId2"/>
          <a:stretch>
            <a:fillRect/>
          </a:stretch>
        </p:blipFill>
        <p:spPr>
          <a:xfrm>
            <a:off x="4036022" y="424100"/>
            <a:ext cx="1071956" cy="13748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997019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40087360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294737960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3" name="Picture 2" descr="A large building&#10;&#10;Description automatically generated">
            <a:extLst>
              <a:ext uri="{FF2B5EF4-FFF2-40B4-BE49-F238E27FC236}">
                <a16:creationId xmlns:a16="http://schemas.microsoft.com/office/drawing/2014/main" id="{0F5107FE-B099-49F5-9A06-956B06276127}"/>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36062824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2" name="Picture 1" descr="A large building&#10;&#10;Description automatically generated">
            <a:extLst>
              <a:ext uri="{FF2B5EF4-FFF2-40B4-BE49-F238E27FC236}">
                <a16:creationId xmlns:a16="http://schemas.microsoft.com/office/drawing/2014/main" id="{E1234ECC-ADCC-46AC-9691-CE80D2E9AC5F}"/>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14527766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bullet list">
    <p:spTree>
      <p:nvGrpSpPr>
        <p:cNvPr id="1" name=""/>
        <p:cNvGrpSpPr/>
        <p:nvPr/>
      </p:nvGrpSpPr>
      <p:grpSpPr>
        <a:xfrm>
          <a:off x="0" y="0"/>
          <a:ext cx="0" cy="0"/>
          <a:chOff x="0" y="0"/>
          <a:chExt cx="0" cy="0"/>
        </a:xfrm>
      </p:grpSpPr>
      <p:cxnSp>
        <p:nvCxnSpPr>
          <p:cNvPr id="13" name="Straight Connector 12"/>
          <p:cNvCxnSpPr/>
          <p:nvPr userDrawn="1"/>
        </p:nvCxnSpPr>
        <p:spPr>
          <a:xfrm>
            <a:off x="2793883" y="8682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2793883" y="10206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509695" y="2243735"/>
            <a:ext cx="2098939" cy="584775"/>
          </a:xfrm>
          <a:prstGeom prst="rect">
            <a:avLst/>
          </a:prstGeom>
          <a:noFill/>
        </p:spPr>
        <p:txBody>
          <a:bodyPr wrap="square" rtlCol="0">
            <a:spAutoFit/>
          </a:bodyPr>
          <a:lstStyle/>
          <a:p>
            <a:pPr algn="ctr"/>
            <a:r>
              <a:rPr lang="en-US" sz="3200">
                <a:solidFill>
                  <a:srgbClr val="2597CB"/>
                </a:solidFill>
              </a:rPr>
              <a:t>AGENDA</a:t>
            </a:r>
            <a:endParaRPr lang="en-US" sz="3200">
              <a:solidFill>
                <a:srgbClr val="2597CB"/>
              </a:solidFill>
              <a:latin typeface="Arial" panose="020B0604020202020204" pitchFamily="34" charset="0"/>
            </a:endParaRPr>
          </a:p>
        </p:txBody>
      </p:sp>
      <p:sp>
        <p:nvSpPr>
          <p:cNvPr id="5" name="Text Placeholder 4"/>
          <p:cNvSpPr>
            <a:spLocks noGrp="1"/>
          </p:cNvSpPr>
          <p:nvPr>
            <p:ph type="body" sz="quarter" idx="13"/>
          </p:nvPr>
        </p:nvSpPr>
        <p:spPr>
          <a:xfrm>
            <a:off x="3233738" y="1075638"/>
            <a:ext cx="5203825" cy="3162035"/>
          </a:xfrm>
        </p:spPr>
        <p:txBody>
          <a:bodyPr/>
          <a:lstStyle>
            <a:lvl1pPr>
              <a:buClr>
                <a:srgbClr val="2597CB"/>
              </a:buClr>
              <a:defRPr>
                <a:solidFill>
                  <a:srgbClr val="414042"/>
                </a:solidFill>
              </a:defRPr>
            </a:lvl1pPr>
            <a:lvl2pPr>
              <a:buClr>
                <a:srgbClr val="2597CB"/>
              </a:buClr>
              <a:defRPr>
                <a:solidFill>
                  <a:srgbClr val="414042"/>
                </a:solidFill>
              </a:defRPr>
            </a:lvl2pPr>
            <a:lvl3pPr>
              <a:buClr>
                <a:srgbClr val="2597CB"/>
              </a:buClr>
              <a:defRPr>
                <a:solidFill>
                  <a:srgbClr val="414042"/>
                </a:solidFill>
              </a:defRPr>
            </a:lvl3pPr>
            <a:lvl4pPr>
              <a:buClr>
                <a:srgbClr val="2597CB"/>
              </a:buClr>
              <a:defRPr/>
            </a:lvl4pPr>
            <a:lvl5pPr>
              <a:buClr>
                <a:srgbClr val="2597CB"/>
              </a:buClr>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9158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 bullets">
    <p:spTree>
      <p:nvGrpSpPr>
        <p:cNvPr id="1" name=""/>
        <p:cNvGrpSpPr/>
        <p:nvPr/>
      </p:nvGrpSpPr>
      <p:grpSpPr>
        <a:xfrm>
          <a:off x="0" y="0"/>
          <a:ext cx="0" cy="0"/>
          <a:chOff x="0" y="0"/>
          <a:chExt cx="0" cy="0"/>
        </a:xfrm>
      </p:grpSpPr>
      <p:sp>
        <p:nvSpPr>
          <p:cNvPr id="4" name="Text Placeholder 3"/>
          <p:cNvSpPr>
            <a:spLocks noGrp="1"/>
          </p:cNvSpPr>
          <p:nvPr>
            <p:ph type="body" sz="quarter" idx="18" hasCustomPrompt="1"/>
          </p:nvPr>
        </p:nvSpPr>
        <p:spPr>
          <a:xfrm>
            <a:off x="692306" y="865565"/>
            <a:ext cx="7746421"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8" name="Straight Connector 7">
            <a:extLst>
              <a:ext uri="{FF2B5EF4-FFF2-40B4-BE49-F238E27FC236}">
                <a16:creationId xmlns:a16="http://schemas.microsoft.com/office/drawing/2014/main" id="{065853EB-037E-4664-B8C6-47A825981E1A}"/>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037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 blue subtitle">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692306" y="866121"/>
            <a:ext cx="7765894" cy="237970"/>
          </a:xfrm>
          <a:prstGeom prst="rect">
            <a:avLst/>
          </a:prstGeom>
        </p:spPr>
        <p:txBody>
          <a:bodyPr>
            <a:noAutofit/>
          </a:bodyPr>
          <a:lstStyle>
            <a:lvl1pPr marL="0" indent="0">
              <a:spcBef>
                <a:spcPts val="0"/>
              </a:spcBef>
              <a:buNone/>
              <a:defRPr sz="1600" b="0">
                <a:solidFill>
                  <a:schemeClr val="accent3"/>
                </a:solidFill>
              </a:defRPr>
            </a:lvl1pPr>
          </a:lstStyle>
          <a:p>
            <a:pPr lvl="0"/>
            <a:r>
              <a:rPr lang="en-US" dirty="0"/>
              <a:t>Click to enter subtitle</a:t>
            </a:r>
          </a:p>
        </p:txBody>
      </p:sp>
      <p:sp>
        <p:nvSpPr>
          <p:cNvPr id="9" name="Text Placeholder 3">
            <a:extLst>
              <a:ext uri="{FF2B5EF4-FFF2-40B4-BE49-F238E27FC236}">
                <a16:creationId xmlns:a16="http://schemas.microsoft.com/office/drawing/2014/main" id="{FC134C1F-53DF-43C2-AF4D-EE37600EC2CB}"/>
              </a:ext>
            </a:extLst>
          </p:cNvPr>
          <p:cNvSpPr>
            <a:spLocks noGrp="1"/>
          </p:cNvSpPr>
          <p:nvPr>
            <p:ph type="body" sz="quarter" idx="18" hasCustomPrompt="1"/>
          </p:nvPr>
        </p:nvSpPr>
        <p:spPr>
          <a:xfrm>
            <a:off x="692306" y="1207501"/>
            <a:ext cx="7746421" cy="324522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Select &amp; type to begin bullet list</a:t>
            </a:r>
          </a:p>
          <a:p>
            <a:pPr lvl="1"/>
            <a:r>
              <a:rPr lang="en-US"/>
              <a:t>Second level</a:t>
            </a:r>
          </a:p>
          <a:p>
            <a:pPr lvl="2"/>
            <a:r>
              <a:rPr lang="en-US"/>
              <a:t>Third level</a:t>
            </a:r>
          </a:p>
        </p:txBody>
      </p:sp>
      <p:sp>
        <p:nvSpPr>
          <p:cNvPr id="1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11" name="Straight Connector 10">
            <a:extLst>
              <a:ext uri="{FF2B5EF4-FFF2-40B4-BE49-F238E27FC236}">
                <a16:creationId xmlns:a16="http://schemas.microsoft.com/office/drawing/2014/main" id="{AFDCBBB4-8E3B-4C61-976E-98D52FE44A29}"/>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41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sp>
        <p:nvSpPr>
          <p:cNvPr id="15" name="Text Placeholder 3">
            <a:extLst>
              <a:ext uri="{FF2B5EF4-FFF2-40B4-BE49-F238E27FC236}">
                <a16:creationId xmlns:a16="http://schemas.microsoft.com/office/drawing/2014/main" id="{DAC10F0B-0123-4229-8555-D91EFBF8221C}"/>
              </a:ext>
            </a:extLst>
          </p:cNvPr>
          <p:cNvSpPr>
            <a:spLocks noGrp="1"/>
          </p:cNvSpPr>
          <p:nvPr>
            <p:ph type="body" sz="quarter" idx="18" hasCustomPrompt="1"/>
          </p:nvPr>
        </p:nvSpPr>
        <p:spPr>
          <a:xfrm>
            <a:off x="692307" y="865565"/>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16" name="Text Placeholder 3">
            <a:extLst>
              <a:ext uri="{FF2B5EF4-FFF2-40B4-BE49-F238E27FC236}">
                <a16:creationId xmlns:a16="http://schemas.microsoft.com/office/drawing/2014/main" id="{C0598F9A-D406-4367-9FD6-44DB1EEC8496}"/>
              </a:ext>
            </a:extLst>
          </p:cNvPr>
          <p:cNvSpPr>
            <a:spLocks noGrp="1"/>
          </p:cNvSpPr>
          <p:nvPr>
            <p:ph type="body" sz="quarter" idx="19" hasCustomPrompt="1"/>
          </p:nvPr>
        </p:nvSpPr>
        <p:spPr>
          <a:xfrm>
            <a:off x="4652151" y="857250"/>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Click to edit Master text styles</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70343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384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5152C-A1C9-46A8-9F83-A9094D1982BD}"/>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57A1B24E-71E0-4933-BBB9-734E466003E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308ABA9-7248-4396-980E-21251F8B9F9B}"/>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5" name="Footer Placeholder 4">
            <a:extLst>
              <a:ext uri="{FF2B5EF4-FFF2-40B4-BE49-F238E27FC236}">
                <a16:creationId xmlns:a16="http://schemas.microsoft.com/office/drawing/2014/main" id="{82716E16-5658-4BF2-A522-1F6C1610F3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41E649-0BDC-4E60-99CE-B4E7981D5428}"/>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1317503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EA22E-EDE3-4CC0-9422-1D87672878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F552E9-D4B5-4DA4-B2CD-4189FDC65F9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9FF2D-AE2D-4333-8D7D-E1C6A496FE66}"/>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5" name="Footer Placeholder 4">
            <a:extLst>
              <a:ext uri="{FF2B5EF4-FFF2-40B4-BE49-F238E27FC236}">
                <a16:creationId xmlns:a16="http://schemas.microsoft.com/office/drawing/2014/main" id="{A51C8920-8C98-4388-ADDC-FEDAD310F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03FB95-378B-4091-ABAB-1EEB1EF4A786}"/>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759753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D0A17-4FCF-47AD-9FE3-BAED077D5E6B}"/>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B5288BF-D686-4293-8D81-E21951913295}"/>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AD2B2B-4EE7-4C62-ACF7-BCD3A10578F2}"/>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5" name="Footer Placeholder 4">
            <a:extLst>
              <a:ext uri="{FF2B5EF4-FFF2-40B4-BE49-F238E27FC236}">
                <a16:creationId xmlns:a16="http://schemas.microsoft.com/office/drawing/2014/main" id="{BCC4A66D-F52D-4E33-83CC-2A32AA7F43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535B51-F971-474D-B707-FBD669563E8F}"/>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934049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C37DA-CDDF-429E-A897-8A49995ED3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505EBC-6514-4EFB-B55D-C36436208959}"/>
              </a:ext>
            </a:extLst>
          </p:cNvPr>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F08125-01CB-4A71-A0A1-B10681E7366A}"/>
              </a:ext>
            </a:extLst>
          </p:cNvPr>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A38B9B-16CB-411A-A038-C83235CEAA99}"/>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6" name="Footer Placeholder 5">
            <a:extLst>
              <a:ext uri="{FF2B5EF4-FFF2-40B4-BE49-F238E27FC236}">
                <a16:creationId xmlns:a16="http://schemas.microsoft.com/office/drawing/2014/main" id="{DDA36288-736E-4425-AF53-E8DCA5424B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E2930-3B90-4BC1-AF54-84DE0287824E}"/>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3098641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3C904-0A87-486B-A946-D045CA46B447}"/>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27F434-CD57-4561-9366-5402ACC6780C}"/>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C09474BE-1843-41A4-97AC-A1A453C68CD3}"/>
              </a:ext>
            </a:extLst>
          </p:cNvPr>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7C26F2-FEAF-4E7E-9C5A-C7D47B74F70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731983CF-7261-44D9-B2A7-97ED008D9A41}"/>
              </a:ext>
            </a:extLst>
          </p:cNvPr>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575B8B-D31C-4A47-AC25-3B243CCB0638}"/>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8" name="Footer Placeholder 7">
            <a:extLst>
              <a:ext uri="{FF2B5EF4-FFF2-40B4-BE49-F238E27FC236}">
                <a16:creationId xmlns:a16="http://schemas.microsoft.com/office/drawing/2014/main" id="{EF6CF1F4-6FC5-47B1-AFAB-0588826233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85F3BF-A79A-4B42-827A-2315E5DDBE5A}"/>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2887001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B7CC-CA77-4C51-82F4-092DBD568B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551710-0DFA-4D8F-B9AE-44F3907FF2B6}"/>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4" name="Footer Placeholder 3">
            <a:extLst>
              <a:ext uri="{FF2B5EF4-FFF2-40B4-BE49-F238E27FC236}">
                <a16:creationId xmlns:a16="http://schemas.microsoft.com/office/drawing/2014/main" id="{36FD3800-86A2-4590-87E5-5BC5BFE8F8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04ECCA-8EFB-4353-8235-94BE9DC29FB9}"/>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34582594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AFF22-419F-4074-93A5-1CA756B4B8ED}"/>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3" name="Footer Placeholder 2">
            <a:extLst>
              <a:ext uri="{FF2B5EF4-FFF2-40B4-BE49-F238E27FC236}">
                <a16:creationId xmlns:a16="http://schemas.microsoft.com/office/drawing/2014/main" id="{38AFC2CC-6DA8-4ABD-AD3A-3253A5A6C1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BE9AC1-F715-4385-8FA0-F2611A1F1779}"/>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1076112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3E34-0ED6-4B5E-A6AA-6F8799B80F9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D3C39C-58D6-463C-A04B-3BEF3E1796FA}"/>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2AB024-8617-4D9D-872A-9071AB212DD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5380EC20-AA7D-402F-9746-D27AB486B85F}"/>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6" name="Footer Placeholder 5">
            <a:extLst>
              <a:ext uri="{FF2B5EF4-FFF2-40B4-BE49-F238E27FC236}">
                <a16:creationId xmlns:a16="http://schemas.microsoft.com/office/drawing/2014/main" id="{6C13A18F-E28C-4965-8E36-91A53003B1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A4C6D8-D4A5-437F-A92B-C95743163B49}"/>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30887341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32D8E-0AB3-4821-8995-29440AB1881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2B4CD51-4142-4D01-BDE4-C0008073D1AC}"/>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05F2B47-221E-4E14-830D-81F4B237703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1D59ED42-B5BC-4906-A5D9-7AF0DB464DEA}"/>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6" name="Footer Placeholder 5">
            <a:extLst>
              <a:ext uri="{FF2B5EF4-FFF2-40B4-BE49-F238E27FC236}">
                <a16:creationId xmlns:a16="http://schemas.microsoft.com/office/drawing/2014/main" id="{6BB906CC-E949-490E-B95B-DFD8AAF2C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843CDD-B0FE-4E0F-B945-117CEF7C2403}"/>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35414589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5773-880D-4DEC-BD6F-F5058BD0A3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DF70B3-D17C-4613-A6BE-720564BB540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E9B05F-F206-4797-85C2-A19050E69611}"/>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5" name="Footer Placeholder 4">
            <a:extLst>
              <a:ext uri="{FF2B5EF4-FFF2-40B4-BE49-F238E27FC236}">
                <a16:creationId xmlns:a16="http://schemas.microsoft.com/office/drawing/2014/main" id="{56AA7278-93B4-4E15-A79D-37AD039EA3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4AF5C3-0B27-4ED5-A5B0-E55259A6FFD1}"/>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3323105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D95CAE-BCD3-4A74-BF23-B78C55E80DD1}"/>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EB0223-B153-4073-90B4-C08098701662}"/>
              </a:ext>
            </a:extLst>
          </p:cNvPr>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6BC70D-4FDC-4CB2-A20B-A7FAF6DC98F0}"/>
              </a:ext>
            </a:extLst>
          </p:cNvPr>
          <p:cNvSpPr>
            <a:spLocks noGrp="1"/>
          </p:cNvSpPr>
          <p:nvPr>
            <p:ph type="dt" sz="half" idx="10"/>
          </p:nvPr>
        </p:nvSpPr>
        <p:spPr/>
        <p:txBody>
          <a:bodyPr/>
          <a:lstStyle/>
          <a:p>
            <a:fld id="{8FA05E06-3CFB-4E1C-9860-D7166898C0D3}" type="datetimeFigureOut">
              <a:rPr lang="en-US" smtClean="0"/>
              <a:t>12/11/2025</a:t>
            </a:fld>
            <a:endParaRPr lang="en-US"/>
          </a:p>
        </p:txBody>
      </p:sp>
      <p:sp>
        <p:nvSpPr>
          <p:cNvPr id="5" name="Footer Placeholder 4">
            <a:extLst>
              <a:ext uri="{FF2B5EF4-FFF2-40B4-BE49-F238E27FC236}">
                <a16:creationId xmlns:a16="http://schemas.microsoft.com/office/drawing/2014/main" id="{F9809E4F-1543-44D8-B920-8DA54B48A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9DEB68-EAE4-4CEE-87CD-18BFB35B3823}"/>
              </a:ext>
            </a:extLst>
          </p:cNvPr>
          <p:cNvSpPr>
            <a:spLocks noGrp="1"/>
          </p:cNvSpPr>
          <p:nvPr>
            <p:ph type="sldNum" sz="quarter" idx="12"/>
          </p:nvPr>
        </p:nvSpPr>
        <p:spPr/>
        <p:txBody>
          <a:bodyPr/>
          <a:lstStyle/>
          <a:p>
            <a:fld id="{7971BC51-4356-45F1-B1F1-66D68C69C08A}" type="slidenum">
              <a:rPr lang="en-US" smtClean="0"/>
              <a:t>‹#›</a:t>
            </a:fld>
            <a:endParaRPr lang="en-US"/>
          </a:p>
        </p:txBody>
      </p:sp>
    </p:spTree>
    <p:extLst>
      <p:ext uri="{BB962C8B-B14F-4D97-AF65-F5344CB8AC3E}">
        <p14:creationId xmlns:p14="http://schemas.microsoft.com/office/powerpoint/2010/main" val="119328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457200" y="155629"/>
            <a:ext cx="8229600" cy="1044599"/>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61" name="Shape 61"/>
          <p:cNvSpPr txBox="1">
            <a:spLocks noGrp="1"/>
          </p:cNvSpPr>
          <p:nvPr>
            <p:ph type="body" idx="1"/>
          </p:nvPr>
        </p:nvSpPr>
        <p:spPr>
          <a:xfrm>
            <a:off x="457200" y="1297780"/>
            <a:ext cx="8229600" cy="362790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extLst>
      <p:ext uri="{BB962C8B-B14F-4D97-AF65-F5344CB8AC3E}">
        <p14:creationId xmlns:p14="http://schemas.microsoft.com/office/powerpoint/2010/main" val="6644885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38357318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1401526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801184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01B42E-8B16-4953-A33D-47A5901D441D}"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7744609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01B42E-8B16-4953-A33D-47A5901D441D}"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3992394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01B42E-8B16-4953-A33D-47A5901D441D}"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12366655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01B42E-8B16-4953-A33D-47A5901D441D}"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30190941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D01B42E-8B16-4953-A33D-47A5901D441D}"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15194091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FD01B42E-8B16-4953-A33D-47A5901D441D}"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5377195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33512579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013" dirty="0">
              <a:solidFill>
                <a:schemeClr val="accent1">
                  <a:lumMod val="60000"/>
                  <a:lumOff val="40000"/>
                </a:schemeClr>
              </a:solidFill>
              <a:latin typeface="Arial"/>
            </a:endParaRPr>
          </a:p>
        </p:txBody>
      </p:sp>
    </p:spTree>
    <p:extLst>
      <p:ext uri="{BB962C8B-B14F-4D97-AF65-F5344CB8AC3E}">
        <p14:creationId xmlns:p14="http://schemas.microsoft.com/office/powerpoint/2010/main" val="17034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1808119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808103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29995157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12702523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01B42E-8B16-4953-A33D-47A5901D441D}"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BD8D3-4937-48AD-B28C-F72E5153F713}" type="slidenum">
              <a:rPr lang="en-US" smtClean="0"/>
              <a:t>‹#›</a:t>
            </a:fld>
            <a:endParaRPr lang="en-US"/>
          </a:p>
        </p:txBody>
      </p:sp>
    </p:spTree>
    <p:extLst>
      <p:ext uri="{BB962C8B-B14F-4D97-AF65-F5344CB8AC3E}">
        <p14:creationId xmlns:p14="http://schemas.microsoft.com/office/powerpoint/2010/main" val="18540256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457200" y="155629"/>
            <a:ext cx="8229600" cy="1044599"/>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61" name="Shape 61"/>
          <p:cNvSpPr txBox="1">
            <a:spLocks noGrp="1"/>
          </p:cNvSpPr>
          <p:nvPr>
            <p:ph type="body" idx="1"/>
          </p:nvPr>
        </p:nvSpPr>
        <p:spPr>
          <a:xfrm>
            <a:off x="457200" y="1297780"/>
            <a:ext cx="8229600" cy="362790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extLst>
      <p:ext uri="{BB962C8B-B14F-4D97-AF65-F5344CB8AC3E}">
        <p14:creationId xmlns:p14="http://schemas.microsoft.com/office/powerpoint/2010/main" val="2448150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DFE816-852F-4EC5-8BA8-2C49BCA56D83}"/>
              </a:ext>
            </a:extLst>
          </p:cNvPr>
          <p:cNvSpPr/>
          <p:nvPr userDrawn="1"/>
        </p:nvSpPr>
        <p:spPr>
          <a:xfrm>
            <a:off x="0" y="4827579"/>
            <a:ext cx="9144000" cy="323236"/>
          </a:xfrm>
          <a:prstGeom prst="rect">
            <a:avLst/>
          </a:prstGeom>
          <a:solidFill>
            <a:srgbClr val="DBD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94944" y="164592"/>
            <a:ext cx="7735824" cy="384048"/>
          </a:xfrm>
          <a:prstGeom prst="rect">
            <a:avLst/>
          </a:prstGeom>
        </p:spPr>
        <p:txBody>
          <a:bodyPr vert="horz" lIns="0" tIns="0" rIns="0" bIns="0" rtlCol="0" anchor="ctr">
            <a:noAutofit/>
          </a:bodyPr>
          <a:lstStyle/>
          <a:p>
            <a:r>
              <a:rPr lang="en-US" dirty="0"/>
              <a:t>Click to edit Master title style42</a:t>
            </a:r>
          </a:p>
        </p:txBody>
      </p:sp>
      <p:sp>
        <p:nvSpPr>
          <p:cNvPr id="24" name="Text Placeholder 23"/>
          <p:cNvSpPr>
            <a:spLocks noGrp="1"/>
          </p:cNvSpPr>
          <p:nvPr>
            <p:ph type="body" idx="1"/>
          </p:nvPr>
        </p:nvSpPr>
        <p:spPr>
          <a:xfrm>
            <a:off x="685800" y="865565"/>
            <a:ext cx="7759699" cy="376676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TextBox 5">
            <a:extLst>
              <a:ext uri="{FF2B5EF4-FFF2-40B4-BE49-F238E27FC236}">
                <a16:creationId xmlns:a16="http://schemas.microsoft.com/office/drawing/2014/main" id="{ED650B3E-7DA0-47E4-9748-B24A0208F1CA}"/>
              </a:ext>
            </a:extLst>
          </p:cNvPr>
          <p:cNvSpPr txBox="1"/>
          <p:nvPr userDrawn="1"/>
        </p:nvSpPr>
        <p:spPr>
          <a:xfrm>
            <a:off x="8360163" y="4923587"/>
            <a:ext cx="496793" cy="110639"/>
          </a:xfrm>
          <a:prstGeom prst="rect">
            <a:avLst/>
          </a:prstGeom>
          <a:noFill/>
        </p:spPr>
        <p:txBody>
          <a:bodyPr wrap="square" lIns="0" tIns="0" rIns="0" bIns="0" rtlCol="0">
            <a:spAutoFit/>
          </a:bodyPr>
          <a:lstStyle/>
          <a:p>
            <a:pPr algn="r"/>
            <a:fld id="{198DCDC1-55DC-4367-A313-31C40E88617A}" type="slidenum">
              <a:rPr lang="en-US" sz="700" smtClean="0">
                <a:solidFill>
                  <a:srgbClr val="414042"/>
                </a:solidFill>
              </a:rPr>
              <a:t>‹#›</a:t>
            </a:fld>
            <a:endParaRPr lang="en-US" sz="700" dirty="0">
              <a:solidFill>
                <a:srgbClr val="414042"/>
              </a:solidFill>
            </a:endParaRPr>
          </a:p>
        </p:txBody>
      </p:sp>
      <p:sp>
        <p:nvSpPr>
          <p:cNvPr id="4" name="TextBox 3">
            <a:extLst>
              <a:ext uri="{FF2B5EF4-FFF2-40B4-BE49-F238E27FC236}">
                <a16:creationId xmlns:a16="http://schemas.microsoft.com/office/drawing/2014/main" id="{BCE7DAE6-672D-4E30-B617-4C20C7FB20BD}"/>
              </a:ext>
            </a:extLst>
          </p:cNvPr>
          <p:cNvSpPr txBox="1"/>
          <p:nvPr userDrawn="1"/>
        </p:nvSpPr>
        <p:spPr>
          <a:xfrm>
            <a:off x="194553" y="4260715"/>
            <a:ext cx="184731" cy="276999"/>
          </a:xfrm>
          <a:prstGeom prst="rect">
            <a:avLst/>
          </a:prstGeom>
          <a:noFill/>
        </p:spPr>
        <p:txBody>
          <a:bodyPr wrap="none" rtlCol="0">
            <a:spAutoFit/>
          </a:bodyPr>
          <a:lstStyle/>
          <a:p>
            <a:endParaRPr lang="en-US" sz="1200" dirty="0" err="1">
              <a:latin typeface="Arial" panose="020B0604020202020204" pitchFamily="34" charset="0"/>
            </a:endParaRPr>
          </a:p>
        </p:txBody>
      </p:sp>
      <p:sp>
        <p:nvSpPr>
          <p:cNvPr id="10" name="TextBox 9">
            <a:extLst>
              <a:ext uri="{FF2B5EF4-FFF2-40B4-BE49-F238E27FC236}">
                <a16:creationId xmlns:a16="http://schemas.microsoft.com/office/drawing/2014/main" id="{86686789-9FDA-46BC-9875-217FC8534140}"/>
              </a:ext>
            </a:extLst>
          </p:cNvPr>
          <p:cNvSpPr txBox="1"/>
          <p:nvPr userDrawn="1"/>
        </p:nvSpPr>
        <p:spPr>
          <a:xfrm>
            <a:off x="694944" y="4866086"/>
            <a:ext cx="3384260"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Business &amp; Marketing, Economics, and Digital Marketing</a:t>
            </a:r>
          </a:p>
        </p:txBody>
      </p:sp>
      <p:sp>
        <p:nvSpPr>
          <p:cNvPr id="11" name="TextBox 10">
            <a:extLst>
              <a:ext uri="{FF2B5EF4-FFF2-40B4-BE49-F238E27FC236}">
                <a16:creationId xmlns:a16="http://schemas.microsoft.com/office/drawing/2014/main" id="{AAB75B59-9310-4D12-B8AB-3D539D27C359}"/>
              </a:ext>
            </a:extLst>
          </p:cNvPr>
          <p:cNvSpPr txBox="1"/>
          <p:nvPr userDrawn="1"/>
        </p:nvSpPr>
        <p:spPr>
          <a:xfrm>
            <a:off x="7774169" y="4855795"/>
            <a:ext cx="784189"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2020/2021</a:t>
            </a:r>
          </a:p>
        </p:txBody>
      </p:sp>
      <p:pic>
        <p:nvPicPr>
          <p:cNvPr id="21" name="Picture 20" descr="A picture containing drawing&#10;&#10;Description automatically generated">
            <a:extLst>
              <a:ext uri="{FF2B5EF4-FFF2-40B4-BE49-F238E27FC236}">
                <a16:creationId xmlns:a16="http://schemas.microsoft.com/office/drawing/2014/main" id="{F4D7F0F3-F14F-4231-B370-8C5A4CDF590F}"/>
              </a:ext>
            </a:extLst>
          </p:cNvPr>
          <p:cNvPicPr>
            <a:picLocks noChangeAspect="1"/>
          </p:cNvPicPr>
          <p:nvPr userDrawn="1"/>
        </p:nvPicPr>
        <p:blipFill>
          <a:blip r:embed="rId14"/>
          <a:stretch>
            <a:fillRect/>
          </a:stretch>
        </p:blipFill>
        <p:spPr>
          <a:xfrm>
            <a:off x="130075" y="4500484"/>
            <a:ext cx="416155" cy="5337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85382473"/>
      </p:ext>
    </p:extLst>
  </p:cSld>
  <p:clrMap bg1="lt1" tx1="dk1" bg2="lt2" tx2="dk2" accent1="accent1" accent2="accent2" accent3="accent3" accent4="accent4" accent5="accent5" accent6="accent6" hlink="hlink" folHlink="folHlink"/>
  <p:sldLayoutIdLst>
    <p:sldLayoutId id="2147483831" r:id="rId1"/>
    <p:sldLayoutId id="2147483846" r:id="rId2"/>
    <p:sldLayoutId id="2147483847" r:id="rId3"/>
    <p:sldLayoutId id="2147483844" r:id="rId4"/>
    <p:sldLayoutId id="2147483845" r:id="rId5"/>
    <p:sldLayoutId id="2147483834" r:id="rId6"/>
    <p:sldLayoutId id="2147483836" r:id="rId7"/>
    <p:sldLayoutId id="2147483839" r:id="rId8"/>
    <p:sldLayoutId id="2147483782" r:id="rId9"/>
    <p:sldLayoutId id="2147483848" r:id="rId10"/>
    <p:sldLayoutId id="2147483818" r:id="rId11"/>
  </p:sldLayoutIdLst>
  <p:hf hdr="0" ftr="0" dt="0"/>
  <p:txStyles>
    <p:titleStyle>
      <a:lvl1pPr algn="l" defTabSz="914400" rtl="0" eaLnBrk="1" latinLnBrk="0" hangingPunct="1">
        <a:lnSpc>
          <a:spcPct val="90000"/>
        </a:lnSpc>
        <a:spcBef>
          <a:spcPct val="0"/>
        </a:spcBef>
        <a:buNone/>
        <a:defRPr sz="2000" kern="1200">
          <a:solidFill>
            <a:schemeClr val="bg1"/>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Clr>
          <a:srgbClr val="2597CB"/>
        </a:buClr>
        <a:buSzPct val="140000"/>
        <a:buFont typeface="Arial"/>
        <a:buChar char="•"/>
        <a:defRPr sz="1600" kern="1200">
          <a:solidFill>
            <a:srgbClr val="414042"/>
          </a:solidFill>
          <a:latin typeface="Arial" charset="0"/>
          <a:ea typeface="Arial" charset="0"/>
          <a:cs typeface="Arial" charset="0"/>
        </a:defRPr>
      </a:lvl1pPr>
      <a:lvl2pPr marL="687388" indent="-234950" algn="l" defTabSz="914400" rtl="0" eaLnBrk="1" latinLnBrk="0" hangingPunct="1">
        <a:lnSpc>
          <a:spcPct val="90000"/>
        </a:lnSpc>
        <a:spcBef>
          <a:spcPts val="500"/>
        </a:spcBef>
        <a:buClr>
          <a:srgbClr val="2597CB"/>
        </a:buClr>
        <a:buFont typeface="Courier New" charset="0"/>
        <a:buChar char="o"/>
        <a:defRPr sz="1400" kern="1200">
          <a:solidFill>
            <a:srgbClr val="414042"/>
          </a:solidFill>
          <a:latin typeface="Arial" charset="0"/>
          <a:ea typeface="Arial" charset="0"/>
          <a:cs typeface="Arial" charset="0"/>
        </a:defRPr>
      </a:lvl2pPr>
      <a:lvl3pPr marL="1141413" indent="-230188" algn="l" defTabSz="914400" rtl="0" eaLnBrk="1" latinLnBrk="0" hangingPunct="1">
        <a:lnSpc>
          <a:spcPct val="90000"/>
        </a:lnSpc>
        <a:spcBef>
          <a:spcPts val="500"/>
        </a:spcBef>
        <a:buClr>
          <a:srgbClr val="2597CB"/>
        </a:buClr>
        <a:buFont typeface="Arial"/>
        <a:buChar char="•"/>
        <a:defRPr sz="1200" kern="1200">
          <a:solidFill>
            <a:srgbClr val="414042"/>
          </a:solidFill>
          <a:latin typeface="Arial" charset="0"/>
          <a:ea typeface="Arial" charset="0"/>
          <a:cs typeface="Arial" charset="0"/>
        </a:defRPr>
      </a:lvl3pPr>
      <a:lvl4pPr marL="1601788" indent="-228600" algn="l" defTabSz="914400" rtl="0" eaLnBrk="1" latinLnBrk="0" hangingPunct="1">
        <a:lnSpc>
          <a:spcPct val="90000"/>
        </a:lnSpc>
        <a:spcBef>
          <a:spcPts val="500"/>
        </a:spcBef>
        <a:buClr>
          <a:srgbClr val="703F85"/>
        </a:buClr>
        <a:buSzPct val="60000"/>
        <a:buFont typeface="Courier New" charset="0"/>
        <a:buChar char="o"/>
        <a:defRPr sz="1100" kern="1200">
          <a:solidFill>
            <a:schemeClr val="tx1"/>
          </a:solidFill>
          <a:latin typeface="Arial" charset="0"/>
          <a:ea typeface="Arial" charset="0"/>
          <a:cs typeface="Arial" charset="0"/>
        </a:defRPr>
      </a:lvl4pPr>
      <a:lvl5pPr marL="2055813" indent="-230188" algn="l" defTabSz="914400" rtl="0" eaLnBrk="1" latinLnBrk="0" hangingPunct="1">
        <a:lnSpc>
          <a:spcPct val="90000"/>
        </a:lnSpc>
        <a:spcBef>
          <a:spcPts val="500"/>
        </a:spcBef>
        <a:buClr>
          <a:srgbClr val="703F85"/>
        </a:buClr>
        <a:buFont typeface="Arial"/>
        <a:buChar char="•"/>
        <a:defRPr sz="11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F26B43"/>
          </p15:clr>
        </p15:guide>
        <p15:guide id="2" pos="5328" userDrawn="1">
          <p15:clr>
            <a:srgbClr val="F26B43"/>
          </p15:clr>
        </p15:guide>
        <p15:guide id="4" orient="horz" pos="540">
          <p15:clr>
            <a:srgbClr val="F26B43"/>
          </p15:clr>
        </p15:guide>
        <p15:guide id="5" orient="horz" pos="3156" userDrawn="1">
          <p15:clr>
            <a:srgbClr val="F26B43"/>
          </p15:clr>
        </p15:guide>
        <p15:guide id="6" pos="2880" userDrawn="1">
          <p15:clr>
            <a:srgbClr val="F26B43"/>
          </p15:clr>
        </p15:guide>
        <p15:guide id="7" orient="horz" pos="171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823E2C-F7D6-4471-8218-B3DA0187CE16}"/>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909032-4207-4D73-9CC8-16B2F155957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3C76226-BFB8-4B74-904A-08F8EFFB2A5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latin typeface="Verdana" panose="020B0604030504040204" pitchFamily="34" charset="0"/>
              </a:defRPr>
            </a:lvl1pPr>
          </a:lstStyle>
          <a:p>
            <a:fld id="{8FA05E06-3CFB-4E1C-9860-D7166898C0D3}" type="datetimeFigureOut">
              <a:rPr lang="en-US" smtClean="0"/>
              <a:pPr/>
              <a:t>12/11/2025</a:t>
            </a:fld>
            <a:endParaRPr lang="en-US" dirty="0"/>
          </a:p>
        </p:txBody>
      </p:sp>
      <p:sp>
        <p:nvSpPr>
          <p:cNvPr id="5" name="Footer Placeholder 4">
            <a:extLst>
              <a:ext uri="{FF2B5EF4-FFF2-40B4-BE49-F238E27FC236}">
                <a16:creationId xmlns:a16="http://schemas.microsoft.com/office/drawing/2014/main" id="{A8E5687D-1AC3-4CDA-87C8-72C11A369C5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latin typeface="Verdana" panose="020B0604030504040204" pitchFamily="34" charset="0"/>
              </a:defRPr>
            </a:lvl1pPr>
          </a:lstStyle>
          <a:p>
            <a:endParaRPr lang="en-US" dirty="0"/>
          </a:p>
        </p:txBody>
      </p:sp>
      <p:sp>
        <p:nvSpPr>
          <p:cNvPr id="6" name="Slide Number Placeholder 5">
            <a:extLst>
              <a:ext uri="{FF2B5EF4-FFF2-40B4-BE49-F238E27FC236}">
                <a16:creationId xmlns:a16="http://schemas.microsoft.com/office/drawing/2014/main" id="{D9E956F1-C46F-4909-B642-8FA15FCC260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latin typeface="Verdana" panose="020B0604030504040204" pitchFamily="34" charset="0"/>
              </a:defRPr>
            </a:lvl1pPr>
          </a:lstStyle>
          <a:p>
            <a:fld id="{7971BC51-4356-45F1-B1F1-66D68C69C08A}" type="slidenum">
              <a:rPr lang="en-US" smtClean="0"/>
              <a:pPr/>
              <a:t>‹#›</a:t>
            </a:fld>
            <a:endParaRPr lang="en-US" dirty="0"/>
          </a:p>
        </p:txBody>
      </p:sp>
    </p:spTree>
    <p:extLst>
      <p:ext uri="{BB962C8B-B14F-4D97-AF65-F5344CB8AC3E}">
        <p14:creationId xmlns:p14="http://schemas.microsoft.com/office/powerpoint/2010/main" val="4121932313"/>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Verdana" panose="020B060403050404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Verdana" panose="020B060403050404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Verdana" panose="020B060403050404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Verdana" panose="020B060403050404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Verdana" panose="020B060403050404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FD01B42E-8B16-4953-A33D-47A5901D441D}" type="datetimeFigureOut">
              <a:rPr lang="en-US" smtClean="0"/>
              <a:t>12/11/2025</a:t>
            </a:fld>
            <a:endParaRPr lang="en-US"/>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624BD8D3-4937-48AD-B28C-F72E5153F713}" type="slidenum">
              <a:rPr lang="en-US" smtClean="0"/>
              <a:t>‹#›</a:t>
            </a:fld>
            <a:endParaRPr lang="en-US"/>
          </a:p>
        </p:txBody>
      </p:sp>
    </p:spTree>
    <p:extLst>
      <p:ext uri="{BB962C8B-B14F-4D97-AF65-F5344CB8AC3E}">
        <p14:creationId xmlns:p14="http://schemas.microsoft.com/office/powerpoint/2010/main" val="321649754"/>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4.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JIirzTdaey4" TargetMode="External"/><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0.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KMgbMg18mgo" TargetMode="External"/><Relationship Id="rId2" Type="http://schemas.openxmlformats.org/officeDocument/2006/relationships/notesSlide" Target="../notesSlides/notesSlide2.xml"/><Relationship Id="rId1" Type="http://schemas.openxmlformats.org/officeDocument/2006/relationships/slideLayout" Target="../slideLayouts/slideLayout33.xml"/><Relationship Id="rId4" Type="http://schemas.openxmlformats.org/officeDocument/2006/relationships/hyperlink" Target="https://www.youtube.com/watch?v=4fdOymG2cds"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4eIDBV4Mpek" TargetMode="External"/><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4q1dgn_C0AU" TargetMode="External"/><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6.xml"/><Relationship Id="rId7" Type="http://schemas.openxmlformats.org/officeDocument/2006/relationships/diagramColors" Target="../diagrams/colors1.xml"/><Relationship Id="rId2" Type="http://schemas.openxmlformats.org/officeDocument/2006/relationships/slideLayout" Target="../slideLayouts/slideLayout25.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ideo" Target="https://www.youtube.com/embed/XhMVWzVXNNk?feature=oembed" TargetMode="External"/><Relationship Id="rId6" Type="http://schemas.openxmlformats.org/officeDocument/2006/relationships/image" Target="../media/image12.jpeg"/><Relationship Id="rId5" Type="http://schemas.openxmlformats.org/officeDocument/2006/relationships/notesSlide" Target="../notesSlides/notesSlide9.xml"/><Relationship Id="rId4"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video" Target="https://www.youtube.com/embed/tF9r9LrOb70?feature=oembed" TargetMode="External"/><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hyperlink" Target="https://www.visualcapitalist.com/cp/animated-most-valuable-brands-from-2000-2022/" TargetMode="External"/><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A2A26-3540-40B1-B7BC-7586323523F3}"/>
              </a:ext>
            </a:extLst>
          </p:cNvPr>
          <p:cNvSpPr>
            <a:spLocks noGrp="1"/>
          </p:cNvSpPr>
          <p:nvPr>
            <p:ph type="title"/>
          </p:nvPr>
        </p:nvSpPr>
        <p:spPr>
          <a:xfrm>
            <a:off x="1512711" y="2608557"/>
            <a:ext cx="6265333" cy="952270"/>
          </a:xfrm>
        </p:spPr>
        <p:txBody>
          <a:bodyPr/>
          <a:lstStyle/>
          <a:p>
            <a:r>
              <a:rPr lang="en-US" dirty="0"/>
              <a:t>Business, Marketing, Entrepreneurship, Digital Marketing, and Econ</a:t>
            </a:r>
            <a:br>
              <a:rPr lang="en-US" dirty="0"/>
            </a:br>
            <a:br>
              <a:rPr lang="en-US" dirty="0"/>
            </a:br>
            <a:r>
              <a:rPr lang="en-US" dirty="0"/>
              <a:t>Mrs. Schafer</a:t>
            </a:r>
            <a:br>
              <a:rPr lang="en-US" dirty="0"/>
            </a:br>
            <a:endParaRPr lang="en-US" dirty="0"/>
          </a:p>
        </p:txBody>
      </p:sp>
    </p:spTree>
    <p:extLst>
      <p:ext uri="{BB962C8B-B14F-4D97-AF65-F5344CB8AC3E}">
        <p14:creationId xmlns:p14="http://schemas.microsoft.com/office/powerpoint/2010/main" val="314979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4AADD7-387E-4013-8C84-380563E11459}"/>
              </a:ext>
            </a:extLst>
          </p:cNvPr>
          <p:cNvSpPr>
            <a:spLocks noGrp="1"/>
          </p:cNvSpPr>
          <p:nvPr>
            <p:ph type="body" sz="quarter" idx="13"/>
          </p:nvPr>
        </p:nvSpPr>
        <p:spPr>
          <a:xfrm>
            <a:off x="3165512" y="1176126"/>
            <a:ext cx="5203825" cy="3162035"/>
          </a:xfrm>
        </p:spPr>
        <p:txBody>
          <a:bodyPr/>
          <a:lstStyle/>
          <a:p>
            <a:r>
              <a:rPr lang="en-US" dirty="0"/>
              <a:t>Getting into Marketing</a:t>
            </a:r>
          </a:p>
          <a:p>
            <a:pPr lvl="1"/>
            <a:r>
              <a:rPr lang="en-US" dirty="0"/>
              <a:t>Marketing Quick Facts</a:t>
            </a:r>
          </a:p>
          <a:p>
            <a:pPr lvl="1"/>
            <a:r>
              <a:rPr lang="en-US" dirty="0"/>
              <a:t>4 Ps</a:t>
            </a:r>
          </a:p>
          <a:p>
            <a:pPr lvl="1"/>
            <a:r>
              <a:rPr lang="en-US" dirty="0"/>
              <a:t>Target Market Exercise</a:t>
            </a:r>
          </a:p>
          <a:p>
            <a:pPr lvl="1"/>
            <a:r>
              <a:rPr lang="en-US" dirty="0"/>
              <a:t>Coca-Cola Video</a:t>
            </a:r>
          </a:p>
          <a:p>
            <a:pPr lvl="1"/>
            <a:r>
              <a:rPr lang="en-US" dirty="0"/>
              <a:t>Tesla Video</a:t>
            </a:r>
          </a:p>
          <a:p>
            <a:pPr lvl="1"/>
            <a:r>
              <a:rPr lang="en-US" dirty="0"/>
              <a:t>Pricing Reading</a:t>
            </a:r>
          </a:p>
        </p:txBody>
      </p:sp>
    </p:spTree>
    <p:extLst>
      <p:ext uri="{BB962C8B-B14F-4D97-AF65-F5344CB8AC3E}">
        <p14:creationId xmlns:p14="http://schemas.microsoft.com/office/powerpoint/2010/main" val="209844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7259-DB1E-48DC-8D23-2AC7B442225D}"/>
              </a:ext>
            </a:extLst>
          </p:cNvPr>
          <p:cNvSpPr>
            <a:spLocks noGrp="1"/>
          </p:cNvSpPr>
          <p:nvPr>
            <p:ph type="title"/>
          </p:nvPr>
        </p:nvSpPr>
        <p:spPr>
          <a:xfrm>
            <a:off x="464343" y="82193"/>
            <a:ext cx="7693819" cy="635939"/>
          </a:xfrm>
        </p:spPr>
        <p:txBody>
          <a:bodyPr>
            <a:normAutofit/>
          </a:bodyPr>
          <a:lstStyle/>
          <a:p>
            <a:r>
              <a:rPr lang="en-US">
                <a:solidFill>
                  <a:schemeClr val="bg1"/>
                </a:solidFill>
              </a:rPr>
              <a:t>Crazy Facts About Marketing</a:t>
            </a:r>
            <a:endParaRPr lang="en-US" dirty="0">
              <a:solidFill>
                <a:schemeClr val="bg1"/>
              </a:solidFill>
            </a:endParaRPr>
          </a:p>
        </p:txBody>
      </p:sp>
      <p:sp>
        <p:nvSpPr>
          <p:cNvPr id="23" name="Slide Number Placeholder 7">
            <a:extLst>
              <a:ext uri="{FF2B5EF4-FFF2-40B4-BE49-F238E27FC236}">
                <a16:creationId xmlns:a16="http://schemas.microsoft.com/office/drawing/2014/main" id="{75343FD7-893A-4B1E-B548-054E7B18E9A0}"/>
              </a:ext>
            </a:extLst>
          </p:cNvPr>
          <p:cNvSpPr>
            <a:spLocks noGrp="1"/>
          </p:cNvSpPr>
          <p:nvPr>
            <p:ph type="sldNum" sz="quarter" idx="12"/>
          </p:nvPr>
        </p:nvSpPr>
        <p:spPr>
          <a:xfrm>
            <a:off x="7089431" y="4902302"/>
            <a:ext cx="1594368" cy="273844"/>
          </a:xfrm>
        </p:spPr>
        <p:txBody>
          <a:bodyPr/>
          <a:lstStyle/>
          <a:p>
            <a:r>
              <a:rPr lang="en-US">
                <a:solidFill>
                  <a:prstClr val="white"/>
                </a:solidFill>
                <a:latin typeface="Century Gothic"/>
              </a:rPr>
              <a:t>3</a:t>
            </a:r>
            <a:endParaRPr lang="en-US" dirty="0">
              <a:solidFill>
                <a:prstClr val="white"/>
              </a:solidFill>
              <a:latin typeface="Century Gothic"/>
            </a:endParaRPr>
          </a:p>
        </p:txBody>
      </p:sp>
      <p:sp>
        <p:nvSpPr>
          <p:cNvPr id="24" name="Slide Number Placeholder 7">
            <a:extLst>
              <a:ext uri="{FF2B5EF4-FFF2-40B4-BE49-F238E27FC236}">
                <a16:creationId xmlns:a16="http://schemas.microsoft.com/office/drawing/2014/main" id="{86121434-2440-4EBB-BD70-BAAA237CA5EF}"/>
              </a:ext>
            </a:extLst>
          </p:cNvPr>
          <p:cNvSpPr txBox="1">
            <a:spLocks/>
          </p:cNvSpPr>
          <p:nvPr/>
        </p:nvSpPr>
        <p:spPr>
          <a:xfrm>
            <a:off x="460201" y="4902290"/>
            <a:ext cx="1321946"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685800"/>
            <a:endParaRPr lang="en-US" sz="900" dirty="0">
              <a:solidFill>
                <a:prstClr val="white"/>
              </a:solidFill>
              <a:latin typeface="Century Gothic"/>
            </a:endParaRPr>
          </a:p>
        </p:txBody>
      </p:sp>
      <p:sp>
        <p:nvSpPr>
          <p:cNvPr id="4" name="TextBox 3">
            <a:extLst>
              <a:ext uri="{FF2B5EF4-FFF2-40B4-BE49-F238E27FC236}">
                <a16:creationId xmlns:a16="http://schemas.microsoft.com/office/drawing/2014/main" id="{C21A7D9C-512F-9147-A999-23DD21FE97AD}"/>
              </a:ext>
            </a:extLst>
          </p:cNvPr>
          <p:cNvSpPr txBox="1"/>
          <p:nvPr/>
        </p:nvSpPr>
        <p:spPr>
          <a:xfrm>
            <a:off x="460202" y="1587510"/>
            <a:ext cx="184731" cy="323165"/>
          </a:xfrm>
          <a:prstGeom prst="rect">
            <a:avLst/>
          </a:prstGeom>
          <a:noFill/>
        </p:spPr>
        <p:txBody>
          <a:bodyPr wrap="none" rtlCol="0">
            <a:spAutoFit/>
          </a:bodyPr>
          <a:lstStyle/>
          <a:p>
            <a:endParaRPr lang="en-US" sz="1500" i="1" dirty="0">
              <a:solidFill>
                <a:srgbClr val="000000"/>
              </a:solidFill>
              <a:latin typeface="Verdana"/>
            </a:endParaRPr>
          </a:p>
        </p:txBody>
      </p:sp>
      <p:sp>
        <p:nvSpPr>
          <p:cNvPr id="11" name="TextBox 10">
            <a:extLst>
              <a:ext uri="{FF2B5EF4-FFF2-40B4-BE49-F238E27FC236}">
                <a16:creationId xmlns:a16="http://schemas.microsoft.com/office/drawing/2014/main" id="{3400DDA2-0A86-7643-843B-1B6C64373296}"/>
              </a:ext>
            </a:extLst>
          </p:cNvPr>
          <p:cNvSpPr txBox="1"/>
          <p:nvPr/>
        </p:nvSpPr>
        <p:spPr>
          <a:xfrm>
            <a:off x="359527" y="1548412"/>
            <a:ext cx="8190104" cy="2882456"/>
          </a:xfrm>
          <a:prstGeom prst="rect">
            <a:avLst/>
          </a:prstGeom>
          <a:noFill/>
        </p:spPr>
        <p:txBody>
          <a:bodyPr wrap="square" rtlCol="0">
            <a:spAutoFit/>
          </a:bodyPr>
          <a:lstStyle/>
          <a:p>
            <a:pPr marL="257175" indent="-257175">
              <a:lnSpc>
                <a:spcPct val="120000"/>
              </a:lnSpc>
              <a:buFont typeface="Wingdings" panose="05000000000000000000" pitchFamily="2" charset="2"/>
              <a:buChar char="Ø"/>
            </a:pPr>
            <a:r>
              <a:rPr lang="en-US" sz="1800" baseline="30000" dirty="0">
                <a:solidFill>
                  <a:srgbClr val="071013"/>
                </a:solidFill>
                <a:latin typeface="Verdana"/>
              </a:rPr>
              <a:t>Today, </a:t>
            </a:r>
            <a:r>
              <a:rPr lang="en-US" sz="1800" b="1" baseline="30000" dirty="0">
                <a:solidFill>
                  <a:srgbClr val="071013"/>
                </a:solidFill>
                <a:latin typeface="Verdana"/>
              </a:rPr>
              <a:t>1.6 billion people are accessing the web from a mobile device.</a:t>
            </a:r>
            <a:r>
              <a:rPr lang="en-US" sz="1800" baseline="30000" dirty="0">
                <a:solidFill>
                  <a:srgbClr val="071013"/>
                </a:solidFill>
                <a:latin typeface="Verdana"/>
              </a:rPr>
              <a:t> That number is increasing exponentially every year. (</a:t>
            </a:r>
            <a:r>
              <a:rPr lang="en-US" sz="1800" baseline="30000" dirty="0" err="1">
                <a:solidFill>
                  <a:srgbClr val="071013"/>
                </a:solidFill>
                <a:latin typeface="Verdana"/>
              </a:rPr>
              <a:t>Mobify</a:t>
            </a:r>
            <a:r>
              <a:rPr lang="en-US" sz="1800" baseline="30000" dirty="0">
                <a:solidFill>
                  <a:srgbClr val="071013"/>
                </a:solidFill>
                <a:latin typeface="Verdana"/>
              </a:rPr>
              <a:t>, 2018)</a:t>
            </a:r>
          </a:p>
          <a:p>
            <a:pPr>
              <a:lnSpc>
                <a:spcPct val="120000"/>
              </a:lnSpc>
            </a:pPr>
            <a:endParaRPr lang="en-US" sz="1800" baseline="30000" dirty="0">
              <a:solidFill>
                <a:srgbClr val="071013"/>
              </a:solidFill>
              <a:latin typeface="Verdana"/>
            </a:endParaRPr>
          </a:p>
          <a:p>
            <a:pPr marL="257175" indent="-257175">
              <a:lnSpc>
                <a:spcPct val="120000"/>
              </a:lnSpc>
              <a:buFont typeface="Wingdings" panose="05000000000000000000" pitchFamily="2" charset="2"/>
              <a:buChar char="Ø"/>
            </a:pPr>
            <a:r>
              <a:rPr lang="en-US" sz="1800" b="1" baseline="30000" dirty="0">
                <a:solidFill>
                  <a:srgbClr val="071013"/>
                </a:solidFill>
                <a:latin typeface="Verdana"/>
              </a:rPr>
              <a:t>Email, website and social media are the top three marketing tools used by small businesses:</a:t>
            </a:r>
            <a:r>
              <a:rPr lang="en-US" sz="1800" dirty="0">
                <a:solidFill>
                  <a:srgbClr val="071013"/>
                </a:solidFill>
                <a:latin typeface="Verdana"/>
              </a:rPr>
              <a:t> </a:t>
            </a:r>
            <a:r>
              <a:rPr lang="en-US" sz="1800" baseline="30000" dirty="0">
                <a:solidFill>
                  <a:srgbClr val="071013"/>
                </a:solidFill>
                <a:latin typeface="Verdana"/>
              </a:rPr>
              <a:t>54% email, 51% website, 48% social media (</a:t>
            </a:r>
            <a:r>
              <a:rPr lang="en-US" sz="1800" baseline="30000" dirty="0" err="1">
                <a:solidFill>
                  <a:srgbClr val="071013"/>
                </a:solidFill>
                <a:latin typeface="Verdana"/>
              </a:rPr>
              <a:t>BlueCorona</a:t>
            </a:r>
            <a:r>
              <a:rPr lang="en-US" sz="1800" baseline="30000" dirty="0">
                <a:solidFill>
                  <a:srgbClr val="071013"/>
                </a:solidFill>
                <a:latin typeface="Verdana"/>
              </a:rPr>
              <a:t> Marketing, 2018).</a:t>
            </a:r>
          </a:p>
          <a:p>
            <a:pPr marL="257175" indent="-257175">
              <a:lnSpc>
                <a:spcPct val="120000"/>
              </a:lnSpc>
              <a:buFont typeface="Wingdings" panose="05000000000000000000" pitchFamily="2" charset="2"/>
              <a:buChar char="Ø"/>
            </a:pPr>
            <a:endParaRPr lang="en-US" sz="1800" baseline="30000" dirty="0">
              <a:solidFill>
                <a:srgbClr val="071013"/>
              </a:solidFill>
              <a:latin typeface="Verdana"/>
            </a:endParaRPr>
          </a:p>
          <a:p>
            <a:pPr marL="257175" indent="-257175">
              <a:lnSpc>
                <a:spcPct val="150000"/>
              </a:lnSpc>
              <a:buFont typeface="Wingdings" panose="05000000000000000000" pitchFamily="2" charset="2"/>
              <a:buChar char="Ø"/>
            </a:pPr>
            <a:r>
              <a:rPr lang="en-US" sz="1800" baseline="30000" dirty="0">
                <a:solidFill>
                  <a:srgbClr val="071013"/>
                </a:solidFill>
                <a:latin typeface="Verdana"/>
              </a:rPr>
              <a:t>Depending on the product, </a:t>
            </a:r>
            <a:r>
              <a:rPr lang="en-US" sz="1800" b="1" baseline="30000" dirty="0">
                <a:solidFill>
                  <a:srgbClr val="071013"/>
                </a:solidFill>
                <a:latin typeface="Verdana"/>
              </a:rPr>
              <a:t>up to 83% of consumers visit a company’s or service provider’s website before making a purchase</a:t>
            </a:r>
            <a:r>
              <a:rPr lang="en-US" sz="1800" baseline="30000" dirty="0">
                <a:solidFill>
                  <a:srgbClr val="071013"/>
                </a:solidFill>
                <a:latin typeface="Verdana"/>
              </a:rPr>
              <a:t> (M&amp;R Marketing Group, 2018). </a:t>
            </a:r>
          </a:p>
          <a:p>
            <a:pPr marL="257175" indent="-257175">
              <a:lnSpc>
                <a:spcPct val="150000"/>
              </a:lnSpc>
              <a:buFont typeface="Wingdings" panose="05000000000000000000" pitchFamily="2" charset="2"/>
              <a:buChar char="Ø"/>
            </a:pPr>
            <a:endParaRPr lang="en-US" sz="1800" baseline="30000" dirty="0">
              <a:solidFill>
                <a:srgbClr val="071013"/>
              </a:solidFill>
              <a:latin typeface="Verdana"/>
            </a:endParaRPr>
          </a:p>
          <a:p>
            <a:pPr marL="257175" indent="-257175">
              <a:lnSpc>
                <a:spcPct val="120000"/>
              </a:lnSpc>
              <a:buFont typeface="Wingdings" panose="05000000000000000000" pitchFamily="2" charset="2"/>
              <a:buChar char="Ø"/>
            </a:pPr>
            <a:r>
              <a:rPr lang="en-US" sz="1800" b="1" baseline="30000" dirty="0">
                <a:solidFill>
                  <a:srgbClr val="071013"/>
                </a:solidFill>
                <a:latin typeface="Verdana"/>
              </a:rPr>
              <a:t>As the digital age progresses, the consumer’s attention span shrinks</a:t>
            </a:r>
            <a:r>
              <a:rPr lang="en-US" sz="1800" baseline="30000" dirty="0">
                <a:solidFill>
                  <a:srgbClr val="071013"/>
                </a:solidFill>
                <a:latin typeface="Verdana"/>
              </a:rPr>
              <a:t>: Consumer’s average attention span today is only 8</a:t>
            </a:r>
            <a:r>
              <a:rPr lang="en-US" sz="1800" dirty="0">
                <a:solidFill>
                  <a:srgbClr val="071013"/>
                </a:solidFill>
                <a:latin typeface="Verdana"/>
              </a:rPr>
              <a:t> </a:t>
            </a:r>
            <a:r>
              <a:rPr lang="en-US" sz="1800" baseline="30000" dirty="0">
                <a:solidFill>
                  <a:srgbClr val="071013"/>
                </a:solidFill>
                <a:latin typeface="Verdana"/>
              </a:rPr>
              <a:t>seconds dropping 4 second</a:t>
            </a:r>
            <a:r>
              <a:rPr lang="en-US" sz="1800" dirty="0">
                <a:solidFill>
                  <a:srgbClr val="071013"/>
                </a:solidFill>
                <a:latin typeface="Verdana"/>
              </a:rPr>
              <a:t> </a:t>
            </a:r>
            <a:r>
              <a:rPr lang="en-US" sz="1800" baseline="30000" dirty="0">
                <a:solidFill>
                  <a:srgbClr val="071013"/>
                </a:solidFill>
                <a:latin typeface="Verdana"/>
              </a:rPr>
              <a:t>since 2000 (</a:t>
            </a:r>
            <a:r>
              <a:rPr lang="en-US" sz="1800" baseline="30000" dirty="0" err="1">
                <a:solidFill>
                  <a:srgbClr val="071013"/>
                </a:solidFill>
                <a:latin typeface="Verdana"/>
              </a:rPr>
              <a:t>MicrosoftCorp</a:t>
            </a:r>
            <a:r>
              <a:rPr lang="en-US" sz="1800" baseline="30000" dirty="0">
                <a:solidFill>
                  <a:srgbClr val="071013"/>
                </a:solidFill>
                <a:latin typeface="Verdana"/>
              </a:rPr>
              <a:t>., 2017)</a:t>
            </a:r>
            <a:r>
              <a:rPr lang="en-US" sz="1800" dirty="0">
                <a:solidFill>
                  <a:srgbClr val="071013"/>
                </a:solidFill>
                <a:latin typeface="Verdana"/>
              </a:rPr>
              <a:t> .</a:t>
            </a:r>
            <a:endParaRPr lang="en-US" sz="1800" baseline="30000" dirty="0">
              <a:solidFill>
                <a:srgbClr val="071013"/>
              </a:solidFill>
              <a:latin typeface="Verdana"/>
            </a:endParaRPr>
          </a:p>
        </p:txBody>
      </p:sp>
      <p:sp>
        <p:nvSpPr>
          <p:cNvPr id="5" name="TextBox 4"/>
          <p:cNvSpPr txBox="1"/>
          <p:nvPr/>
        </p:nvSpPr>
        <p:spPr>
          <a:xfrm>
            <a:off x="333003" y="1091808"/>
            <a:ext cx="7151317" cy="300082"/>
          </a:xfrm>
          <a:prstGeom prst="rect">
            <a:avLst/>
          </a:prstGeom>
          <a:noFill/>
        </p:spPr>
        <p:txBody>
          <a:bodyPr wrap="none" rtlCol="0">
            <a:spAutoFit/>
          </a:bodyPr>
          <a:lstStyle/>
          <a:p>
            <a:r>
              <a:rPr lang="en-US" b="1" i="1">
                <a:solidFill>
                  <a:srgbClr val="1EAFED"/>
                </a:solidFill>
                <a:latin typeface="Verdana"/>
              </a:rPr>
              <a:t>Why is Marketing Important and how is it changing in the 21</a:t>
            </a:r>
            <a:r>
              <a:rPr lang="en-US" b="1" i="1" baseline="30000">
                <a:solidFill>
                  <a:srgbClr val="1EAFED"/>
                </a:solidFill>
                <a:latin typeface="Verdana"/>
              </a:rPr>
              <a:t>st</a:t>
            </a:r>
            <a:r>
              <a:rPr lang="en-US" b="1" i="1">
                <a:solidFill>
                  <a:srgbClr val="1EAFED"/>
                </a:solidFill>
                <a:latin typeface="Verdana"/>
              </a:rPr>
              <a:t> century?</a:t>
            </a:r>
            <a:endParaRPr lang="en-US" b="1" i="1" dirty="0">
              <a:solidFill>
                <a:srgbClr val="000000"/>
              </a:solidFill>
              <a:latin typeface="Verdana"/>
            </a:endParaRPr>
          </a:p>
        </p:txBody>
      </p:sp>
    </p:spTree>
    <p:extLst>
      <p:ext uri="{BB962C8B-B14F-4D97-AF65-F5344CB8AC3E}">
        <p14:creationId xmlns:p14="http://schemas.microsoft.com/office/powerpoint/2010/main" val="256869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a:solidFill>
                <a:prstClr val="white"/>
              </a:solidFill>
              <a:latin typeface="Trebuchet MS" panose="020B0603020202020204"/>
            </a:endParaRPr>
          </a:p>
        </p:txBody>
      </p:sp>
      <p:cxnSp>
        <p:nvCxnSpPr>
          <p:cNvPr id="10" name="Straight Connector 9">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6225" y="0"/>
            <a:ext cx="914400" cy="51435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0381" y="2761060"/>
            <a:ext cx="3572669" cy="2382440"/>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4073" y="-6350"/>
            <a:ext cx="2255512" cy="514985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0547" y="-6350"/>
            <a:ext cx="1941419" cy="514985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216" y="2286000"/>
            <a:ext cx="2444750" cy="28575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841" y="-6350"/>
            <a:ext cx="2140745" cy="514985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36716" y="2692401"/>
            <a:ext cx="1362869" cy="245110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Shape 23">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2216" y="-6350"/>
            <a:ext cx="6881785" cy="5149850"/>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a:solidFill>
                <a:prstClr val="white"/>
              </a:solidFill>
              <a:latin typeface="Trebuchet MS" panose="020B0603020202020204"/>
            </a:endParaRPr>
          </a:p>
        </p:txBody>
      </p:sp>
      <p:sp>
        <p:nvSpPr>
          <p:cNvPr id="2" name="Title 1"/>
          <p:cNvSpPr>
            <a:spLocks noGrp="1"/>
          </p:cNvSpPr>
          <p:nvPr>
            <p:ph type="ctrTitle"/>
          </p:nvPr>
        </p:nvSpPr>
        <p:spPr>
          <a:xfrm>
            <a:off x="3314353" y="765654"/>
            <a:ext cx="5220569" cy="2137253"/>
          </a:xfrm>
        </p:spPr>
        <p:txBody>
          <a:bodyPr>
            <a:normAutofit/>
          </a:bodyPr>
          <a:lstStyle/>
          <a:p>
            <a:pPr algn="l"/>
            <a:r>
              <a:rPr lang="en-US" sz="4500" dirty="0">
                <a:solidFill>
                  <a:srgbClr val="FFFFFF"/>
                </a:solidFill>
              </a:rPr>
              <a:t>Lemonade Stand Marketing</a:t>
            </a:r>
          </a:p>
        </p:txBody>
      </p:sp>
      <p:sp>
        <p:nvSpPr>
          <p:cNvPr id="3" name="Subtitle 2"/>
          <p:cNvSpPr>
            <a:spLocks noGrp="1"/>
          </p:cNvSpPr>
          <p:nvPr>
            <p:ph type="subTitle" idx="1"/>
          </p:nvPr>
        </p:nvSpPr>
        <p:spPr>
          <a:xfrm>
            <a:off x="3411078" y="2971566"/>
            <a:ext cx="4584058" cy="889581"/>
          </a:xfrm>
        </p:spPr>
        <p:txBody>
          <a:bodyPr>
            <a:normAutofit/>
          </a:bodyPr>
          <a:lstStyle/>
          <a:p>
            <a:pPr algn="l"/>
            <a:r>
              <a:rPr lang="en-US" sz="2100" dirty="0">
                <a:solidFill>
                  <a:schemeClr val="bg1">
                    <a:lumMod val="95000"/>
                    <a:lumOff val="5000"/>
                    <a:alpha val="70000"/>
                  </a:schemeClr>
                </a:solidFill>
              </a:rPr>
              <a:t>Marketing is all around us!</a:t>
            </a:r>
          </a:p>
        </p:txBody>
      </p:sp>
      <p:sp>
        <p:nvSpPr>
          <p:cNvPr id="26" name="Isosceles Triangle 25">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46922" y="2453616"/>
            <a:ext cx="165495" cy="13982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a:solidFill>
                <a:prstClr val="white"/>
              </a:solidFill>
              <a:latin typeface="Trebuchet MS" panose="020B0603020202020204"/>
            </a:endParaRPr>
          </a:p>
        </p:txBody>
      </p:sp>
      <p:pic>
        <p:nvPicPr>
          <p:cNvPr id="5" name="Picture 4" descr="A picture containing citrus, orange, fruit&#10;&#10;Description automatically generated">
            <a:extLst>
              <a:ext uri="{FF2B5EF4-FFF2-40B4-BE49-F238E27FC236}">
                <a16:creationId xmlns:a16="http://schemas.microsoft.com/office/drawing/2014/main" id="{4A1A338D-EBAE-4A09-9D41-292955A896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6260182" y="2440782"/>
            <a:ext cx="2833437" cy="2833437"/>
          </a:xfrm>
          <a:prstGeom prst="rect">
            <a:avLst/>
          </a:prstGeom>
        </p:spPr>
      </p:pic>
      <p:sp>
        <p:nvSpPr>
          <p:cNvPr id="4" name="SMARTInkShape-1">
            <a:extLst>
              <a:ext uri="{FF2B5EF4-FFF2-40B4-BE49-F238E27FC236}">
                <a16:creationId xmlns:a16="http://schemas.microsoft.com/office/drawing/2014/main" id="{B54F80BB-0966-B478-4E80-6CC3A90DA08A}"/>
              </a:ext>
            </a:extLst>
          </p:cNvPr>
          <p:cNvSpPr/>
          <p:nvPr>
            <p:custDataLst>
              <p:tags r:id="rId1"/>
            </p:custDataLst>
          </p:nvPr>
        </p:nvSpPr>
        <p:spPr>
          <a:xfrm>
            <a:off x="247650" y="4171950"/>
            <a:ext cx="1" cy="14289"/>
          </a:xfrm>
          <a:custGeom>
            <a:avLst/>
            <a:gdLst/>
            <a:ahLst/>
            <a:cxnLst/>
            <a:rect l="0" t="0" r="0" b="0"/>
            <a:pathLst>
              <a:path w="1" h="14289">
                <a:moveTo>
                  <a:pt x="0" y="0"/>
                </a:moveTo>
                <a:lnTo>
                  <a:pt x="0" y="0"/>
                </a:lnTo>
                <a:lnTo>
                  <a:pt x="0" y="14288"/>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934286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Marketing is the Four Ps</a:t>
            </a:r>
          </a:p>
        </p:txBody>
      </p:sp>
      <p:pic>
        <p:nvPicPr>
          <p:cNvPr id="4" name="Content Placeholder 3" descr="4Ps.jpg">
            <a:hlinkClick r:id="rId3"/>
          </p:cNvPr>
          <p:cNvPicPr>
            <a:picLocks noGrp="1" noChangeAspect="1"/>
          </p:cNvPicPr>
          <p:nvPr>
            <p:ph idx="1"/>
          </p:nvPr>
        </p:nvPicPr>
        <p:blipFill>
          <a:blip r:embed="rId4" cstate="print"/>
          <a:stretch>
            <a:fillRect/>
          </a:stretch>
        </p:blipFill>
        <p:spPr>
          <a:xfrm>
            <a:off x="1803699" y="1363807"/>
            <a:ext cx="5293292" cy="3093966"/>
          </a:xfrm>
        </p:spPr>
      </p:pic>
      <p:sp>
        <p:nvSpPr>
          <p:cNvPr id="7" name="Rectangle 6">
            <a:extLst>
              <a:ext uri="{FF2B5EF4-FFF2-40B4-BE49-F238E27FC236}">
                <a16:creationId xmlns:a16="http://schemas.microsoft.com/office/drawing/2014/main" id="{4CE59857-BA68-4B57-85B4-65E7C7CBAB91}"/>
              </a:ext>
            </a:extLst>
          </p:cNvPr>
          <p:cNvSpPr/>
          <p:nvPr/>
        </p:nvSpPr>
        <p:spPr>
          <a:xfrm>
            <a:off x="558639" y="4686300"/>
            <a:ext cx="3891706" cy="300082"/>
          </a:xfrm>
          <a:prstGeom prst="rect">
            <a:avLst/>
          </a:prstGeom>
        </p:spPr>
        <p:txBody>
          <a:bodyPr wrap="none">
            <a:spAutoFit/>
          </a:bodyPr>
          <a:lstStyle/>
          <a:p>
            <a:r>
              <a:rPr lang="en-US" dirty="0"/>
              <a:t>http://www.youtube.com/watch?v=JIirzTdaey4</a:t>
            </a:r>
          </a:p>
        </p:txBody>
      </p:sp>
    </p:spTree>
    <p:extLst>
      <p:ext uri="{BB962C8B-B14F-4D97-AF65-F5344CB8AC3E}">
        <p14:creationId xmlns:p14="http://schemas.microsoft.com/office/powerpoint/2010/main" val="270829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12" name="Straight Connector 11">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6225920" cy="442341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agram&#10;&#10;Description automatically generated">
            <a:extLst>
              <a:ext uri="{FF2B5EF4-FFF2-40B4-BE49-F238E27FC236}">
                <a16:creationId xmlns:a16="http://schemas.microsoft.com/office/drawing/2014/main" id="{9EE2DABF-5AFA-4988-A7E4-024F43A6AA0C}"/>
              </a:ext>
            </a:extLst>
          </p:cNvPr>
          <p:cNvPicPr>
            <a:picLocks noChangeAspect="1"/>
          </p:cNvPicPr>
          <p:nvPr/>
        </p:nvPicPr>
        <p:blipFill>
          <a:blip r:embed="rId3"/>
          <a:stretch>
            <a:fillRect/>
          </a:stretch>
        </p:blipFill>
        <p:spPr>
          <a:xfrm>
            <a:off x="1315480" y="157287"/>
            <a:ext cx="4413516" cy="4876814"/>
          </a:xfrm>
          <a:prstGeom prst="rect">
            <a:avLst/>
          </a:prstGeom>
        </p:spPr>
      </p:pic>
      <p:sp>
        <p:nvSpPr>
          <p:cNvPr id="2" name="AutoShape 2">
            <a:extLst>
              <a:ext uri="{FF2B5EF4-FFF2-40B4-BE49-F238E27FC236}">
                <a16:creationId xmlns:a16="http://schemas.microsoft.com/office/drawing/2014/main" id="{B28BBE56-32D0-46F0-916C-11A438342A9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SMARTInkShape-2">
            <a:extLst>
              <a:ext uri="{FF2B5EF4-FFF2-40B4-BE49-F238E27FC236}">
                <a16:creationId xmlns:a16="http://schemas.microsoft.com/office/drawing/2014/main" id="{EC48C479-469D-ECE9-DEEC-F597F78DBBCC}"/>
              </a:ext>
            </a:extLst>
          </p:cNvPr>
          <p:cNvSpPr/>
          <p:nvPr>
            <p:custDataLst>
              <p:tags r:id="rId1"/>
            </p:custDataLst>
          </p:nvPr>
        </p:nvSpPr>
        <p:spPr>
          <a:xfrm>
            <a:off x="2695575" y="4281488"/>
            <a:ext cx="52389" cy="19051"/>
          </a:xfrm>
          <a:custGeom>
            <a:avLst/>
            <a:gdLst/>
            <a:ahLst/>
            <a:cxnLst/>
            <a:rect l="0" t="0" r="0" b="0"/>
            <a:pathLst>
              <a:path w="52389" h="19051">
                <a:moveTo>
                  <a:pt x="0" y="0"/>
                </a:moveTo>
                <a:lnTo>
                  <a:pt x="0" y="0"/>
                </a:lnTo>
                <a:lnTo>
                  <a:pt x="32031" y="12719"/>
                </a:lnTo>
                <a:lnTo>
                  <a:pt x="52388" y="1905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35930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dirty="0"/>
              <a:t>Product</a:t>
            </a:r>
          </a:p>
        </p:txBody>
      </p:sp>
      <p:sp>
        <p:nvSpPr>
          <p:cNvPr id="3" name="Text Placeholder 2"/>
          <p:cNvSpPr>
            <a:spLocks noGrp="1"/>
          </p:cNvSpPr>
          <p:nvPr>
            <p:ph type="body" idx="1"/>
          </p:nvPr>
        </p:nvSpPr>
        <p:spPr/>
        <p:txBody>
          <a:bodyPr/>
          <a:lstStyle/>
          <a:p>
            <a:r>
              <a:rPr lang="en-US" sz="2700" dirty="0">
                <a:solidFill>
                  <a:schemeClr val="tx1"/>
                </a:solidFill>
              </a:rPr>
              <a:t>Decide what products to make and sell.</a:t>
            </a:r>
          </a:p>
          <a:p>
            <a:endParaRPr lang="en-US" sz="2700" dirty="0">
              <a:solidFill>
                <a:schemeClr val="tx1"/>
              </a:solidFill>
            </a:endParaRPr>
          </a:p>
          <a:p>
            <a:r>
              <a:rPr lang="en-US" sz="2700" dirty="0">
                <a:solidFill>
                  <a:schemeClr val="tx1"/>
                </a:solidFill>
              </a:rPr>
              <a:t>Product design</a:t>
            </a:r>
          </a:p>
          <a:p>
            <a:pPr marL="342892" lvl="1" indent="-342892">
              <a:buFont typeface="Arial" panose="020B0604020202020204" pitchFamily="34" charset="0"/>
              <a:buChar char="•"/>
            </a:pPr>
            <a:r>
              <a:rPr lang="en-US" sz="2700" dirty="0">
                <a:solidFill>
                  <a:schemeClr val="tx1"/>
                </a:solidFill>
              </a:rPr>
              <a:t>Features</a:t>
            </a:r>
          </a:p>
          <a:p>
            <a:pPr marL="342892" lvl="1" indent="-342892">
              <a:buFont typeface="Arial" panose="020B0604020202020204" pitchFamily="34" charset="0"/>
              <a:buChar char="•"/>
            </a:pPr>
            <a:r>
              <a:rPr lang="en-US" sz="2700" dirty="0">
                <a:solidFill>
                  <a:schemeClr val="tx1"/>
                </a:solidFill>
              </a:rPr>
              <a:t>Brand name</a:t>
            </a:r>
          </a:p>
          <a:p>
            <a:pPr marL="342892" lvl="1" indent="-342892">
              <a:buFont typeface="Arial" panose="020B0604020202020204" pitchFamily="34" charset="0"/>
              <a:buChar char="•"/>
            </a:pPr>
            <a:r>
              <a:rPr lang="en-US" sz="2700" dirty="0">
                <a:solidFill>
                  <a:schemeClr val="tx1"/>
                </a:solidFill>
              </a:rPr>
              <a:t>Packaging</a:t>
            </a:r>
          </a:p>
          <a:p>
            <a:pPr marL="342892" lvl="1" indent="-342892">
              <a:buFont typeface="Arial" panose="020B0604020202020204" pitchFamily="34" charset="0"/>
              <a:buChar char="•"/>
            </a:pPr>
            <a:r>
              <a:rPr lang="en-US" sz="2700" dirty="0">
                <a:solidFill>
                  <a:schemeClr val="tx1"/>
                </a:solidFill>
              </a:rPr>
              <a:t>Service</a:t>
            </a:r>
          </a:p>
          <a:p>
            <a:pPr marL="342892" lvl="1" indent="-342892">
              <a:buFont typeface="Arial" panose="020B0604020202020204" pitchFamily="34" charset="0"/>
              <a:buChar char="•"/>
            </a:pPr>
            <a:r>
              <a:rPr lang="en-US" sz="2700" dirty="0">
                <a:solidFill>
                  <a:schemeClr val="tx1"/>
                </a:solidFill>
              </a:rPr>
              <a:t>Warranty</a:t>
            </a:r>
          </a:p>
          <a:p>
            <a:endParaRPr lang="en-US" dirty="0"/>
          </a:p>
        </p:txBody>
      </p:sp>
    </p:spTree>
    <p:extLst>
      <p:ext uri="{BB962C8B-B14F-4D97-AF65-F5344CB8AC3E}">
        <p14:creationId xmlns:p14="http://schemas.microsoft.com/office/powerpoint/2010/main" val="4108573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9BF8A-FCD6-4F63-A776-95DDA74230E8}"/>
              </a:ext>
            </a:extLst>
          </p:cNvPr>
          <p:cNvSpPr>
            <a:spLocks noGrp="1"/>
          </p:cNvSpPr>
          <p:nvPr>
            <p:ph type="title"/>
          </p:nvPr>
        </p:nvSpPr>
        <p:spPr/>
        <p:txBody>
          <a:bodyPr/>
          <a:lstStyle/>
          <a:p>
            <a:r>
              <a:rPr lang="en-US" dirty="0"/>
              <a:t>Product Packaging is important! Sometimes the packaging is the best part!</a:t>
            </a:r>
          </a:p>
        </p:txBody>
      </p:sp>
      <p:sp>
        <p:nvSpPr>
          <p:cNvPr id="3" name="Text Placeholder 2">
            <a:extLst>
              <a:ext uri="{FF2B5EF4-FFF2-40B4-BE49-F238E27FC236}">
                <a16:creationId xmlns:a16="http://schemas.microsoft.com/office/drawing/2014/main" id="{7589349D-E0D8-4B1B-A2FC-7E9EC93B4CAC}"/>
              </a:ext>
            </a:extLst>
          </p:cNvPr>
          <p:cNvSpPr>
            <a:spLocks noGrp="1"/>
          </p:cNvSpPr>
          <p:nvPr>
            <p:ph type="body" idx="1"/>
          </p:nvPr>
        </p:nvSpPr>
        <p:spPr/>
        <p:txBody>
          <a:bodyPr>
            <a:normAutofit/>
          </a:bodyPr>
          <a:lstStyle/>
          <a:p>
            <a:r>
              <a:rPr lang="en-US" sz="2400" dirty="0">
                <a:hlinkClick r:id="rId3"/>
              </a:rPr>
              <a:t>Send a Cake</a:t>
            </a:r>
            <a:endParaRPr lang="en-US" sz="2400" dirty="0"/>
          </a:p>
          <a:p>
            <a:r>
              <a:rPr lang="en-US" sz="2400" dirty="0">
                <a:hlinkClick r:id="rId4"/>
              </a:rPr>
              <a:t>Star Wars Propel Drone</a:t>
            </a:r>
            <a:endParaRPr lang="en-US" sz="2400" dirty="0"/>
          </a:p>
        </p:txBody>
      </p:sp>
    </p:spTree>
    <p:extLst>
      <p:ext uri="{BB962C8B-B14F-4D97-AF65-F5344CB8AC3E}">
        <p14:creationId xmlns:p14="http://schemas.microsoft.com/office/powerpoint/2010/main" val="2171468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0903"/>
            <a:ext cx="8229600" cy="1044599"/>
          </a:xfrm>
        </p:spPr>
        <p:txBody>
          <a:bodyPr>
            <a:normAutofit/>
          </a:bodyPr>
          <a:lstStyle/>
          <a:p>
            <a:pPr algn="ctr"/>
            <a:r>
              <a:rPr lang="en-US" sz="5400" dirty="0"/>
              <a:t>Place</a:t>
            </a:r>
          </a:p>
        </p:txBody>
      </p:sp>
      <p:sp>
        <p:nvSpPr>
          <p:cNvPr id="3" name="Text Placeholder 2"/>
          <p:cNvSpPr>
            <a:spLocks noGrp="1"/>
          </p:cNvSpPr>
          <p:nvPr>
            <p:ph type="body" idx="1"/>
          </p:nvPr>
        </p:nvSpPr>
        <p:spPr>
          <a:xfrm>
            <a:off x="457200" y="790883"/>
            <a:ext cx="6688394" cy="4037245"/>
          </a:xfrm>
        </p:spPr>
        <p:txBody>
          <a:bodyPr>
            <a:normAutofit lnSpcReduction="10000"/>
          </a:bodyPr>
          <a:lstStyle/>
          <a:p>
            <a:r>
              <a:rPr lang="en-US" sz="2800" dirty="0">
                <a:solidFill>
                  <a:schemeClr val="tx1"/>
                </a:solidFill>
              </a:rPr>
              <a:t>Getting the product into the consumer’s hand.</a:t>
            </a:r>
          </a:p>
          <a:p>
            <a:endParaRPr lang="en-US" sz="3600" dirty="0">
              <a:solidFill>
                <a:schemeClr val="tx1"/>
              </a:solidFill>
            </a:endParaRPr>
          </a:p>
          <a:p>
            <a:r>
              <a:rPr lang="en-US" sz="2400" dirty="0">
                <a:solidFill>
                  <a:schemeClr val="tx1"/>
                </a:solidFill>
              </a:rPr>
              <a:t>Must know:</a:t>
            </a:r>
          </a:p>
          <a:p>
            <a:pPr marL="342892" lvl="1" indent="-342892">
              <a:buFont typeface="Arial" panose="020B0604020202020204" pitchFamily="34" charset="0"/>
              <a:buChar char="•"/>
            </a:pPr>
            <a:r>
              <a:rPr lang="en-US" sz="2000" dirty="0">
                <a:solidFill>
                  <a:schemeClr val="tx1"/>
                </a:solidFill>
              </a:rPr>
              <a:t>Where and how the customer shops</a:t>
            </a:r>
          </a:p>
          <a:p>
            <a:pPr lvl="1"/>
            <a:endParaRPr lang="en-US" sz="2000" dirty="0">
              <a:solidFill>
                <a:schemeClr val="tx1"/>
              </a:solidFill>
            </a:endParaRPr>
          </a:p>
          <a:p>
            <a:pPr marL="342892" lvl="1" indent="-342892">
              <a:buFont typeface="Arial" panose="020B0604020202020204" pitchFamily="34" charset="0"/>
              <a:buChar char="•"/>
            </a:pPr>
            <a:r>
              <a:rPr lang="en-US" sz="2000" dirty="0">
                <a:solidFill>
                  <a:schemeClr val="tx1"/>
                </a:solidFill>
              </a:rPr>
              <a:t>How and where the product will be distributed</a:t>
            </a:r>
          </a:p>
          <a:p>
            <a:pPr lvl="1"/>
            <a:endParaRPr lang="en-US" sz="2000" dirty="0">
              <a:solidFill>
                <a:schemeClr val="tx1"/>
              </a:solidFill>
            </a:endParaRPr>
          </a:p>
          <a:p>
            <a:pPr marL="342892" lvl="1" indent="-342892">
              <a:buFont typeface="Arial" panose="020B0604020202020204" pitchFamily="34" charset="0"/>
              <a:buChar char="•"/>
            </a:pPr>
            <a:r>
              <a:rPr lang="en-US" sz="2000" dirty="0">
                <a:solidFill>
                  <a:schemeClr val="tx1"/>
                </a:solidFill>
              </a:rPr>
              <a:t>Sell directly to the customer or through intermediaries?</a:t>
            </a:r>
          </a:p>
          <a:p>
            <a:pPr lvl="1"/>
            <a:endParaRPr lang="en-US" sz="2000" dirty="0">
              <a:solidFill>
                <a:schemeClr val="tx1"/>
              </a:solidFill>
            </a:endParaRPr>
          </a:p>
          <a:p>
            <a:pPr marL="342892" lvl="1" indent="-342892">
              <a:buFont typeface="Arial" panose="020B0604020202020204" pitchFamily="34" charset="0"/>
              <a:buChar char="•"/>
            </a:pPr>
            <a:r>
              <a:rPr lang="en-US" sz="2000" dirty="0">
                <a:solidFill>
                  <a:schemeClr val="tx1"/>
                </a:solidFill>
              </a:rPr>
              <a:t>How to attract the customer</a:t>
            </a:r>
          </a:p>
        </p:txBody>
      </p:sp>
    </p:spTree>
    <p:extLst>
      <p:ext uri="{BB962C8B-B14F-4D97-AF65-F5344CB8AC3E}">
        <p14:creationId xmlns:p14="http://schemas.microsoft.com/office/powerpoint/2010/main" val="2979103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845" y="-72192"/>
            <a:ext cx="8229600" cy="1044599"/>
          </a:xfrm>
        </p:spPr>
        <p:txBody>
          <a:bodyPr>
            <a:normAutofit/>
          </a:bodyPr>
          <a:lstStyle/>
          <a:p>
            <a:pPr algn="ctr"/>
            <a:r>
              <a:rPr lang="en-US" sz="5400" dirty="0"/>
              <a:t>Price</a:t>
            </a:r>
          </a:p>
        </p:txBody>
      </p:sp>
      <p:sp>
        <p:nvSpPr>
          <p:cNvPr id="3" name="Text Placeholder 2"/>
          <p:cNvSpPr>
            <a:spLocks noGrp="1"/>
          </p:cNvSpPr>
          <p:nvPr>
            <p:ph type="body" idx="1"/>
          </p:nvPr>
        </p:nvSpPr>
        <p:spPr>
          <a:xfrm>
            <a:off x="304800" y="1047750"/>
            <a:ext cx="8382000" cy="3877930"/>
          </a:xfrm>
        </p:spPr>
        <p:txBody>
          <a:bodyPr>
            <a:normAutofit lnSpcReduction="10000"/>
          </a:bodyPr>
          <a:lstStyle/>
          <a:p>
            <a:r>
              <a:rPr lang="en-US" sz="2800" dirty="0">
                <a:solidFill>
                  <a:schemeClr val="tx1"/>
                </a:solidFill>
              </a:rPr>
              <a:t>Must understand what price point to sell the product or service. </a:t>
            </a:r>
          </a:p>
          <a:p>
            <a:endParaRPr lang="en-US" sz="1000" dirty="0">
              <a:solidFill>
                <a:schemeClr val="tx1"/>
              </a:solidFill>
            </a:endParaRPr>
          </a:p>
          <a:p>
            <a:endParaRPr lang="en-US" sz="1000" dirty="0">
              <a:solidFill>
                <a:schemeClr val="tx1"/>
              </a:solidFill>
            </a:endParaRPr>
          </a:p>
          <a:p>
            <a:r>
              <a:rPr lang="en-US" sz="2400" dirty="0">
                <a:solidFill>
                  <a:schemeClr val="tx1"/>
                </a:solidFill>
              </a:rPr>
              <a:t>Price strategies:</a:t>
            </a:r>
          </a:p>
          <a:p>
            <a:pPr marL="342892" lvl="1" indent="-342892">
              <a:buFont typeface="Arial" panose="020B0604020202020204" pitchFamily="34" charset="0"/>
              <a:buChar char="•"/>
            </a:pPr>
            <a:r>
              <a:rPr lang="en-US" sz="2000" dirty="0">
                <a:solidFill>
                  <a:schemeClr val="tx1"/>
                </a:solidFill>
              </a:rPr>
              <a:t>What are customers willing and able to pay?</a:t>
            </a:r>
          </a:p>
          <a:p>
            <a:pPr lvl="1"/>
            <a:endParaRPr lang="en-US" sz="2000" dirty="0">
              <a:solidFill>
                <a:schemeClr val="tx1"/>
              </a:solidFill>
            </a:endParaRPr>
          </a:p>
          <a:p>
            <a:pPr marL="342892" lvl="1" indent="-342892">
              <a:buFont typeface="Arial" panose="020B0604020202020204" pitchFamily="34" charset="0"/>
              <a:buChar char="•"/>
            </a:pPr>
            <a:r>
              <a:rPr lang="en-US" sz="2000" dirty="0">
                <a:solidFill>
                  <a:schemeClr val="tx1"/>
                </a:solidFill>
              </a:rPr>
              <a:t>What is the competition offering the customers?</a:t>
            </a:r>
          </a:p>
          <a:p>
            <a:pPr lvl="1"/>
            <a:endParaRPr lang="en-US" sz="2000" dirty="0">
              <a:solidFill>
                <a:schemeClr val="tx1"/>
              </a:solidFill>
            </a:endParaRPr>
          </a:p>
          <a:p>
            <a:pPr marL="342892" lvl="1" indent="-342892">
              <a:buFont typeface="Arial" panose="020B0604020202020204" pitchFamily="34" charset="0"/>
              <a:buChar char="•"/>
            </a:pPr>
            <a:r>
              <a:rPr lang="en-US" sz="2000" dirty="0">
                <a:solidFill>
                  <a:schemeClr val="tx1"/>
                </a:solidFill>
              </a:rPr>
              <a:t>Do customers find </a:t>
            </a:r>
            <a:r>
              <a:rPr lang="en-US" sz="2000" b="1" i="1" dirty="0">
                <a:solidFill>
                  <a:schemeClr val="tx1"/>
                </a:solidFill>
              </a:rPr>
              <a:t>value</a:t>
            </a:r>
            <a:r>
              <a:rPr lang="en-US" sz="2000" dirty="0">
                <a:solidFill>
                  <a:schemeClr val="tx1"/>
                </a:solidFill>
              </a:rPr>
              <a:t> in the product or service?</a:t>
            </a:r>
          </a:p>
          <a:p>
            <a:pPr lvl="1"/>
            <a:endParaRPr lang="en-US" sz="2000" dirty="0">
              <a:solidFill>
                <a:schemeClr val="tx1"/>
              </a:solidFill>
            </a:endParaRPr>
          </a:p>
          <a:p>
            <a:pPr marL="342892" lvl="1" indent="-342892">
              <a:buFont typeface="Arial" panose="020B0604020202020204" pitchFamily="34" charset="0"/>
              <a:buChar char="•"/>
            </a:pPr>
            <a:r>
              <a:rPr lang="en-US" sz="2000" dirty="0">
                <a:solidFill>
                  <a:schemeClr val="tx1"/>
                </a:solidFill>
              </a:rPr>
              <a:t>Promotional pricing? </a:t>
            </a:r>
            <a:r>
              <a:rPr lang="en-US" sz="2000" dirty="0">
                <a:solidFill>
                  <a:schemeClr val="tx1"/>
                </a:solidFill>
                <a:sym typeface="Wingdings" panose="05000000000000000000" pitchFamily="2" charset="2"/>
              </a:rPr>
              <a:t> Buy one get one, buy one get one half off, etc.</a:t>
            </a:r>
            <a:endParaRPr lang="en-US" sz="2000" dirty="0">
              <a:solidFill>
                <a:schemeClr val="tx1"/>
              </a:solidFill>
            </a:endParaRPr>
          </a:p>
          <a:p>
            <a:pPr marL="457189" indent="-457189">
              <a:buFont typeface="Arial" panose="020B0604020202020204" pitchFamily="34" charset="0"/>
              <a:buChar char="•"/>
            </a:pPr>
            <a:endParaRPr lang="en-US" dirty="0"/>
          </a:p>
        </p:txBody>
      </p:sp>
      <p:pic>
        <p:nvPicPr>
          <p:cNvPr id="4" name="Picture 3"/>
          <p:cNvPicPr>
            <a:picLocks noChangeAspect="1"/>
          </p:cNvPicPr>
          <p:nvPr/>
        </p:nvPicPr>
        <p:blipFill>
          <a:blip r:embed="rId2">
            <a:clrChange>
              <a:clrFrom>
                <a:srgbClr val="FFFFFF"/>
              </a:clrFrom>
              <a:clrTo>
                <a:srgbClr val="FFFFFF">
                  <a:alpha val="0"/>
                </a:srgbClr>
              </a:clrTo>
            </a:clrChange>
          </a:blip>
          <a:stretch>
            <a:fillRect/>
          </a:stretch>
        </p:blipFill>
        <p:spPr>
          <a:xfrm>
            <a:off x="5975048" y="2114551"/>
            <a:ext cx="2711753" cy="1515157"/>
          </a:xfrm>
          <a:prstGeom prst="rect">
            <a:avLst/>
          </a:prstGeom>
        </p:spPr>
      </p:pic>
    </p:spTree>
    <p:extLst>
      <p:ext uri="{BB962C8B-B14F-4D97-AF65-F5344CB8AC3E}">
        <p14:creationId xmlns:p14="http://schemas.microsoft.com/office/powerpoint/2010/main" val="79756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E9629-7CB1-43D8-96CF-72910D092986}"/>
              </a:ext>
            </a:extLst>
          </p:cNvPr>
          <p:cNvSpPr>
            <a:spLocks noGrp="1"/>
          </p:cNvSpPr>
          <p:nvPr>
            <p:ph type="title"/>
          </p:nvPr>
        </p:nvSpPr>
        <p:spPr/>
        <p:txBody>
          <a:bodyPr>
            <a:normAutofit/>
          </a:bodyPr>
          <a:lstStyle/>
          <a:p>
            <a:pPr algn="ctr"/>
            <a:r>
              <a:rPr lang="en-US" sz="5400" dirty="0"/>
              <a:t>Promotion</a:t>
            </a:r>
          </a:p>
        </p:txBody>
      </p:sp>
      <p:sp>
        <p:nvSpPr>
          <p:cNvPr id="4" name="Text Placeholder 2">
            <a:extLst>
              <a:ext uri="{FF2B5EF4-FFF2-40B4-BE49-F238E27FC236}">
                <a16:creationId xmlns:a16="http://schemas.microsoft.com/office/drawing/2014/main" id="{99C43354-9CF8-4A2B-A30E-7813B098179E}"/>
              </a:ext>
            </a:extLst>
          </p:cNvPr>
          <p:cNvSpPr>
            <a:spLocks noGrp="1"/>
          </p:cNvSpPr>
          <p:nvPr>
            <p:ph type="body" idx="1"/>
          </p:nvPr>
        </p:nvSpPr>
        <p:spPr>
          <a:xfrm>
            <a:off x="457200" y="1297782"/>
            <a:ext cx="8229600" cy="3627835"/>
          </a:xfrm>
        </p:spPr>
        <p:txBody>
          <a:bodyPr>
            <a:normAutofit/>
          </a:bodyPr>
          <a:lstStyle/>
          <a:p>
            <a:r>
              <a:rPr lang="en-US" sz="2800" dirty="0">
                <a:solidFill>
                  <a:schemeClr val="tx1"/>
                </a:solidFill>
              </a:rPr>
              <a:t>How will people know about your stand? Think of promotion tactics to bring you more business. </a:t>
            </a:r>
          </a:p>
          <a:p>
            <a:endParaRPr lang="en-US" sz="1000" dirty="0">
              <a:solidFill>
                <a:schemeClr val="tx1"/>
              </a:solidFill>
            </a:endParaRPr>
          </a:p>
          <a:p>
            <a:endParaRPr lang="en-US" sz="1000" dirty="0">
              <a:solidFill>
                <a:schemeClr val="tx1"/>
              </a:solidFill>
            </a:endParaRPr>
          </a:p>
          <a:p>
            <a:r>
              <a:rPr lang="en-US" sz="2400" dirty="0">
                <a:solidFill>
                  <a:schemeClr val="tx1"/>
                </a:solidFill>
              </a:rPr>
              <a:t>Promotion strategies:</a:t>
            </a:r>
          </a:p>
          <a:p>
            <a:pPr lvl="1"/>
            <a:r>
              <a:rPr lang="en-US" sz="2002" dirty="0"/>
              <a:t>Selling </a:t>
            </a:r>
          </a:p>
          <a:p>
            <a:pPr lvl="1"/>
            <a:r>
              <a:rPr lang="en-US" sz="2002" dirty="0"/>
              <a:t>Advertising</a:t>
            </a:r>
          </a:p>
          <a:p>
            <a:pPr lvl="1"/>
            <a:r>
              <a:rPr lang="en-US" sz="2002" dirty="0"/>
              <a:t>Sales promotion</a:t>
            </a:r>
          </a:p>
          <a:p>
            <a:pPr lvl="1"/>
            <a:r>
              <a:rPr lang="en-US" sz="2002" dirty="0"/>
              <a:t>Direct marketing</a:t>
            </a:r>
          </a:p>
          <a:p>
            <a:pPr lvl="1"/>
            <a:r>
              <a:rPr lang="en-US" sz="2002" dirty="0"/>
              <a:t>Publicity</a:t>
            </a:r>
            <a:endParaRPr lang="en-US" sz="2002" dirty="0">
              <a:solidFill>
                <a:schemeClr val="tx1"/>
              </a:solidFill>
            </a:endParaRPr>
          </a:p>
          <a:p>
            <a:pPr marL="0" lvl="1" indent="0">
              <a:buNone/>
            </a:pPr>
            <a:endParaRPr lang="en-US" sz="2000" dirty="0">
              <a:solidFill>
                <a:schemeClr val="tx1"/>
              </a:solidFill>
            </a:endParaRPr>
          </a:p>
          <a:p>
            <a:pPr marL="457189" indent="-457189">
              <a:buFont typeface="Arial" panose="020B0604020202020204" pitchFamily="34" charset="0"/>
              <a:buChar char="•"/>
            </a:pPr>
            <a:endParaRPr lang="en-US" dirty="0"/>
          </a:p>
        </p:txBody>
      </p:sp>
    </p:spTree>
    <p:extLst>
      <p:ext uri="{BB962C8B-B14F-4D97-AF65-F5344CB8AC3E}">
        <p14:creationId xmlns:p14="http://schemas.microsoft.com/office/powerpoint/2010/main" val="2123543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AC7F4-37F8-4280-9BE9-B7E522388DB5}"/>
              </a:ext>
            </a:extLst>
          </p:cNvPr>
          <p:cNvSpPr>
            <a:spLocks noGrp="1"/>
          </p:cNvSpPr>
          <p:nvPr>
            <p:ph type="title"/>
          </p:nvPr>
        </p:nvSpPr>
        <p:spPr/>
        <p:txBody>
          <a:bodyPr>
            <a:normAutofit fontScale="90000"/>
          </a:bodyPr>
          <a:lstStyle/>
          <a:p>
            <a:r>
              <a:rPr lang="en-US" dirty="0"/>
              <a:t>Neurology of Branding (The power of promotion): </a:t>
            </a:r>
            <a:br>
              <a:rPr lang="en-US" dirty="0"/>
            </a:br>
            <a:br>
              <a:rPr lang="en-US" dirty="0"/>
            </a:br>
            <a:r>
              <a:rPr lang="en-US" dirty="0">
                <a:hlinkClick r:id="rId3"/>
              </a:rPr>
              <a:t>How Apple and Nike have branded your brain | Your Brain on Money | Big Think - YouTube</a:t>
            </a:r>
            <a:endParaRPr lang="en-US" dirty="0"/>
          </a:p>
        </p:txBody>
      </p:sp>
    </p:spTree>
    <p:extLst>
      <p:ext uri="{BB962C8B-B14F-4D97-AF65-F5344CB8AC3E}">
        <p14:creationId xmlns:p14="http://schemas.microsoft.com/office/powerpoint/2010/main" val="2143080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D3A3-D12D-3F44-3708-58FF3FA7C32C}"/>
              </a:ext>
            </a:extLst>
          </p:cNvPr>
          <p:cNvSpPr>
            <a:spLocks noGrp="1"/>
          </p:cNvSpPr>
          <p:nvPr>
            <p:ph type="title"/>
          </p:nvPr>
        </p:nvSpPr>
        <p:spPr/>
        <p:txBody>
          <a:bodyPr/>
          <a:lstStyle/>
          <a:p>
            <a:r>
              <a:rPr lang="en-US" dirty="0"/>
              <a:t>Impact of Happiness on Purchase Decisions</a:t>
            </a:r>
          </a:p>
        </p:txBody>
      </p:sp>
      <p:sp>
        <p:nvSpPr>
          <p:cNvPr id="3" name="Text Placeholder 2">
            <a:extLst>
              <a:ext uri="{FF2B5EF4-FFF2-40B4-BE49-F238E27FC236}">
                <a16:creationId xmlns:a16="http://schemas.microsoft.com/office/drawing/2014/main" id="{C5883466-4CF8-758F-578C-9E4D0E164093}"/>
              </a:ext>
            </a:extLst>
          </p:cNvPr>
          <p:cNvSpPr>
            <a:spLocks noGrp="1"/>
          </p:cNvSpPr>
          <p:nvPr>
            <p:ph type="body" idx="1"/>
          </p:nvPr>
        </p:nvSpPr>
        <p:spPr/>
        <p:txBody>
          <a:bodyPr/>
          <a:lstStyle/>
          <a:p>
            <a:r>
              <a:rPr lang="en-US" sz="2400" dirty="0"/>
              <a:t>Why We Make Bad Decisions. </a:t>
            </a:r>
          </a:p>
          <a:p>
            <a:r>
              <a:rPr lang="en-US" sz="2400" dirty="0"/>
              <a:t>This TED Talk is about the impact of happiness on purchase decisions. </a:t>
            </a:r>
          </a:p>
          <a:p>
            <a:endParaRPr lang="en-US" dirty="0"/>
          </a:p>
          <a:p>
            <a:r>
              <a:rPr lang="en-US" dirty="0">
                <a:hlinkClick r:id="rId3"/>
              </a:rPr>
              <a:t>The surprising science of happiness | Dan Gilbert</a:t>
            </a:r>
            <a:endParaRPr lang="en-US" dirty="0"/>
          </a:p>
        </p:txBody>
      </p:sp>
    </p:spTree>
    <p:extLst>
      <p:ext uri="{BB962C8B-B14F-4D97-AF65-F5344CB8AC3E}">
        <p14:creationId xmlns:p14="http://schemas.microsoft.com/office/powerpoint/2010/main" val="1697027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4311" y="171449"/>
            <a:ext cx="5268558" cy="857250"/>
          </a:xfrm>
        </p:spPr>
        <p:txBody>
          <a:bodyPr/>
          <a:lstStyle/>
          <a:p>
            <a:r>
              <a:rPr lang="en-US" b="1" dirty="0"/>
              <a:t>Questions to Consider</a:t>
            </a:r>
          </a:p>
        </p:txBody>
      </p:sp>
      <p:sp>
        <p:nvSpPr>
          <p:cNvPr id="3" name="Content Placeholder 2"/>
          <p:cNvSpPr>
            <a:spLocks noGrp="1"/>
          </p:cNvSpPr>
          <p:nvPr>
            <p:ph idx="1"/>
          </p:nvPr>
        </p:nvSpPr>
        <p:spPr>
          <a:xfrm>
            <a:off x="237877" y="1093643"/>
            <a:ext cx="7281428" cy="4000500"/>
          </a:xfrm>
        </p:spPr>
        <p:txBody>
          <a:bodyPr>
            <a:normAutofit fontScale="92500" lnSpcReduction="10000"/>
          </a:bodyPr>
          <a:lstStyle/>
          <a:p>
            <a:r>
              <a:rPr lang="en-US" b="1" dirty="0"/>
              <a:t>What?</a:t>
            </a:r>
          </a:p>
          <a:p>
            <a:pPr lvl="1"/>
            <a:r>
              <a:rPr lang="en-US" dirty="0"/>
              <a:t>What kind of lemonade/food will you sell?</a:t>
            </a:r>
          </a:p>
          <a:p>
            <a:pPr lvl="1"/>
            <a:r>
              <a:rPr lang="en-US" dirty="0"/>
              <a:t>Will you have different options or flavors available?</a:t>
            </a:r>
          </a:p>
          <a:p>
            <a:pPr lvl="1"/>
            <a:r>
              <a:rPr lang="en-US" dirty="0"/>
              <a:t>Will you offer different sizes?</a:t>
            </a:r>
          </a:p>
          <a:p>
            <a:pPr lvl="1"/>
            <a:r>
              <a:rPr lang="en-US" dirty="0"/>
              <a:t>What kinds of cups/utensils will you use?</a:t>
            </a:r>
          </a:p>
          <a:p>
            <a:r>
              <a:rPr lang="en-US" b="1" dirty="0"/>
              <a:t>Where?</a:t>
            </a:r>
          </a:p>
          <a:p>
            <a:pPr lvl="1"/>
            <a:r>
              <a:rPr lang="en-US" dirty="0"/>
              <a:t>Where will you set up your stand/truck?</a:t>
            </a:r>
          </a:p>
          <a:p>
            <a:pPr lvl="1"/>
            <a:r>
              <a:rPr lang="en-US" dirty="0"/>
              <a:t>Why did you choose these locations?</a:t>
            </a:r>
          </a:p>
          <a:p>
            <a:r>
              <a:rPr lang="en-US" b="1" dirty="0"/>
              <a:t>How much?</a:t>
            </a:r>
          </a:p>
          <a:p>
            <a:pPr lvl="1"/>
            <a:r>
              <a:rPr lang="en-US" dirty="0"/>
              <a:t>How did you establish the price of your lemonade/food?</a:t>
            </a:r>
          </a:p>
          <a:p>
            <a:pPr lvl="1"/>
            <a:r>
              <a:rPr lang="en-US" dirty="0"/>
              <a:t>Did you consider potential competition or the cost to make?</a:t>
            </a:r>
          </a:p>
          <a:p>
            <a:pPr lvl="1"/>
            <a:r>
              <a:rPr lang="en-US" dirty="0"/>
              <a:t>Did you consider how much money your customers might have with them?</a:t>
            </a:r>
          </a:p>
          <a:p>
            <a:r>
              <a:rPr lang="en-US" b="1" dirty="0"/>
              <a:t>How will you tell people?</a:t>
            </a:r>
          </a:p>
          <a:p>
            <a:pPr lvl="1"/>
            <a:r>
              <a:rPr lang="en-US" dirty="0"/>
              <a:t>How will you tell people about your stand?</a:t>
            </a:r>
          </a:p>
          <a:p>
            <a:pPr lvl="1"/>
            <a:r>
              <a:rPr lang="en-US" dirty="0"/>
              <a:t>What makes you think your promotional plan will be effective?</a:t>
            </a:r>
          </a:p>
        </p:txBody>
      </p:sp>
      <p:graphicFrame>
        <p:nvGraphicFramePr>
          <p:cNvPr id="4" name="Diagram 3"/>
          <p:cNvGraphicFramePr/>
          <p:nvPr/>
        </p:nvGraphicFramePr>
        <p:xfrm>
          <a:off x="5533159" y="171449"/>
          <a:ext cx="3374815" cy="29224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MARTInkShape-3">
            <a:extLst>
              <a:ext uri="{FF2B5EF4-FFF2-40B4-BE49-F238E27FC236}">
                <a16:creationId xmlns:a16="http://schemas.microsoft.com/office/drawing/2014/main" id="{5992AC7A-9E43-AC05-A134-53DB517B58FE}"/>
              </a:ext>
            </a:extLst>
          </p:cNvPr>
          <p:cNvSpPr/>
          <p:nvPr>
            <p:custDataLst>
              <p:tags r:id="rId1"/>
            </p:custDataLst>
          </p:nvPr>
        </p:nvSpPr>
        <p:spPr>
          <a:xfrm>
            <a:off x="1164431" y="5136355"/>
            <a:ext cx="7145" cy="1"/>
          </a:xfrm>
          <a:custGeom>
            <a:avLst/>
            <a:gdLst/>
            <a:ahLst/>
            <a:cxnLst/>
            <a:rect l="0" t="0" r="0" b="0"/>
            <a:pathLst>
              <a:path w="7145" h="1">
                <a:moveTo>
                  <a:pt x="0" y="0"/>
                </a:moveTo>
                <a:lnTo>
                  <a:pt x="0" y="0"/>
                </a:lnTo>
                <a:lnTo>
                  <a:pt x="7144"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43997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EBF2A32B-F31C-48E5-9BDD-1BD8DD17AC17}"/>
              </a:ext>
            </a:extLst>
          </p:cNvPr>
          <p:cNvGraphicFramePr/>
          <p:nvPr>
            <p:extLst>
              <p:ext uri="{D42A27DB-BD31-4B8C-83A1-F6EECF244321}">
                <p14:modId xmlns:p14="http://schemas.microsoft.com/office/powerpoint/2010/main" val="4088918747"/>
              </p:ext>
            </p:extLst>
          </p:nvPr>
        </p:nvGraphicFramePr>
        <p:xfrm>
          <a:off x="775253" y="590135"/>
          <a:ext cx="5846722" cy="3963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6278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4BE3E5-D738-4EFD-ADAC-BEA821B04E23}"/>
              </a:ext>
            </a:extLst>
          </p:cNvPr>
          <p:cNvSpPr>
            <a:spLocks noGrp="1"/>
          </p:cNvSpPr>
          <p:nvPr>
            <p:ph type="title"/>
          </p:nvPr>
        </p:nvSpPr>
        <p:spPr>
          <a:xfrm>
            <a:off x="1728216" y="2354185"/>
            <a:ext cx="5687568" cy="952270"/>
          </a:xfrm>
        </p:spPr>
        <p:txBody>
          <a:bodyPr/>
          <a:lstStyle/>
          <a:p>
            <a:br>
              <a:rPr lang="en-US" dirty="0"/>
            </a:br>
            <a:br>
              <a:rPr lang="en-US" dirty="0"/>
            </a:br>
            <a:br>
              <a:rPr lang="en-US" dirty="0"/>
            </a:br>
            <a:r>
              <a:rPr lang="en-US" dirty="0"/>
              <a:t>you have 30 seconds….</a:t>
            </a:r>
            <a:br>
              <a:rPr lang="en-US" dirty="0"/>
            </a:br>
            <a:br>
              <a:rPr lang="en-US" dirty="0"/>
            </a:br>
            <a:r>
              <a:rPr lang="en-US" dirty="0"/>
              <a:t>Pick up an item from within This Room</a:t>
            </a:r>
          </a:p>
        </p:txBody>
      </p:sp>
    </p:spTree>
    <p:extLst>
      <p:ext uri="{BB962C8B-B14F-4D97-AF65-F5344CB8AC3E}">
        <p14:creationId xmlns:p14="http://schemas.microsoft.com/office/powerpoint/2010/main" val="2430008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053EF5-B769-41A0-A6BB-D704459037A2}"/>
              </a:ext>
            </a:extLst>
          </p:cNvPr>
          <p:cNvSpPr>
            <a:spLocks noGrp="1"/>
          </p:cNvSpPr>
          <p:nvPr>
            <p:ph type="body" sz="quarter" idx="18"/>
          </p:nvPr>
        </p:nvSpPr>
        <p:spPr>
          <a:xfrm>
            <a:off x="692307" y="865565"/>
            <a:ext cx="8093884" cy="3554299"/>
          </a:xfrm>
        </p:spPr>
        <p:txBody>
          <a:bodyPr/>
          <a:lstStyle/>
          <a:p>
            <a:r>
              <a:rPr lang="en-US" dirty="0"/>
              <a:t>Group of potential customers to whom a company wants to sell its products and services</a:t>
            </a:r>
          </a:p>
          <a:p>
            <a:r>
              <a:rPr lang="en-US" dirty="0"/>
              <a:t>Part of the larger consumer market or total market for a good or service</a:t>
            </a:r>
          </a:p>
          <a:p>
            <a:r>
              <a:rPr lang="en-US" dirty="0"/>
              <a:t>Specific customers to whom a company directs its marketing efforts</a:t>
            </a:r>
          </a:p>
        </p:txBody>
      </p:sp>
      <p:sp>
        <p:nvSpPr>
          <p:cNvPr id="3" name="Title 2">
            <a:extLst>
              <a:ext uri="{FF2B5EF4-FFF2-40B4-BE49-F238E27FC236}">
                <a16:creationId xmlns:a16="http://schemas.microsoft.com/office/drawing/2014/main" id="{8EE8FF44-567C-415E-842E-204A8A23D82E}"/>
              </a:ext>
            </a:extLst>
          </p:cNvPr>
          <p:cNvSpPr>
            <a:spLocks noGrp="1"/>
          </p:cNvSpPr>
          <p:nvPr>
            <p:ph type="title"/>
          </p:nvPr>
        </p:nvSpPr>
        <p:spPr/>
        <p:txBody>
          <a:bodyPr/>
          <a:lstStyle/>
          <a:p>
            <a:r>
              <a:rPr lang="en-US" dirty="0"/>
              <a:t>Target Market</a:t>
            </a:r>
          </a:p>
        </p:txBody>
      </p:sp>
      <p:pic>
        <p:nvPicPr>
          <p:cNvPr id="2054" name="Picture 6" descr="Target Market Analysis: Elevate Your Business to Success">
            <a:extLst>
              <a:ext uri="{FF2B5EF4-FFF2-40B4-BE49-F238E27FC236}">
                <a16:creationId xmlns:a16="http://schemas.microsoft.com/office/drawing/2014/main" id="{D1D6DE62-2698-4AF5-8503-6355B76E5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81" y="2154897"/>
            <a:ext cx="6377437" cy="2448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505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o should you target anyway? — 5 simple steps to define your audience | by  Diogo Pereira Lopes | advertio">
            <a:extLst>
              <a:ext uri="{FF2B5EF4-FFF2-40B4-BE49-F238E27FC236}">
                <a16:creationId xmlns:a16="http://schemas.microsoft.com/office/drawing/2014/main" id="{48F0CF35-D0BF-44A2-94A9-EF71BC4D6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416" y="159026"/>
            <a:ext cx="3302865" cy="4636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745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152B72-4698-4D13-874A-3FAB84387C99}"/>
              </a:ext>
            </a:extLst>
          </p:cNvPr>
          <p:cNvSpPr>
            <a:spLocks noGrp="1"/>
          </p:cNvSpPr>
          <p:nvPr>
            <p:ph type="body" sz="quarter" idx="18"/>
          </p:nvPr>
        </p:nvSpPr>
        <p:spPr>
          <a:xfrm>
            <a:off x="692307" y="865565"/>
            <a:ext cx="3297464" cy="3554299"/>
          </a:xfrm>
        </p:spPr>
        <p:txBody>
          <a:bodyPr/>
          <a:lstStyle/>
          <a:p>
            <a:r>
              <a:rPr lang="en-US" dirty="0"/>
              <a:t>Read the pricing section of the marketing textbook (PDF) </a:t>
            </a:r>
          </a:p>
          <a:p>
            <a:r>
              <a:rPr lang="en-US" dirty="0"/>
              <a:t>Note all of the terms in the text for the next exam</a:t>
            </a:r>
          </a:p>
          <a:p>
            <a:r>
              <a:rPr lang="en-US" dirty="0"/>
              <a:t>You do NOT have to answer the questions at the end of the pages</a:t>
            </a:r>
          </a:p>
        </p:txBody>
      </p:sp>
      <p:sp>
        <p:nvSpPr>
          <p:cNvPr id="3" name="Title 2">
            <a:extLst>
              <a:ext uri="{FF2B5EF4-FFF2-40B4-BE49-F238E27FC236}">
                <a16:creationId xmlns:a16="http://schemas.microsoft.com/office/drawing/2014/main" id="{9C43F7FE-F41D-4B15-A11E-6F9C204C5EAF}"/>
              </a:ext>
            </a:extLst>
          </p:cNvPr>
          <p:cNvSpPr>
            <a:spLocks noGrp="1"/>
          </p:cNvSpPr>
          <p:nvPr>
            <p:ph type="title"/>
          </p:nvPr>
        </p:nvSpPr>
        <p:spPr/>
        <p:txBody>
          <a:bodyPr/>
          <a:lstStyle/>
          <a:p>
            <a:r>
              <a:rPr lang="en-US" dirty="0"/>
              <a:t>Assignment	</a:t>
            </a:r>
          </a:p>
        </p:txBody>
      </p:sp>
      <p:pic>
        <p:nvPicPr>
          <p:cNvPr id="4" name="Picture 3">
            <a:extLst>
              <a:ext uri="{FF2B5EF4-FFF2-40B4-BE49-F238E27FC236}">
                <a16:creationId xmlns:a16="http://schemas.microsoft.com/office/drawing/2014/main" id="{C8FA6BE0-1E93-4B81-BCFF-7AC68A68F909}"/>
              </a:ext>
            </a:extLst>
          </p:cNvPr>
          <p:cNvPicPr>
            <a:picLocks noChangeAspect="1"/>
          </p:cNvPicPr>
          <p:nvPr/>
        </p:nvPicPr>
        <p:blipFill>
          <a:blip r:embed="rId2"/>
          <a:stretch>
            <a:fillRect/>
          </a:stretch>
        </p:blipFill>
        <p:spPr>
          <a:xfrm>
            <a:off x="4279603" y="1000293"/>
            <a:ext cx="4338416" cy="3284842"/>
          </a:xfrm>
          <a:prstGeom prst="rect">
            <a:avLst/>
          </a:prstGeom>
        </p:spPr>
      </p:pic>
    </p:spTree>
    <p:extLst>
      <p:ext uri="{BB962C8B-B14F-4D97-AF65-F5344CB8AC3E}">
        <p14:creationId xmlns:p14="http://schemas.microsoft.com/office/powerpoint/2010/main" val="251119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The Secret Behind Coca-Cola Marketing Strategy">
            <a:hlinkClick r:id="" action="ppaction://media"/>
            <a:extLst>
              <a:ext uri="{FF2B5EF4-FFF2-40B4-BE49-F238E27FC236}">
                <a16:creationId xmlns:a16="http://schemas.microsoft.com/office/drawing/2014/main" id="{E21EB983-EEB4-4E17-B1E0-97F28C7AB630}"/>
              </a:ext>
            </a:extLst>
          </p:cNvPr>
          <p:cNvPicPr>
            <a:picLocks noRot="1" noChangeAspect="1"/>
          </p:cNvPicPr>
          <p:nvPr>
            <a:videoFile r:link="rId1"/>
          </p:nvPr>
        </p:nvPicPr>
        <p:blipFill>
          <a:blip r:embed="rId6"/>
          <a:stretch>
            <a:fillRect/>
          </a:stretch>
        </p:blipFill>
        <p:spPr>
          <a:xfrm>
            <a:off x="1524000" y="857250"/>
            <a:ext cx="6096000" cy="3429000"/>
          </a:xfrm>
          <a:prstGeom prst="rect">
            <a:avLst/>
          </a:prstGeom>
        </p:spPr>
      </p:pic>
      <p:sp>
        <p:nvSpPr>
          <p:cNvPr id="4" name="SMARTInkShape-4">
            <a:extLst>
              <a:ext uri="{FF2B5EF4-FFF2-40B4-BE49-F238E27FC236}">
                <a16:creationId xmlns:a16="http://schemas.microsoft.com/office/drawing/2014/main" id="{CFAD9744-DC3D-9BAC-8315-2356D1B30135}"/>
              </a:ext>
            </a:extLst>
          </p:cNvPr>
          <p:cNvSpPr/>
          <p:nvPr>
            <p:custDataLst>
              <p:tags r:id="rId2"/>
            </p:custDataLst>
          </p:nvPr>
        </p:nvSpPr>
        <p:spPr>
          <a:xfrm>
            <a:off x="1400175" y="4186238"/>
            <a:ext cx="3573" cy="1"/>
          </a:xfrm>
          <a:custGeom>
            <a:avLst/>
            <a:gdLst/>
            <a:ahLst/>
            <a:cxnLst/>
            <a:rect l="0" t="0" r="0" b="0"/>
            <a:pathLst>
              <a:path w="3573" h="1">
                <a:moveTo>
                  <a:pt x="3572" y="0"/>
                </a:moveTo>
                <a:lnTo>
                  <a:pt x="3572" y="0"/>
                </a:lnTo>
                <a:lnTo>
                  <a:pt x="0"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SMARTInkShape-5">
            <a:extLst>
              <a:ext uri="{FF2B5EF4-FFF2-40B4-BE49-F238E27FC236}">
                <a16:creationId xmlns:a16="http://schemas.microsoft.com/office/drawing/2014/main" id="{E8CDA58E-92D0-0F4B-BA0B-570403EEEB98}"/>
              </a:ext>
            </a:extLst>
          </p:cNvPr>
          <p:cNvSpPr/>
          <p:nvPr>
            <p:custDataLst>
              <p:tags r:id="rId3"/>
            </p:custDataLst>
          </p:nvPr>
        </p:nvSpPr>
        <p:spPr>
          <a:xfrm>
            <a:off x="481013" y="4176713"/>
            <a:ext cx="7144" cy="1"/>
          </a:xfrm>
          <a:custGeom>
            <a:avLst/>
            <a:gdLst/>
            <a:ahLst/>
            <a:cxnLst/>
            <a:rect l="0" t="0" r="0" b="0"/>
            <a:pathLst>
              <a:path w="7144" h="1">
                <a:moveTo>
                  <a:pt x="0" y="0"/>
                </a:moveTo>
                <a:lnTo>
                  <a:pt x="0" y="0"/>
                </a:lnTo>
                <a:lnTo>
                  <a:pt x="7143"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4527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The Genius of Tesla's $0 Social Marketing Strategy ￰ﾟﾔﾋ">
            <a:hlinkClick r:id="" action="ppaction://media"/>
            <a:extLst>
              <a:ext uri="{FF2B5EF4-FFF2-40B4-BE49-F238E27FC236}">
                <a16:creationId xmlns:a16="http://schemas.microsoft.com/office/drawing/2014/main" id="{6BD894C9-A4C1-4D8F-9991-9425876D8046}"/>
              </a:ext>
            </a:extLst>
          </p:cNvPr>
          <p:cNvPicPr>
            <a:picLocks noRot="1" noChangeAspect="1"/>
          </p:cNvPicPr>
          <p:nvPr>
            <a:videoFile r:link="rId1"/>
          </p:nvPr>
        </p:nvPicPr>
        <p:blipFill>
          <a:blip r:embed="rId4"/>
          <a:stretch>
            <a:fillRect/>
          </a:stretch>
        </p:blipFill>
        <p:spPr>
          <a:xfrm>
            <a:off x="1524000" y="857250"/>
            <a:ext cx="6096000" cy="3429000"/>
          </a:xfrm>
          <a:prstGeom prst="rect">
            <a:avLst/>
          </a:prstGeom>
        </p:spPr>
      </p:pic>
    </p:spTree>
    <p:extLst>
      <p:ext uri="{BB962C8B-B14F-4D97-AF65-F5344CB8AC3E}">
        <p14:creationId xmlns:p14="http://schemas.microsoft.com/office/powerpoint/2010/main" val="35006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EA50-1014-423D-933C-3FC0086A31A1}"/>
              </a:ext>
            </a:extLst>
          </p:cNvPr>
          <p:cNvSpPr>
            <a:spLocks noGrp="1"/>
          </p:cNvSpPr>
          <p:nvPr>
            <p:ph type="title"/>
          </p:nvPr>
        </p:nvSpPr>
        <p:spPr/>
        <p:txBody>
          <a:bodyPr/>
          <a:lstStyle/>
          <a:p>
            <a:r>
              <a:rPr lang="en-US" dirty="0"/>
              <a:t>Most valuable brands from 2000-2022</a:t>
            </a:r>
          </a:p>
        </p:txBody>
      </p:sp>
      <p:sp>
        <p:nvSpPr>
          <p:cNvPr id="3" name="Text Placeholder 2">
            <a:extLst>
              <a:ext uri="{FF2B5EF4-FFF2-40B4-BE49-F238E27FC236}">
                <a16:creationId xmlns:a16="http://schemas.microsoft.com/office/drawing/2014/main" id="{2B9C3F90-5412-416B-A2A3-9640D6C4AC1E}"/>
              </a:ext>
            </a:extLst>
          </p:cNvPr>
          <p:cNvSpPr>
            <a:spLocks noGrp="1"/>
          </p:cNvSpPr>
          <p:nvPr>
            <p:ph type="body" idx="1"/>
          </p:nvPr>
        </p:nvSpPr>
        <p:spPr/>
        <p:txBody>
          <a:bodyPr/>
          <a:lstStyle/>
          <a:p>
            <a:r>
              <a:rPr lang="en-US" dirty="0">
                <a:hlinkClick r:id="rId3"/>
              </a:rPr>
              <a:t>Animated: The Most Valuable Brands From 2000–2022 (visualcapitalist.com)</a:t>
            </a:r>
            <a:endParaRPr lang="en-US" dirty="0"/>
          </a:p>
        </p:txBody>
      </p:sp>
    </p:spTree>
    <p:extLst>
      <p:ext uri="{BB962C8B-B14F-4D97-AF65-F5344CB8AC3E}">
        <p14:creationId xmlns:p14="http://schemas.microsoft.com/office/powerpoint/2010/main" val="8335721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ags/tag2.xml><?xml version="1.0" encoding="utf-8"?>
<p:tagLst xmlns:a="http://schemas.openxmlformats.org/drawingml/2006/main" xmlns:r="http://schemas.openxmlformats.org/officeDocument/2006/relationships" xmlns:p="http://schemas.openxmlformats.org/presentationml/2006/main">
  <p:tag name="HIGHLIGHTER" val="false"/>
</p:tagLst>
</file>

<file path=ppt/tags/tag3.xml><?xml version="1.0" encoding="utf-8"?>
<p:tagLst xmlns:a="http://schemas.openxmlformats.org/drawingml/2006/main" xmlns:r="http://schemas.openxmlformats.org/officeDocument/2006/relationships" xmlns:p="http://schemas.openxmlformats.org/presentationml/2006/main">
  <p:tag name="HIGHLIGHTER" val="false"/>
</p:tagLst>
</file>

<file path=ppt/tags/tag4.xml><?xml version="1.0" encoding="utf-8"?>
<p:tagLst xmlns:a="http://schemas.openxmlformats.org/drawingml/2006/main" xmlns:r="http://schemas.openxmlformats.org/officeDocument/2006/relationships" xmlns:p="http://schemas.openxmlformats.org/presentationml/2006/main">
  <p:tag name="HIGHLIGHTER" val="false"/>
</p:tagLst>
</file>

<file path=ppt/tags/tag5.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Main Mast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latin typeface="Arial" panose="020B0604020202020204" pitchFamily="34" charset="0"/>
          </a:defRPr>
        </a:defPPr>
      </a:lstStyle>
    </a:txDef>
  </a:objectDefaults>
  <a:extraClrSchemeLst/>
  <a:extLst>
    <a:ext uri="{05A4C25C-085E-4340-85A3-A5531E510DB2}">
      <thm15:themeFamily xmlns:thm15="http://schemas.microsoft.com/office/thememl/2012/main" name="Seatle Genetics 1" id="{53984AC2-015D-554A-9215-CAF5E42331BB}" vid="{AC78D1C2-67FA-E942-9EA9-D2954BBFA017}"/>
    </a:ext>
  </a:extLst>
</a:theme>
</file>

<file path=ppt/theme/theme2.xml><?xml version="1.0" encoding="utf-8"?>
<a:theme xmlns:a="http://schemas.openxmlformats.org/drawingml/2006/main" name="Office Theme">
  <a:themeElements>
    <a:clrScheme name="+VOGLIO Brand">
      <a:dk1>
        <a:srgbClr val="000000"/>
      </a:dk1>
      <a:lt1>
        <a:sysClr val="window" lastClr="FFFFFF"/>
      </a:lt1>
      <a:dk2>
        <a:srgbClr val="071013"/>
      </a:dk2>
      <a:lt2>
        <a:srgbClr val="F2F1F2"/>
      </a:lt2>
      <a:accent1>
        <a:srgbClr val="1EAFED"/>
      </a:accent1>
      <a:accent2>
        <a:srgbClr val="EC7727"/>
      </a:accent2>
      <a:accent3>
        <a:srgbClr val="F13279"/>
      </a:accent3>
      <a:accent4>
        <a:srgbClr val="6F0579"/>
      </a:accent4>
      <a:accent5>
        <a:srgbClr val="1EAFED"/>
      </a:accent5>
      <a:accent6>
        <a:srgbClr val="D1C9D2"/>
      </a:accent6>
      <a:hlink>
        <a:srgbClr val="F13279"/>
      </a:hlink>
      <a:folHlink>
        <a:srgbClr val="6F0579"/>
      </a:folHlink>
    </a:clrScheme>
    <a:fontScheme name="Voglio Generic Deck">
      <a:majorFont>
        <a:latin typeface="Century Gothic"/>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DD89C5D911BC046B277DCAF5366D800" ma:contentTypeVersion="4" ma:contentTypeDescription="Create a new document." ma:contentTypeScope="" ma:versionID="2cc88ace384ab63cdfefd6ba4c9c6e19">
  <xsd:schema xmlns:xsd="http://www.w3.org/2001/XMLSchema" xmlns:xs="http://www.w3.org/2001/XMLSchema" xmlns:p="http://schemas.microsoft.com/office/2006/metadata/properties" xmlns:ns2="8203920f-e80a-4f40-891f-374d92aaa723" xmlns:ns3="94453763-5c73-4bc4-9bc2-0b162bd4cfed" targetNamespace="http://schemas.microsoft.com/office/2006/metadata/properties" ma:root="true" ma:fieldsID="b09e4c8b1d448c696d03e70d112964b5" ns2:_="" ns3:_="">
    <xsd:import namespace="8203920f-e80a-4f40-891f-374d92aaa723"/>
    <xsd:import namespace="94453763-5c73-4bc4-9bc2-0b162bd4cfe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03920f-e80a-4f40-891f-374d92aaa7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453763-5c73-4bc4-9bc2-0b162bd4cf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1A84523-DC6D-4F6B-A4CC-3FF10C5ADA66}">
  <ds:schemaRefs>
    <ds:schemaRef ds:uri="http://schemas.microsoft.com/sharepoint/v3/contenttype/forms"/>
  </ds:schemaRefs>
</ds:datastoreItem>
</file>

<file path=customXml/itemProps2.xml><?xml version="1.0" encoding="utf-8"?>
<ds:datastoreItem xmlns:ds="http://schemas.openxmlformats.org/officeDocument/2006/customXml" ds:itemID="{20FEFE1D-2A63-4943-A8E9-412AC2E6794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41CF28C-A6CA-48EC-A751-93D4F186C8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03920f-e80a-4f40-891f-374d92aaa723"/>
    <ds:schemaRef ds:uri="94453763-5c73-4bc4-9bc2-0b162bd4c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1129</TotalTime>
  <Words>1493</Words>
  <Application>Microsoft Office PowerPoint</Application>
  <PresentationFormat>On-screen Show (16:9)</PresentationFormat>
  <Paragraphs>193</Paragraphs>
  <Slides>22</Slides>
  <Notes>11</Notes>
  <HiddenSlides>0</HiddenSlides>
  <MMClips>2</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22</vt:i4>
      </vt:variant>
    </vt:vector>
  </HeadingPairs>
  <TitlesOfParts>
    <vt:vector size="33" baseType="lpstr">
      <vt:lpstr>Arial</vt:lpstr>
      <vt:lpstr>Calibri</vt:lpstr>
      <vt:lpstr>Century Gothic</vt:lpstr>
      <vt:lpstr>Courier New</vt:lpstr>
      <vt:lpstr>Trebuchet MS</vt:lpstr>
      <vt:lpstr>Verdana</vt:lpstr>
      <vt:lpstr>Wingdings</vt:lpstr>
      <vt:lpstr>Wingdings 3</vt:lpstr>
      <vt:lpstr>Main Master</vt:lpstr>
      <vt:lpstr>Office Theme</vt:lpstr>
      <vt:lpstr>Facet</vt:lpstr>
      <vt:lpstr>Business, Marketing, Entrepreneurship, Digital Marketing, and Econ  Mrs. Schafer </vt:lpstr>
      <vt:lpstr>PowerPoint Presentation</vt:lpstr>
      <vt:lpstr>Crazy Facts About Marketing</vt:lpstr>
      <vt:lpstr>Lemonade Stand Marketing</vt:lpstr>
      <vt:lpstr>Marketing is the Four Ps</vt:lpstr>
      <vt:lpstr>PowerPoint Presentation</vt:lpstr>
      <vt:lpstr>Product</vt:lpstr>
      <vt:lpstr>Product Packaging is important! Sometimes the packaging is the best part!</vt:lpstr>
      <vt:lpstr>Place</vt:lpstr>
      <vt:lpstr>Price</vt:lpstr>
      <vt:lpstr>Promotion</vt:lpstr>
      <vt:lpstr>Neurology of Branding (The power of promotion):   How Apple and Nike have branded your brain | Your Brain on Money | Big Think - YouTube</vt:lpstr>
      <vt:lpstr>Impact of Happiness on Purchase Decisions</vt:lpstr>
      <vt:lpstr>Questions to Consider</vt:lpstr>
      <vt:lpstr>PowerPoint Presentation</vt:lpstr>
      <vt:lpstr>   you have 30 seconds….  Pick up an item from within This Room</vt:lpstr>
      <vt:lpstr>Target Market</vt:lpstr>
      <vt:lpstr>PowerPoint Presentation</vt:lpstr>
      <vt:lpstr>Assignment </vt:lpstr>
      <vt:lpstr>PowerPoint Presentation</vt:lpstr>
      <vt:lpstr>PowerPoint Presentation</vt:lpstr>
      <vt:lpstr>Most valuable brands from 2000-2022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Marketing, Entrepreneurship, Digital Marketing, and Econ  Mrs. Schafer Class # 13</dc:title>
  <dc:creator>Schafer, Ryfka</dc:creator>
  <cp:lastModifiedBy>Ryfka Schafer</cp:lastModifiedBy>
  <cp:revision>3</cp:revision>
  <dcterms:created xsi:type="dcterms:W3CDTF">2020-10-12T19:41:18Z</dcterms:created>
  <dcterms:modified xsi:type="dcterms:W3CDTF">2025-12-11T20:27:28Z</dcterms:modified>
</cp:coreProperties>
</file>