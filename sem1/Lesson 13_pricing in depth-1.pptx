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420" r:id="rId5"/>
    <p:sldId id="421" r:id="rId6"/>
    <p:sldId id="422" r:id="rId7"/>
    <p:sldId id="423" r:id="rId8"/>
    <p:sldId id="424" r:id="rId9"/>
    <p:sldId id="426" r:id="rId10"/>
    <p:sldId id="425" r:id="rId11"/>
    <p:sldId id="427" r:id="rId12"/>
    <p:sldId id="428" r:id="rId13"/>
    <p:sldId id="429" r:id="rId14"/>
    <p:sldId id="430" r:id="rId15"/>
    <p:sldId id="43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FE7321-CAF6-44A9-89EA-961101FC1FD5}" v="12" dt="2025-12-18T22:15:28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54859" autoAdjust="0"/>
  </p:normalViewPr>
  <p:slideViewPr>
    <p:cSldViewPr snapToGrid="0">
      <p:cViewPr varScale="1">
        <p:scale>
          <a:sx n="37" d="100"/>
          <a:sy n="37" d="100"/>
        </p:scale>
        <p:origin x="15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fka Schafer" userId="318b1ac2-30d3-4beb-81ce-7e66308a1db1" providerId="ADAL" clId="{6ADB8242-FC07-4006-B08C-E5283FADA5DD}"/>
    <pc:docChg chg="custSel delSld modSld sldOrd">
      <pc:chgData name="Ryfka Schafer" userId="318b1ac2-30d3-4beb-81ce-7e66308a1db1" providerId="ADAL" clId="{6ADB8242-FC07-4006-B08C-E5283FADA5DD}" dt="2025-12-18T22:15:28.247" v="145"/>
      <pc:docMkLst>
        <pc:docMk/>
      </pc:docMkLst>
      <pc:sldChg chg="modSp mod">
        <pc:chgData name="Ryfka Schafer" userId="318b1ac2-30d3-4beb-81ce-7e66308a1db1" providerId="ADAL" clId="{6ADB8242-FC07-4006-B08C-E5283FADA5DD}" dt="2025-12-15T20:51:21.555" v="120" actId="20577"/>
        <pc:sldMkLst>
          <pc:docMk/>
          <pc:sldMk cId="2098443568" sldId="421"/>
        </pc:sldMkLst>
        <pc:spChg chg="mod">
          <ac:chgData name="Ryfka Schafer" userId="318b1ac2-30d3-4beb-81ce-7e66308a1db1" providerId="ADAL" clId="{6ADB8242-FC07-4006-B08C-E5283FADA5DD}" dt="2025-12-15T20:51:21.555" v="120" actId="20577"/>
          <ac:spMkLst>
            <pc:docMk/>
            <pc:sldMk cId="2098443568" sldId="421"/>
            <ac:spMk id="3" creationId="{B34AADD7-387E-4013-8C84-380563E11459}"/>
          </ac:spMkLst>
        </pc:spChg>
      </pc:sldChg>
      <pc:sldChg chg="ord">
        <pc:chgData name="Ryfka Schafer" userId="318b1ac2-30d3-4beb-81ce-7e66308a1db1" providerId="ADAL" clId="{6ADB8242-FC07-4006-B08C-E5283FADA5DD}" dt="2025-12-15T20:50:44.646" v="76"/>
        <pc:sldMkLst>
          <pc:docMk/>
          <pc:sldMk cId="2452755613" sldId="424"/>
        </pc:sldMkLst>
      </pc:sldChg>
      <pc:sldChg chg="addSp delSp modSp mod">
        <pc:chgData name="Ryfka Schafer" userId="318b1ac2-30d3-4beb-81ce-7e66308a1db1" providerId="ADAL" clId="{6ADB8242-FC07-4006-B08C-E5283FADA5DD}" dt="2025-12-18T22:15:28.247" v="145"/>
        <pc:sldMkLst>
          <pc:docMk/>
          <pc:sldMk cId="765006889" sldId="427"/>
        </pc:sldMkLst>
        <pc:spChg chg="add del mod">
          <ac:chgData name="Ryfka Schafer" userId="318b1ac2-30d3-4beb-81ce-7e66308a1db1" providerId="ADAL" clId="{6ADB8242-FC07-4006-B08C-E5283FADA5DD}" dt="2025-12-18T17:23:43.135" v="135"/>
          <ac:spMkLst>
            <pc:docMk/>
            <pc:sldMk cId="765006889" sldId="427"/>
            <ac:spMk id="2" creationId="{00DC567E-D538-EC0C-124B-5FA21F08FDC8}"/>
          </ac:spMkLst>
        </pc:spChg>
        <pc:spChg chg="add mod">
          <ac:chgData name="Ryfka Schafer" userId="318b1ac2-30d3-4beb-81ce-7e66308a1db1" providerId="ADAL" clId="{6ADB8242-FC07-4006-B08C-E5283FADA5DD}" dt="2025-12-18T22:15:28.247" v="145"/>
          <ac:spMkLst>
            <pc:docMk/>
            <pc:sldMk cId="765006889" sldId="427"/>
            <ac:spMk id="2" creationId="{2D60DF46-D2F1-1F65-1E8D-ABE98B014A1D}"/>
          </ac:spMkLst>
        </pc:spChg>
        <pc:spChg chg="add del mod">
          <ac:chgData name="Ryfka Schafer" userId="318b1ac2-30d3-4beb-81ce-7e66308a1db1" providerId="ADAL" clId="{6ADB8242-FC07-4006-B08C-E5283FADA5DD}" dt="2025-12-18T22:14:08.900" v="141"/>
          <ac:spMkLst>
            <pc:docMk/>
            <pc:sldMk cId="765006889" sldId="427"/>
            <ac:spMk id="6" creationId="{537621B2-BC51-B923-111A-310930B6E610}"/>
          </ac:spMkLst>
        </pc:spChg>
      </pc:sldChg>
      <pc:sldChg chg="ord">
        <pc:chgData name="Ryfka Schafer" userId="318b1ac2-30d3-4beb-81ce-7e66308a1db1" providerId="ADAL" clId="{6ADB8242-FC07-4006-B08C-E5283FADA5DD}" dt="2025-12-15T20:51:29.204" v="122"/>
        <pc:sldMkLst>
          <pc:docMk/>
          <pc:sldMk cId="1273453060" sldId="4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8ACA9-7E9C-4702-BF14-F630B57B834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C0E-36B9-45DC-BBA4-FEFD5448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7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30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Price is value in money placed on a good or service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Oldest form of pricing is bartering-exchange of good or service for another good or service. No money involved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Seller’s objective: set a price high enough for the company to make a profit but not so high that it exceeds the value potential customers place on the product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Price names:  rent, commission, dues, fee, interest, wage, tuition, salary, bonus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 goals of pricing: earning a profit, gaining market share, meeting the competition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https://www.youtube.com/watch?v=8s3bdVxuFBs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This is the 13 min paperclip TED talk video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78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Demand elasticity varies with 5 factors: brand loyalty, price relative to income, availability of substitutes, luxury vs necessity, and urgency of purchase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Law of diminishing marginal utility: detergent goes on sale. You buy 5 bottles of it. 3 weeks later a new sale for the same detergent…would you buy more? No, cause you have enough.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substitutions to popular holiday toy so parents will shift the demand curve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Price fixing: competitors agree on certain price ranges. Can be proven only when there’s evidence of collusion. Sherman </a:t>
            </a:r>
            <a:r>
              <a:rPr lang="en-US" dirty="0" err="1"/>
              <a:t>antritust</a:t>
            </a:r>
            <a:r>
              <a:rPr lang="en-US" dirty="0"/>
              <a:t> act of 1890 outlawed this. Illegal b/c it eliminates competition. Legally required in 19 states.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Price discrimination: when a firm charges </a:t>
            </a:r>
            <a:r>
              <a:rPr lang="en-US" dirty="0" err="1"/>
              <a:t>dif</a:t>
            </a:r>
            <a:r>
              <a:rPr lang="en-US" dirty="0"/>
              <a:t> prices to similar customers in similar situations.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Unit pricing helps consumers compare similar goods that are packaged in </a:t>
            </a:r>
            <a:r>
              <a:rPr lang="en-US" dirty="0" err="1"/>
              <a:t>dif</a:t>
            </a:r>
            <a:r>
              <a:rPr lang="en-US" dirty="0"/>
              <a:t> sizes or come in </a:t>
            </a:r>
            <a:r>
              <a:rPr lang="en-US" dirty="0" err="1"/>
              <a:t>dif</a:t>
            </a:r>
            <a:r>
              <a:rPr lang="en-US" dirty="0"/>
              <a:t> forms.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Unfiar</a:t>
            </a:r>
            <a:r>
              <a:rPr lang="en-US" dirty="0"/>
              <a:t> trade practices prohibited b/c it drives out competition. When this isn’t outlawed stores can price an item at low costs to draw customers into a store…this item is called loss leader. Selling tv really low on black Friday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Federal Trade commission steps in to give advertising guidelines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Bait and switch advertising: bus adverts a low price item that they don’t’ actually intend to sell or say they’re out of stock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Price gouging: when price is set higher than normal for a product that’s suddenly in high demand (taxi rides out of NYC on 9/11. Hand sanitizer after </a:t>
            </a:r>
            <a:r>
              <a:rPr lang="en-US" dirty="0" err="1"/>
              <a:t>Covid</a:t>
            </a:r>
            <a:r>
              <a:rPr lang="en-US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role does the gov play in regulating the pricing process?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97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Market share is firm’s percentage of total sales volume generated by all competitors in a given market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Market position is relative standing a competitor has in given market in comparison to its other competitors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93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36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ROI-calculation that is used to determine the relative profitability of a product; formula is rate of return = profit divided by investment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233% ROI on </a:t>
            </a:r>
            <a:r>
              <a:rPr lang="en-US" dirty="0" err="1"/>
              <a:t>tshirt</a:t>
            </a:r>
            <a:r>
              <a:rPr lang="en-US" dirty="0"/>
              <a:t>  100-30=70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70/30=2.33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2.33x100=233</a:t>
            </a:r>
            <a:r>
              <a:rPr lang="en-US"/>
              <a:t>% return</a:t>
            </a:r>
            <a:endParaRPr lang="en-US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ROI-calculation that is used to determine the relative profitability of a product; formula is rate of return = profit divided by investment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0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4/6 so rate of return is 66.67%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A: $10.50   75 = x/6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Calculate Profit on each item. Then calculate ROI:  Your company sells t-shirts to customers for $10 each. Your cost to make and market the t-shirts is $6. Your profit is $4.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Rate of return = 4/6 so rate of return is 66.67% Your company wants to achieve a return on investment of at least 75%. What price should the company sell the t-shirts for if they can’t lower the cost to make and </a:t>
            </a:r>
            <a:r>
              <a:rPr lang="en-US" dirty="0" err="1"/>
              <a:t>maket</a:t>
            </a:r>
            <a:r>
              <a:rPr lang="en-US" dirty="0"/>
              <a:t> the t-shirts?  A: $10.50   75 = x/6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37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Break even </a:t>
            </a:r>
            <a:r>
              <a:rPr lang="en-US" dirty="0" err="1"/>
              <a:t>pt</a:t>
            </a:r>
            <a:r>
              <a:rPr lang="en-US" dirty="0"/>
              <a:t>: point at which sales revenue equals the cost and expenses of making and distributing a product. After this is reached, businesses begin to make a profit on the product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 food manufacturer plans to make 200,000 cans of food that will be sold at $3 each to retailers. The cost of making the can is $2 per unit or a total cost of $400,000 for all the cans. How many cans must the manufacturer sell to reach the break even point? Total amount of costs and expenses divided by selling price 400,000/3=133,334 cans before they start making a profit.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EAC0E-36B9-45DC-BBA4-FEFD5448CB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04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4393523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04288" y="2974495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81363" y="565467"/>
            <a:ext cx="1429275" cy="18331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2894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4284657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531278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348921" y="403959"/>
            <a:ext cx="9494159" cy="56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15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348921" y="403959"/>
            <a:ext cx="9494159" cy="56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13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3725177" y="1157729"/>
            <a:ext cx="0" cy="4289303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3725177" y="1360929"/>
            <a:ext cx="0" cy="4289303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679594" y="2991647"/>
            <a:ext cx="279858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>
                <a:solidFill>
                  <a:srgbClr val="2597CB"/>
                </a:solidFill>
              </a:rPr>
              <a:t>AGENDA</a:t>
            </a:r>
            <a:endParaRPr lang="en-US" sz="4267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11652" y="1434185"/>
            <a:ext cx="6938433" cy="4216047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009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154087"/>
            <a:ext cx="10328561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81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23075" y="1154828"/>
            <a:ext cx="10354525" cy="3172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133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610002"/>
            <a:ext cx="10328561" cy="4326972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19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154087"/>
            <a:ext cx="5059680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2868" y="1143001"/>
            <a:ext cx="5059680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622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762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339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6436772"/>
            <a:ext cx="12192000" cy="430981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92" y="219456"/>
            <a:ext cx="10314432" cy="5120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914401" y="1154087"/>
            <a:ext cx="10346265" cy="50223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11146885" y="6564783"/>
            <a:ext cx="662391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933" smtClean="0">
                <a:solidFill>
                  <a:srgbClr val="414042"/>
                </a:solidFill>
              </a:rPr>
              <a:t>‹#›</a:t>
            </a:fld>
            <a:endParaRPr lang="en-US" sz="933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259405" y="5680954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926592" y="6488115"/>
            <a:ext cx="446789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10365559" y="6474394"/>
            <a:ext cx="989373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3434" y="6000645"/>
            <a:ext cx="554873" cy="7116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76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2597CB"/>
        </a:buClr>
        <a:buSzPct val="140000"/>
        <a:buFont typeface="Arial"/>
        <a:buChar char="•"/>
        <a:defRPr sz="2133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916494" indent="-313259" algn="l" defTabSz="1219170" rtl="0" eaLnBrk="1" latinLnBrk="0" hangingPunct="1">
        <a:lnSpc>
          <a:spcPct val="90000"/>
        </a:lnSpc>
        <a:spcBef>
          <a:spcPts val="667"/>
        </a:spcBef>
        <a:buClr>
          <a:srgbClr val="2597CB"/>
        </a:buClr>
        <a:buFont typeface="Courier New" charset="0"/>
        <a:buChar char="o"/>
        <a:defRPr sz="1867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521846" indent="-306910" algn="l" defTabSz="1219170" rtl="0" eaLnBrk="1" latinLnBrk="0" hangingPunct="1">
        <a:lnSpc>
          <a:spcPct val="90000"/>
        </a:lnSpc>
        <a:spcBef>
          <a:spcPts val="667"/>
        </a:spcBef>
        <a:buClr>
          <a:srgbClr val="2597CB"/>
        </a:buClr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2135664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703F85"/>
        </a:buClr>
        <a:buSzPct val="60000"/>
        <a:buFont typeface="Courier New" charset="0"/>
        <a:buChar char="o"/>
        <a:defRPr sz="1467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741015" indent="-306910" algn="l" defTabSz="1219170" rtl="0" eaLnBrk="1" latinLnBrk="0" hangingPunct="1">
        <a:lnSpc>
          <a:spcPct val="90000"/>
        </a:lnSpc>
        <a:spcBef>
          <a:spcPts val="667"/>
        </a:spcBef>
        <a:buClr>
          <a:srgbClr val="703F85"/>
        </a:buClr>
        <a:buFont typeface="Arial"/>
        <a:buChar char="•"/>
        <a:defRPr sz="1467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>
          <p15:clr>
            <a:srgbClr val="F26B43"/>
          </p15:clr>
        </p15:guide>
        <p15:guide id="6" pos="2880">
          <p15:clr>
            <a:srgbClr val="F26B43"/>
          </p15:clr>
        </p15:guide>
        <p15:guide id="7" orient="horz" pos="17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fabiusmaximus.com/2013/01/19/second-amendment-guns-48094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liquorstorebear.com/2012/02/05/back-off-villager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designbolts.com/2014/02/08/3-despicable-me-vector-minion-t-shirt-designs-in-ai-ep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949" y="3478076"/>
            <a:ext cx="8353777" cy="1269693"/>
          </a:xfrm>
        </p:spPr>
        <p:txBody>
          <a:bodyPr/>
          <a:lstStyle/>
          <a:p>
            <a:r>
              <a:rPr lang="en-US" dirty="0"/>
              <a:t>Business, Marketing, Entrepreneurship, Digital Marketing, and Econ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Mrs. Schafer</a:t>
            </a:r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Pricing Exercise Recap</a:t>
            </a:r>
          </a:p>
          <a:p>
            <a:r>
              <a:rPr lang="en-US" dirty="0"/>
              <a:t>Pricing Vocabulary</a:t>
            </a:r>
          </a:p>
          <a:p>
            <a:r>
              <a:rPr lang="en-US" dirty="0"/>
              <a:t>Market Share vs. Market Position</a:t>
            </a:r>
          </a:p>
          <a:p>
            <a:r>
              <a:rPr lang="en-US" dirty="0"/>
              <a:t>Business Calculations</a:t>
            </a:r>
          </a:p>
          <a:p>
            <a:r>
              <a:rPr lang="en-US" dirty="0"/>
              <a:t>Bartering Assignment</a:t>
            </a:r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BB41C6-525B-4D4B-B42C-B570015864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How did the pricing activity go for you?</a:t>
            </a:r>
          </a:p>
          <a:p>
            <a:r>
              <a:rPr lang="en-US" dirty="0"/>
              <a:t>How did you pick your equilibrium price?</a:t>
            </a:r>
          </a:p>
          <a:p>
            <a:r>
              <a:rPr lang="en-US" dirty="0"/>
              <a:t>If you could choose your price differently now, what would you do?</a:t>
            </a:r>
          </a:p>
          <a:p>
            <a:r>
              <a:rPr lang="en-US" dirty="0"/>
              <a:t>Would you actually not change your price, but rather change your product to better fit the target market?</a:t>
            </a:r>
          </a:p>
          <a:p>
            <a:r>
              <a:rPr lang="en-US" dirty="0"/>
              <a:t>Did we prove the microeconomics principle of demand?</a:t>
            </a:r>
          </a:p>
          <a:p>
            <a:r>
              <a:rPr lang="en-US" dirty="0"/>
              <a:t>If we disproved it, why? What factors made the outcome different?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FB6F23-0EE0-4497-BE2C-90A83D588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Exercise Recap</a:t>
            </a:r>
          </a:p>
        </p:txBody>
      </p:sp>
    </p:spTree>
    <p:extLst>
      <p:ext uri="{BB962C8B-B14F-4D97-AF65-F5344CB8AC3E}">
        <p14:creationId xmlns:p14="http://schemas.microsoft.com/office/powerpoint/2010/main" val="108974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49F1-9C79-4AC6-912D-46BAE386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3B733-E4D3-4262-B2B3-D976D6D6CC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Terms/concepts to note</a:t>
            </a:r>
          </a:p>
          <a:p>
            <a:pPr lvl="1"/>
            <a:r>
              <a:rPr lang="en-US" dirty="0"/>
              <a:t>Price</a:t>
            </a:r>
          </a:p>
          <a:p>
            <a:pPr lvl="1"/>
            <a:r>
              <a:rPr lang="en-US" dirty="0"/>
              <a:t>Bartering</a:t>
            </a:r>
          </a:p>
          <a:p>
            <a:pPr lvl="1"/>
            <a:r>
              <a:rPr lang="en-US" dirty="0"/>
              <a:t>Product value (what is the seller’s objective)</a:t>
            </a:r>
          </a:p>
          <a:p>
            <a:pPr lvl="1"/>
            <a:r>
              <a:rPr lang="en-US" dirty="0"/>
              <a:t>Variety of price names</a:t>
            </a:r>
          </a:p>
          <a:p>
            <a:pPr lvl="1"/>
            <a:r>
              <a:rPr lang="en-US" dirty="0"/>
              <a:t>3 goals of pricing</a:t>
            </a:r>
          </a:p>
          <a:p>
            <a:pPr marL="609585" lvl="1" indent="0">
              <a:buNone/>
            </a:pPr>
            <a:endParaRPr lang="en-US" dirty="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B05CEC8B-1420-4000-914A-EC36F43C0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92493" y="1284506"/>
            <a:ext cx="5970967" cy="44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49F1-9C79-4AC6-912D-46BAE386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3B733-E4D3-4262-B2B3-D976D6D6CC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Terms/concepts to note</a:t>
            </a:r>
          </a:p>
          <a:p>
            <a:pPr lvl="1"/>
            <a:r>
              <a:rPr lang="en-US" dirty="0"/>
              <a:t>Demand elasticity</a:t>
            </a:r>
          </a:p>
          <a:p>
            <a:pPr lvl="1"/>
            <a:r>
              <a:rPr lang="en-US" dirty="0"/>
              <a:t>Law of diminishing marginal utility</a:t>
            </a:r>
          </a:p>
          <a:p>
            <a:pPr lvl="1"/>
            <a:r>
              <a:rPr lang="en-US" dirty="0"/>
              <a:t>Substitutions</a:t>
            </a:r>
          </a:p>
          <a:p>
            <a:pPr lvl="1"/>
            <a:r>
              <a:rPr lang="en-US" dirty="0"/>
              <a:t>Price fixing</a:t>
            </a:r>
          </a:p>
          <a:p>
            <a:pPr lvl="1"/>
            <a:r>
              <a:rPr lang="en-US" dirty="0"/>
              <a:t>Price discrimination</a:t>
            </a:r>
          </a:p>
          <a:p>
            <a:pPr lvl="1"/>
            <a:r>
              <a:rPr lang="en-US" dirty="0"/>
              <a:t>Unit pricing</a:t>
            </a:r>
          </a:p>
          <a:p>
            <a:pPr lvl="1"/>
            <a:r>
              <a:rPr lang="en-US" dirty="0"/>
              <a:t>Loss leader</a:t>
            </a:r>
          </a:p>
          <a:p>
            <a:pPr lvl="1"/>
            <a:r>
              <a:rPr lang="en-US" dirty="0"/>
              <a:t>Bait and switch advertising</a:t>
            </a:r>
          </a:p>
          <a:p>
            <a:pPr lvl="1"/>
            <a:r>
              <a:rPr lang="en-US" dirty="0"/>
              <a:t>Price gouging</a:t>
            </a:r>
          </a:p>
          <a:p>
            <a:pPr lvl="1"/>
            <a:endParaRPr lang="en-US" dirty="0"/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AB3B9B92-3790-415A-A5E9-CE6BB1040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95028" y="1157372"/>
            <a:ext cx="5277772" cy="478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5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E1C4-A2C7-4F3E-9E97-669621A2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Share vs. Market 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51CA3-9060-4A17-A0BE-96108B7A9B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Market share: firm’s percentage of total sales volume generated by all competitors in a given market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3DF9C-C144-425F-B98B-8F403A47786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Market position: relative standing a competitor has in given market in comparison to its other competitors </a:t>
            </a:r>
          </a:p>
        </p:txBody>
      </p:sp>
      <p:pic>
        <p:nvPicPr>
          <p:cNvPr id="1026" name="Picture 2" descr="6 Tactics to Help Security Pros Protect Market Share - Security Sales &amp;  Integration">
            <a:extLst>
              <a:ext uri="{FF2B5EF4-FFF2-40B4-BE49-F238E27FC236}">
                <a16:creationId xmlns:a16="http://schemas.microsoft.com/office/drawing/2014/main" id="{57E0A423-BDEE-4064-B36E-04343E41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14" y="2616475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sian Markets To Continue To Boost Apple's Growth (NASDAQ:AAPL) | Seeking  Alpha">
            <a:extLst>
              <a:ext uri="{FF2B5EF4-FFF2-40B4-BE49-F238E27FC236}">
                <a16:creationId xmlns:a16="http://schemas.microsoft.com/office/drawing/2014/main" id="{11FA609B-B553-4BCA-AE83-11E058F9B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105" y="2600167"/>
            <a:ext cx="5419819" cy="304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314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0B3AD5-6880-4B95-8EA8-C51EE271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Revenue = PRODUCT PRICE X QUANTITY SOLD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A2261-81CC-476D-B767-6CC3EDDDDB40}"/>
              </a:ext>
            </a:extLst>
          </p:cNvPr>
          <p:cNvSpPr txBox="1"/>
          <p:nvPr/>
        </p:nvSpPr>
        <p:spPr>
          <a:xfrm>
            <a:off x="0" y="4621696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</a:rPr>
              <a:t>Sold 5 t-shirts for $20 each.  Revenue = ? 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112C80-ACF7-4262-925F-E3A0D6634660}"/>
              </a:ext>
            </a:extLst>
          </p:cNvPr>
          <p:cNvSpPr/>
          <p:nvPr/>
        </p:nvSpPr>
        <p:spPr>
          <a:xfrm>
            <a:off x="407504" y="337930"/>
            <a:ext cx="2623931" cy="487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Calculation</a:t>
            </a:r>
          </a:p>
        </p:txBody>
      </p:sp>
    </p:spTree>
    <p:extLst>
      <p:ext uri="{BB962C8B-B14F-4D97-AF65-F5344CB8AC3E}">
        <p14:creationId xmlns:p14="http://schemas.microsoft.com/office/powerpoint/2010/main" val="12893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0B3AD5-6880-4B95-8EA8-C51EE271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profit = revenue - costs and expenses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A2261-81CC-476D-B767-6CC3EDDDDB40}"/>
              </a:ext>
            </a:extLst>
          </p:cNvPr>
          <p:cNvSpPr txBox="1"/>
          <p:nvPr/>
        </p:nvSpPr>
        <p:spPr>
          <a:xfrm>
            <a:off x="0" y="4621696"/>
            <a:ext cx="1219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</a:rPr>
              <a:t>Sold 5 t-shirts for $20 each.  Revenue = $100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</a:rPr>
              <a:t>Costs of those 5 t-shirts was $30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</a:rPr>
              <a:t>Profit =? 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60662E-7F01-47FB-92E9-7387624B1DB3}"/>
              </a:ext>
            </a:extLst>
          </p:cNvPr>
          <p:cNvSpPr/>
          <p:nvPr/>
        </p:nvSpPr>
        <p:spPr>
          <a:xfrm>
            <a:off x="407504" y="337930"/>
            <a:ext cx="2623931" cy="487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Calculation</a:t>
            </a:r>
          </a:p>
        </p:txBody>
      </p:sp>
      <p:sp>
        <p:nvSpPr>
          <p:cNvPr id="2" name="SMARTInkShape-1">
            <a:extLst>
              <a:ext uri="{FF2B5EF4-FFF2-40B4-BE49-F238E27FC236}">
                <a16:creationId xmlns:a16="http://schemas.microsoft.com/office/drawing/2014/main" id="{2D60DF46-D2F1-1F65-1E8D-ABE98B014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52475" y="6600825"/>
            <a:ext cx="38101" cy="9526"/>
          </a:xfrm>
          <a:custGeom>
            <a:avLst/>
            <a:gdLst/>
            <a:ahLst/>
            <a:cxnLst/>
            <a:rect l="0" t="0" r="0" b="0"/>
            <a:pathLst>
              <a:path w="38101" h="9526">
                <a:moveTo>
                  <a:pt x="38100" y="0"/>
                </a:moveTo>
                <a:lnTo>
                  <a:pt x="38100" y="0"/>
                </a:lnTo>
                <a:lnTo>
                  <a:pt x="0" y="9525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0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0B3AD5-6880-4B95-8EA8-C51EE271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Return on Investment = profit / Investment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A2261-81CC-476D-B767-6CC3EDDDDB40}"/>
              </a:ext>
            </a:extLst>
          </p:cNvPr>
          <p:cNvSpPr txBox="1"/>
          <p:nvPr/>
        </p:nvSpPr>
        <p:spPr>
          <a:xfrm>
            <a:off x="1" y="4562061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Sold 5 t-shirts for $20 each.  Revenue = $100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</a:rPr>
              <a:t>Costs of those 5 t-shirts was $30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</a:rPr>
              <a:t>Profit = $70 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</a:rPr>
              <a:t>ROI = ? 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9A489-8F86-4BC0-9881-15C53662460F}"/>
              </a:ext>
            </a:extLst>
          </p:cNvPr>
          <p:cNvSpPr/>
          <p:nvPr/>
        </p:nvSpPr>
        <p:spPr>
          <a:xfrm>
            <a:off x="407504" y="337930"/>
            <a:ext cx="2623931" cy="487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Calculation</a:t>
            </a:r>
          </a:p>
        </p:txBody>
      </p:sp>
    </p:spTree>
    <p:extLst>
      <p:ext uri="{BB962C8B-B14F-4D97-AF65-F5344CB8AC3E}">
        <p14:creationId xmlns:p14="http://schemas.microsoft.com/office/powerpoint/2010/main" val="1433104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626B27-0B02-4E27-97E6-C68138E811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3076" y="1154087"/>
            <a:ext cx="5100037" cy="4739065"/>
          </a:xfrm>
        </p:spPr>
        <p:txBody>
          <a:bodyPr/>
          <a:lstStyle/>
          <a:p>
            <a:r>
              <a:rPr lang="en-US" dirty="0"/>
              <a:t>Calculate Profit on each item. </a:t>
            </a:r>
          </a:p>
          <a:p>
            <a:r>
              <a:rPr lang="en-US" dirty="0"/>
              <a:t>Then calculate ROI:  </a:t>
            </a:r>
          </a:p>
          <a:p>
            <a:r>
              <a:rPr lang="en-US" dirty="0"/>
              <a:t>Your company sells t-shirts to customers for $10 each. Your cost to make and market the t-shirts is $6. Your profit is $4.  </a:t>
            </a:r>
          </a:p>
          <a:p>
            <a:r>
              <a:rPr lang="en-US" dirty="0"/>
              <a:t>What is your ROI? Rate of return?</a:t>
            </a:r>
          </a:p>
          <a:p>
            <a:r>
              <a:rPr lang="en-US" dirty="0"/>
              <a:t>Your company wants to achieve a return on investment of at least 75%. What price should the company sell the t-shirts for if they can’t lower the cost to make and market the t-shirts?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4616EF-DC4E-47FB-A756-1B4D365B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ROI Calculation</a:t>
            </a:r>
          </a:p>
        </p:txBody>
      </p:sp>
      <p:pic>
        <p:nvPicPr>
          <p:cNvPr id="5" name="Picture 4" descr="A person in a blue shirt&#10;&#10;Description automatically generated">
            <a:extLst>
              <a:ext uri="{FF2B5EF4-FFF2-40B4-BE49-F238E27FC236}">
                <a16:creationId xmlns:a16="http://schemas.microsoft.com/office/drawing/2014/main" id="{2E220749-728B-4CF6-AF4F-79C5616BC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37668" y="1746931"/>
            <a:ext cx="5218135" cy="3913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DA5C3-E684-42A9-A4B0-C98211BCD55C}"/>
              </a:ext>
            </a:extLst>
          </p:cNvPr>
          <p:cNvSpPr txBox="1"/>
          <p:nvPr/>
        </p:nvSpPr>
        <p:spPr>
          <a:xfrm>
            <a:off x="5834270" y="6944980"/>
            <a:ext cx="4833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designbolts.com/2014/02/08/3-despicable-me-vector-minion-t-shirt-designs-in-ai-ep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016653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0B3AD5-6880-4B95-8EA8-C51EE271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288" y="2618770"/>
            <a:ext cx="7583424" cy="126969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Break Even Point: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Revenue = the cost and expenses of making and distributing a product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FDBB1-6A8C-4430-A74F-2D077961CFF6}"/>
              </a:ext>
            </a:extLst>
          </p:cNvPr>
          <p:cNvSpPr txBox="1"/>
          <p:nvPr/>
        </p:nvSpPr>
        <p:spPr>
          <a:xfrm>
            <a:off x="268357" y="4611757"/>
            <a:ext cx="114697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Cat food manufacturer plans to make 200,000 cans of food that will be sold at $3 each to retailers. The cost of making the can is $2 per unit or a total of $400,000 for all the cans. How many cans must the manufacturer sell to reach the break even point? (Hint-total amount of costs and expenses divided by selling price)</a:t>
            </a:r>
            <a:endParaRPr lang="en-US" sz="24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485F6-1A55-48D3-B168-CAF8F76F8E1D}"/>
              </a:ext>
            </a:extLst>
          </p:cNvPr>
          <p:cNvSpPr/>
          <p:nvPr/>
        </p:nvSpPr>
        <p:spPr>
          <a:xfrm>
            <a:off x="407504" y="337930"/>
            <a:ext cx="2623931" cy="487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Calculation</a:t>
            </a:r>
          </a:p>
        </p:txBody>
      </p:sp>
    </p:spTree>
    <p:extLst>
      <p:ext uri="{BB962C8B-B14F-4D97-AF65-F5344CB8AC3E}">
        <p14:creationId xmlns:p14="http://schemas.microsoft.com/office/powerpoint/2010/main" val="40828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69F9A2-47A7-CC00-A7B6-B6805D9A3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https://www.youtube.com/watch?v=8s3bdVxuFBs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This is the 13 min paperclip TED talk video</a:t>
            </a:r>
          </a:p>
          <a:p>
            <a:r>
              <a:rPr lang="en-US" dirty="0"/>
              <a:t>You get 1 paperclip</a:t>
            </a:r>
          </a:p>
          <a:p>
            <a:r>
              <a:rPr lang="en-US" dirty="0"/>
              <a:t>Over the next week you’ll trade your paperclip as many times as you can, trying to get the best thing possible. </a:t>
            </a:r>
          </a:p>
          <a:p>
            <a:r>
              <a:rPr lang="en-US" dirty="0"/>
              <a:t>Your list of trades is due into Teams a week from the day this is assigned. </a:t>
            </a:r>
          </a:p>
          <a:p>
            <a:r>
              <a:rPr lang="en-US" dirty="0"/>
              <a:t>Best item (as voted on by the class) wins a pick from the bag of good or bad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DCD569-4F63-665E-F321-ED03BF6F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Bartering Assignment</a:t>
            </a:r>
          </a:p>
        </p:txBody>
      </p:sp>
    </p:spTree>
    <p:extLst>
      <p:ext uri="{BB962C8B-B14F-4D97-AF65-F5344CB8AC3E}">
        <p14:creationId xmlns:p14="http://schemas.microsoft.com/office/powerpoint/2010/main" val="12734530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57B4BF11F21345B20997717CDA30C6" ma:contentTypeVersion="12" ma:contentTypeDescription="Create a new document." ma:contentTypeScope="" ma:versionID="c624f27fae93c500efb73f69f6662374">
  <xsd:schema xmlns:xsd="http://www.w3.org/2001/XMLSchema" xmlns:xs="http://www.w3.org/2001/XMLSchema" xmlns:p="http://schemas.microsoft.com/office/2006/metadata/properties" xmlns:ns3="771fa23e-d6f3-4d07-90b4-be592549ff5b" xmlns:ns4="aec7f61e-5566-4536-8105-cc3e741150bf" targetNamespace="http://schemas.microsoft.com/office/2006/metadata/properties" ma:root="true" ma:fieldsID="c55ef6a5a70e57cb7ff22ca8034d25aa" ns3:_="" ns4:_="">
    <xsd:import namespace="771fa23e-d6f3-4d07-90b4-be592549ff5b"/>
    <xsd:import namespace="aec7f61e-5566-4536-8105-cc3e741150b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1fa23e-d6f3-4d07-90b4-be592549ff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7f61e-5566-4536-8105-cc3e741150b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A24E66-E7B4-413D-96D3-3C01D68266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1fa23e-d6f3-4d07-90b4-be592549ff5b"/>
    <ds:schemaRef ds:uri="aec7f61e-5566-4536-8105-cc3e741150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7881AB-310F-44AA-9DAC-85F9DA540E7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5ECD5AB-CED2-4438-8357-61EC2B9072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3278</TotalTime>
  <Words>1280</Words>
  <Application>Microsoft Office PowerPoint</Application>
  <PresentationFormat>Widescreen</PresentationFormat>
  <Paragraphs>114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Main Master</vt:lpstr>
      <vt:lpstr>Business, Marketing, Entrepreneurship, Digital Marketing, and Econ  Mrs. Schafer</vt:lpstr>
      <vt:lpstr>PowerPoint Presentation</vt:lpstr>
      <vt:lpstr>Pricing Exercise Recap</vt:lpstr>
      <vt:lpstr>Pricing</vt:lpstr>
      <vt:lpstr>Pricing</vt:lpstr>
      <vt:lpstr>Market Share vs. Market Position</vt:lpstr>
      <vt:lpstr>Revenue = PRODUCT PRICE X QUANTITY SOLD</vt:lpstr>
      <vt:lpstr>profit = revenue - costs and expenses</vt:lpstr>
      <vt:lpstr>Return on Investment = profit / Investment</vt:lpstr>
      <vt:lpstr>Another ROI Calculation</vt:lpstr>
      <vt:lpstr>Break Even Point:   Revenue = the cost and expenses of making and distributing a product</vt:lpstr>
      <vt:lpstr>Bartering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Business, Marketing, Entrepreneurship, Digital Marketing, and Econ  Mrs. Schafer Class # 12</dc:title>
  <dc:creator>Schafer, Ryfka</dc:creator>
  <cp:lastModifiedBy>Ryfka Schafer</cp:lastModifiedBy>
  <cp:revision>5</cp:revision>
  <dcterms:created xsi:type="dcterms:W3CDTF">2020-10-06T03:45:31Z</dcterms:created>
  <dcterms:modified xsi:type="dcterms:W3CDTF">2025-12-18T22:15:38Z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0x0101007D57B4BF11F21345B20997717CDA30C6</vt:lpwstr>
  </property>
</Properties>
</file>