
<file path=[Content_Types].xml><?xml version="1.0" encoding="utf-8"?>
<Types xmlns="http://schemas.openxmlformats.org/package/2006/content-types">
  <Default Extension="bin" ContentType="application/vnd.ms-office.activeX"/>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activeX/activeX1.xml" ContentType="application/vnd.ms-office.activeX+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8" r:id="rId4"/>
    <p:sldMasterId id="2147483849" r:id="rId5"/>
    <p:sldMasterId id="2147483861" r:id="rId6"/>
  </p:sldMasterIdLst>
  <p:notesMasterIdLst>
    <p:notesMasterId r:id="rId61"/>
  </p:notesMasterIdLst>
  <p:handoutMasterIdLst>
    <p:handoutMasterId r:id="rId62"/>
  </p:handoutMasterIdLst>
  <p:sldIdLst>
    <p:sldId id="420" r:id="rId7"/>
    <p:sldId id="421" r:id="rId8"/>
    <p:sldId id="422" r:id="rId9"/>
    <p:sldId id="286" r:id="rId10"/>
    <p:sldId id="441" r:id="rId11"/>
    <p:sldId id="436" r:id="rId12"/>
    <p:sldId id="423" r:id="rId13"/>
    <p:sldId id="434" r:id="rId14"/>
    <p:sldId id="430" r:id="rId15"/>
    <p:sldId id="263" r:id="rId16"/>
    <p:sldId id="288" r:id="rId17"/>
    <p:sldId id="264" r:id="rId18"/>
    <p:sldId id="266" r:id="rId19"/>
    <p:sldId id="267" r:id="rId20"/>
    <p:sldId id="272" r:id="rId21"/>
    <p:sldId id="273" r:id="rId22"/>
    <p:sldId id="437" r:id="rId23"/>
    <p:sldId id="274" r:id="rId24"/>
    <p:sldId id="275" r:id="rId25"/>
    <p:sldId id="276" r:id="rId26"/>
    <p:sldId id="294" r:id="rId27"/>
    <p:sldId id="442" r:id="rId28"/>
    <p:sldId id="425" r:id="rId29"/>
    <p:sldId id="435" r:id="rId30"/>
    <p:sldId id="429" r:id="rId31"/>
    <p:sldId id="432" r:id="rId32"/>
    <p:sldId id="431" r:id="rId33"/>
    <p:sldId id="433" r:id="rId34"/>
    <p:sldId id="440" r:id="rId35"/>
    <p:sldId id="319" r:id="rId36"/>
    <p:sldId id="320" r:id="rId37"/>
    <p:sldId id="328" r:id="rId38"/>
    <p:sldId id="329" r:id="rId39"/>
    <p:sldId id="330" r:id="rId40"/>
    <p:sldId id="331" r:id="rId41"/>
    <p:sldId id="332" r:id="rId42"/>
    <p:sldId id="333" r:id="rId43"/>
    <p:sldId id="334" r:id="rId44"/>
    <p:sldId id="335" r:id="rId45"/>
    <p:sldId id="336" r:id="rId46"/>
    <p:sldId id="337" r:id="rId47"/>
    <p:sldId id="338" r:id="rId48"/>
    <p:sldId id="339" r:id="rId49"/>
    <p:sldId id="257" r:id="rId50"/>
    <p:sldId id="258" r:id="rId51"/>
    <p:sldId id="426" r:id="rId52"/>
    <p:sldId id="427" r:id="rId53"/>
    <p:sldId id="277" r:id="rId54"/>
    <p:sldId id="278" r:id="rId55"/>
    <p:sldId id="428" r:id="rId56"/>
    <p:sldId id="287" r:id="rId57"/>
    <p:sldId id="301" r:id="rId58"/>
    <p:sldId id="302" r:id="rId59"/>
    <p:sldId id="439" r:id="rId60"/>
  </p:sldIdLst>
  <p:sldSz cx="9144000" cy="5143500" type="screen16x9"/>
  <p:notesSz cx="7010400" cy="92964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3" pos="2232" userDrawn="1">
          <p15:clr>
            <a:srgbClr val="A4A3A4"/>
          </p15:clr>
        </p15:guide>
        <p15:guide id="4"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6C24"/>
    <a:srgbClr val="E89024"/>
    <a:srgbClr val="414042"/>
    <a:srgbClr val="595959"/>
    <a:srgbClr val="E2F0D0"/>
    <a:srgbClr val="91CAAA"/>
    <a:srgbClr val="DBDADC"/>
    <a:srgbClr val="2597CB"/>
    <a:srgbClr val="2370AF"/>
    <a:srgbClr val="4EA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8D92C1-3EE9-41AD-A598-F566114ADEE3}" v="35" dt="2026-03-31T16:53:00.520"/>
  </p1510:revLst>
</p1510:revInfo>
</file>

<file path=ppt/tableStyles.xml><?xml version="1.0" encoding="utf-8"?>
<a:tblStyleLst xmlns:a="http://schemas.openxmlformats.org/drawingml/2006/main" def="{2D5ABB26-0587-4C30-8999-92F81FD0307C}">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autoAdjust="0"/>
    <p:restoredTop sz="67824" autoAdjust="0"/>
  </p:normalViewPr>
  <p:slideViewPr>
    <p:cSldViewPr snapToGrid="0">
      <p:cViewPr varScale="1">
        <p:scale>
          <a:sx n="62" d="100"/>
          <a:sy n="62" d="100"/>
        </p:scale>
        <p:origin x="1328" y="28"/>
      </p:cViewPr>
      <p:guideLst>
        <p:guide pos="2880"/>
        <p:guide pos="2232"/>
        <p:guide orient="horz" pos="1620"/>
      </p:guideLst>
    </p:cSldViewPr>
  </p:slideViewPr>
  <p:outlineViewPr>
    <p:cViewPr>
      <p:scale>
        <a:sx n="33" d="100"/>
        <a:sy n="33" d="100"/>
      </p:scale>
      <p:origin x="0" y="-2049"/>
    </p:cViewPr>
  </p:outlineViewPr>
  <p:notesTextViewPr>
    <p:cViewPr>
      <p:scale>
        <a:sx n="3" d="2"/>
        <a:sy n="3" d="2"/>
      </p:scale>
      <p:origin x="0" y="-1868"/>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61"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handoutMaster" Target="handoutMasters/handout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fka Schafer" userId="318b1ac2-30d3-4beb-81ce-7e66308a1db1" providerId="ADAL" clId="{6ADB8242-FC07-4006-B08C-E5283FADA5DD}"/>
    <pc:docChg chg="undo custSel addSld modSld sldOrd">
      <pc:chgData name="Ryfka Schafer" userId="318b1ac2-30d3-4beb-81ce-7e66308a1db1" providerId="ADAL" clId="{6ADB8242-FC07-4006-B08C-E5283FADA5DD}" dt="2026-03-31T16:53:00.520" v="74"/>
      <pc:docMkLst>
        <pc:docMk/>
      </pc:docMkLst>
      <pc:sldChg chg="delSp mod">
        <pc:chgData name="Ryfka Schafer" userId="318b1ac2-30d3-4beb-81ce-7e66308a1db1" providerId="ADAL" clId="{6ADB8242-FC07-4006-B08C-E5283FADA5DD}" dt="2026-03-12T19:44:42.410" v="3"/>
        <pc:sldMkLst>
          <pc:docMk/>
          <pc:sldMk cId="2486974362" sldId="423"/>
        </pc:sldMkLst>
      </pc:sldChg>
      <pc:sldChg chg="ord">
        <pc:chgData name="Ryfka Schafer" userId="318b1ac2-30d3-4beb-81ce-7e66308a1db1" providerId="ADAL" clId="{6ADB8242-FC07-4006-B08C-E5283FADA5DD}" dt="2026-03-10T19:46:03.180" v="1"/>
        <pc:sldMkLst>
          <pc:docMk/>
          <pc:sldMk cId="381971085" sldId="439"/>
        </pc:sldMkLst>
      </pc:sldChg>
      <pc:sldChg chg="addSp delSp modSp new mod modClrScheme chgLayout">
        <pc:chgData name="Ryfka Schafer" userId="318b1ac2-30d3-4beb-81ce-7e66308a1db1" providerId="ADAL" clId="{6ADB8242-FC07-4006-B08C-E5283FADA5DD}" dt="2026-03-31T16:53:00.520" v="74"/>
        <pc:sldMkLst>
          <pc:docMk/>
          <pc:sldMk cId="1845766375" sldId="442"/>
        </pc:sldMkLst>
        <pc:spChg chg="add mod">
          <ac:chgData name="Ryfka Schafer" userId="318b1ac2-30d3-4beb-81ce-7e66308a1db1" providerId="ADAL" clId="{6ADB8242-FC07-4006-B08C-E5283FADA5DD}" dt="2026-03-31T16:53:00.520" v="73"/>
          <ac:spMkLst>
            <pc:docMk/>
            <pc:sldMk cId="1845766375" sldId="442"/>
            <ac:spMk id="2" creationId="{83B27E4D-E349-2D89-9385-CC8B0F87C7CA}"/>
          </ac:spMkLst>
        </pc:spChg>
        <pc:spChg chg="add mod">
          <ac:chgData name="Ryfka Schafer" userId="318b1ac2-30d3-4beb-81ce-7e66308a1db1" providerId="ADAL" clId="{6ADB8242-FC07-4006-B08C-E5283FADA5DD}" dt="2026-03-31T16:53:00.520" v="73"/>
          <ac:spMkLst>
            <pc:docMk/>
            <pc:sldMk cId="1845766375" sldId="442"/>
            <ac:spMk id="3" creationId="{7038C405-3DF8-1E97-AD21-640D063E974D}"/>
          </ac:spMkLst>
        </pc:spChg>
        <pc:spChg chg="mod ord">
          <ac:chgData name="Ryfka Schafer" userId="318b1ac2-30d3-4beb-81ce-7e66308a1db1" providerId="ADAL" clId="{6ADB8242-FC07-4006-B08C-E5283FADA5DD}" dt="2026-03-19T20:15:54.024" v="8" actId="26606"/>
          <ac:spMkLst>
            <pc:docMk/>
            <pc:sldMk cId="1845766375" sldId="442"/>
            <ac:spMk id="4" creationId="{4DF5BFED-2D8B-9E19-8AAF-EE6F0C1B0053}"/>
          </ac:spMkLst>
        </pc:spChg>
        <pc:grpChg chg="add mod">
          <ac:chgData name="Ryfka Schafer" userId="318b1ac2-30d3-4beb-81ce-7e66308a1db1" providerId="ADAL" clId="{6ADB8242-FC07-4006-B08C-E5283FADA5DD}" dt="2026-03-31T16:53:00.520" v="74"/>
          <ac:grpSpMkLst>
            <pc:docMk/>
            <pc:sldMk cId="1845766375" sldId="442"/>
            <ac:grpSpMk id="5" creationId="{5580B938-0C84-6484-E5F9-77EFDF4FD269}"/>
          </ac:grpSpMkLst>
        </pc:grpChg>
        <pc:picChg chg="add del mod">
          <ac:chgData name="Ryfka Schafer" userId="318b1ac2-30d3-4beb-81ce-7e66308a1db1" providerId="ADAL" clId="{6ADB8242-FC07-4006-B08C-E5283FADA5DD}" dt="2026-03-19T20:18:58.067" v="61" actId="478"/>
          <ac:picMkLst>
            <pc:docMk/>
            <pc:sldMk cId="1845766375" sldId="442"/>
            <ac:picMk id="7" creationId="{0037FC28-1344-AC14-B606-31C35C1D6340}"/>
          </ac:picMkLst>
        </pc:picChg>
        <pc:picChg chg="add mod">
          <ac:chgData name="Ryfka Schafer" userId="318b1ac2-30d3-4beb-81ce-7e66308a1db1" providerId="ADAL" clId="{6ADB8242-FC07-4006-B08C-E5283FADA5DD}" dt="2026-03-19T20:18:17.574" v="55" actId="1076"/>
          <ac:picMkLst>
            <pc:docMk/>
            <pc:sldMk cId="1845766375" sldId="442"/>
            <ac:picMk id="1026" creationId="{6810562D-A18F-E4EE-8C63-A913FD9B39ED}"/>
          </ac:picMkLst>
        </pc:picChg>
        <pc:picChg chg="add mod">
          <ac:chgData name="Ryfka Schafer" userId="318b1ac2-30d3-4beb-81ce-7e66308a1db1" providerId="ADAL" clId="{6ADB8242-FC07-4006-B08C-E5283FADA5DD}" dt="2026-03-19T20:18:22.473" v="56" actId="1076"/>
          <ac:picMkLst>
            <pc:docMk/>
            <pc:sldMk cId="1845766375" sldId="442"/>
            <ac:picMk id="1027" creationId="{D61D2490-E096-21C9-028C-6805F23DFB7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6" name="Date Placeholder 5"/>
          <p:cNvSpPr>
            <a:spLocks noGrp="1"/>
          </p:cNvSpPr>
          <p:nvPr>
            <p:ph type="dt" sz="quarter" idx="1"/>
          </p:nvPr>
        </p:nvSpPr>
        <p:spPr>
          <a:xfrm>
            <a:off x="3970938" y="1"/>
            <a:ext cx="3037840" cy="466434"/>
          </a:xfrm>
          <a:prstGeom prst="rect">
            <a:avLst/>
          </a:prstGeom>
        </p:spPr>
        <p:txBody>
          <a:bodyPr vert="horz" lIns="93172" tIns="46586" rIns="93172" bIns="46586" rtlCol="0"/>
          <a:lstStyle>
            <a:lvl1pPr algn="r">
              <a:defRPr sz="1200"/>
            </a:lvl1pPr>
          </a:lstStyle>
          <a:p>
            <a:fld id="{4888D498-CA9B-8D40-B07D-EB92BE597C17}" type="datetimeFigureOut">
              <a:rPr lang="en-US" smtClean="0"/>
              <a:t>3/31/2026</a:t>
            </a:fld>
            <a:endParaRPr lang="en-US"/>
          </a:p>
        </p:txBody>
      </p:sp>
    </p:spTree>
    <p:extLst>
      <p:ext uri="{BB962C8B-B14F-4D97-AF65-F5344CB8AC3E}">
        <p14:creationId xmlns:p14="http://schemas.microsoft.com/office/powerpoint/2010/main" val="61527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200"/>
            </a:lvl1pPr>
          </a:lstStyle>
          <a:p>
            <a:fld id="{13AAC0AE-F2B6-6846-ABA1-89ECC7B4183F}" type="datetimeFigureOut">
              <a:rPr lang="en-US" smtClean="0"/>
              <a:t>3/31/2026</a:t>
            </a:fld>
            <a:endParaRPr lang="en-US"/>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200"/>
            </a:lvl1pPr>
          </a:lstStyle>
          <a:p>
            <a:fld id="{75EC4D74-3CE0-A14E-94A9-E88D6AC0C899}" type="slidenum">
              <a:rPr lang="en-US" smtClean="0"/>
              <a:t>‹#›</a:t>
            </a:fld>
            <a:endParaRPr lang="en-US"/>
          </a:p>
        </p:txBody>
      </p:sp>
    </p:spTree>
    <p:extLst>
      <p:ext uri="{BB962C8B-B14F-4D97-AF65-F5344CB8AC3E}">
        <p14:creationId xmlns:p14="http://schemas.microsoft.com/office/powerpoint/2010/main" val="52631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cbc.ca/radio/undertheinfluence/the-best-selling-cookie-in-the-world-is-a-copycat-brand-1.7080582#:~:text=Oreo%20is%20the%20best%2Dselling,as%20Na%2DBis%2DCo."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marklitwak.com/the-hangover-ii-tyson-tattoo-copyright-infringement-suit.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n.wikipedia.org/wiki/List_of_Saturday_Night_Live_commercial_parodies" TargetMode="External"/><Relationship Id="rId7" Type="http://schemas.openxmlformats.org/officeDocument/2006/relationships/hyperlink" Target="https://www.youtube.com/watch?v=mCXkgFjfr9M"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www.youtube.com/watch?v=vZRzJJcq6Rs" TargetMode="External"/><Relationship Id="rId5" Type="http://schemas.openxmlformats.org/officeDocument/2006/relationships/hyperlink" Target="https://www.youtube.com/watch?v=1khDR7yzZ0I" TargetMode="External"/><Relationship Id="rId4" Type="http://schemas.openxmlformats.org/officeDocument/2006/relationships/hyperlink" Target="https://www.youtube.com/watch?v=YvT_gqs5ETk"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youtube.com/watch?v=HglA72ogPCE"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www.youtube.com/watch?v=rog8ou-Zep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 computer programs may fall within the subject matter protected by both patents and copyrights.</a:t>
            </a:r>
          </a:p>
        </p:txBody>
      </p:sp>
      <p:sp>
        <p:nvSpPr>
          <p:cNvPr id="4" name="Slide Number Placeholder 3"/>
          <p:cNvSpPr>
            <a:spLocks noGrp="1"/>
          </p:cNvSpPr>
          <p:nvPr>
            <p:ph type="sldNum" sz="quarter" idx="5"/>
          </p:nvPr>
        </p:nvSpPr>
        <p:spPr/>
        <p:txBody>
          <a:bodyPr/>
          <a:lstStyle/>
          <a:p>
            <a:fld id="{75EC4D74-3CE0-A14E-94A9-E88D6AC0C899}" type="slidenum">
              <a:rPr lang="en-US" smtClean="0"/>
              <a:t>3</a:t>
            </a:fld>
            <a:endParaRPr lang="en-US"/>
          </a:p>
        </p:txBody>
      </p:sp>
    </p:spTree>
    <p:extLst>
      <p:ext uri="{BB962C8B-B14F-4D97-AF65-F5344CB8AC3E}">
        <p14:creationId xmlns:p14="http://schemas.microsoft.com/office/powerpoint/2010/main" val="3080075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The best-selling cookie in the world is a copycat brand | CBC Radio</a:t>
            </a:r>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5</a:t>
            </a:fld>
            <a:endParaRPr lang="en-US"/>
          </a:p>
        </p:txBody>
      </p:sp>
    </p:spTree>
    <p:extLst>
      <p:ext uri="{BB962C8B-B14F-4D97-AF65-F5344CB8AC3E}">
        <p14:creationId xmlns:p14="http://schemas.microsoft.com/office/powerpoint/2010/main" val="925176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encourage innovation and commercialization of technological advances. Incentivizes investors to publicly disclose their inventions in exchange for certain exclusive rights. </a:t>
            </a:r>
          </a:p>
        </p:txBody>
      </p:sp>
      <p:sp>
        <p:nvSpPr>
          <p:cNvPr id="4" name="Slide Number Placeholder 3"/>
          <p:cNvSpPr>
            <a:spLocks noGrp="1"/>
          </p:cNvSpPr>
          <p:nvPr>
            <p:ph type="sldNum" sz="quarter" idx="5"/>
          </p:nvPr>
        </p:nvSpPr>
        <p:spPr/>
        <p:txBody>
          <a:bodyPr/>
          <a:lstStyle/>
          <a:p>
            <a:fld id="{75EC4D74-3CE0-A14E-94A9-E88D6AC0C899}" type="slidenum">
              <a:rPr lang="en-US" smtClean="0"/>
              <a:t>7</a:t>
            </a:fld>
            <a:endParaRPr lang="en-US"/>
          </a:p>
        </p:txBody>
      </p:sp>
    </p:spTree>
    <p:extLst>
      <p:ext uri="{BB962C8B-B14F-4D97-AF65-F5344CB8AC3E}">
        <p14:creationId xmlns:p14="http://schemas.microsoft.com/office/powerpoint/2010/main" val="315866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6708FC-48B5-4999-8410-7FDD8960545B}"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A person does not have to register their work because </a:t>
            </a:r>
            <a:r>
              <a:rPr lang="en-US" sz="1800" u="sng" dirty="0">
                <a:solidFill>
                  <a:srgbClr val="000000"/>
                </a:solidFill>
                <a:effectLst/>
                <a:latin typeface="Times New Roman" panose="02020603050405020304" pitchFamily="18" charset="0"/>
                <a:ea typeface="Times New Roman" panose="02020603050405020304" pitchFamily="18" charset="0"/>
              </a:rPr>
              <a:t>copyright happens automatically (immediately) upon creation of the work</a:t>
            </a:r>
            <a:r>
              <a:rPr lang="en-US" sz="1800" dirty="0">
                <a:solidFill>
                  <a:srgbClr val="000000"/>
                </a:solidFill>
                <a:effectLst/>
                <a:latin typeface="Times New Roman" panose="02020603050405020304" pitchFamily="18" charset="0"/>
                <a:ea typeface="Times New Roman" panose="02020603050405020304" pitchFamily="18" charset="0"/>
              </a:rPr>
              <a:t>.  Thus you do not need to include a copyright notice or symbol.  However, it is strongly advised that people register their work with the Copyright Office to protect their interests and notify the public.  Plus, if you should want to file a legal suit against a copyright infringement, your work must first be registered.</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“Because current copyright law automatically “protests” original artwork from the moment it is created, even without a copyright notice, an artist always has the right to assert a claim for copyright infringement even if he or she has not previously registered the work in question…Artworks are protected, whether or not they are published or registered.  However, the bulk of the benefits that the copyright law offers to artists are available only through formally registering the art with the U.S. Copyright Office…” ~Graphics Artists Guild Handbook</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Changes to an original work is known as a derivative.</a:t>
            </a:r>
            <a:endParaRPr lang="en-US" sz="1800" dirty="0">
              <a:effectLst/>
              <a:latin typeface="Times New Roman" panose="02020603050405020304" pitchFamily="18" charset="0"/>
              <a:ea typeface="Times New Roman" panose="02020603050405020304" pitchFamily="18"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882110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1" dirty="0">
                <a:solidFill>
                  <a:srgbClr val="000000"/>
                </a:solidFill>
                <a:effectLst/>
                <a:highlight>
                  <a:srgbClr val="FFFF00"/>
                </a:highlight>
                <a:latin typeface="Times New Roman" panose="02020603050405020304" pitchFamily="18" charset="0"/>
                <a:ea typeface="Times New Roman" panose="02020603050405020304" pitchFamily="18" charset="0"/>
              </a:rPr>
              <a:t>Copyright Registration</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To register your work, contact the Library of Congress, Copyright Office.  Of course there are forms to fill out and a fee.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rPr>
              <a:t>Paper/Mail ~$65</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rPr>
              <a:t>Online ~$35</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rPr>
              <a:t>Also need to submit photos and/or copies of the work</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rPr>
              <a:t>Can register several un-published items together (cheaper) as a “collection”</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“It is more economical for an artist to register all images for a job, including rough sketches, as an unpublished collection for one fee as soon as finals are submitted to the client.  Otherwise, once the final artwork is published, it has to be registered separately from the unpublished images that were created for the same job.  To make sure that copyright registration occurs – and happens in a timely manner – it should be a routine function scheduled in the artist’s workflow for a project or assignment.  Although registration fees should not be charged to the client as line items, they should be figured into the artist’s cost of doing business when calculating rates.” ~Graphics Artists Guild Handbook</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The Copyright Act of 1909 required that copyrights expiring after the initial 28-year term had to be renewed… Because of this onerous provision, many valuable works, such as the famous Frank Capra movie </a:t>
            </a:r>
            <a:r>
              <a:rPr lang="en-US" sz="1800" i="1" dirty="0">
                <a:solidFill>
                  <a:srgbClr val="000000"/>
                </a:solidFill>
                <a:effectLst/>
                <a:latin typeface="Times New Roman" panose="02020603050405020304" pitchFamily="18" charset="0"/>
                <a:ea typeface="Times New Roman" panose="02020603050405020304" pitchFamily="18" charset="0"/>
              </a:rPr>
              <a:t>It’s a Wonderful Life</a:t>
            </a:r>
            <a:r>
              <a:rPr lang="en-US" sz="1800" dirty="0">
                <a:solidFill>
                  <a:srgbClr val="000000"/>
                </a:solidFill>
                <a:effectLst/>
                <a:latin typeface="Times New Roman" panose="02020603050405020304" pitchFamily="18" charset="0"/>
                <a:ea typeface="Times New Roman" panose="02020603050405020304" pitchFamily="18" charset="0"/>
              </a:rPr>
              <a:t> fell into the public domain, to the detriment of their creators or the creators’ heirs.  In 1992, the Automatic Renewal Act was passed to protect the “windows and orphans” of authors who did not, or could not, register the copyright’s renewal.”</a:t>
            </a:r>
          </a:p>
          <a:p>
            <a:pPr marL="0" marR="0">
              <a:spcBef>
                <a:spcPts val="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Optional Activity:</a:t>
            </a:r>
          </a:p>
          <a:p>
            <a:pPr marL="0" marR="0" lvl="0" indent="0" algn="l" defTabSz="914400" rtl="0" eaLnBrk="0" fontAlgn="base" latinLnBrk="0" hangingPunct="0">
              <a:lnSpc>
                <a:spcPct val="100000"/>
              </a:lnSpc>
              <a:spcBef>
                <a:spcPts val="0"/>
              </a:spcBef>
              <a:spcAft>
                <a:spcPts val="0"/>
              </a:spcAft>
              <a:buClrTx/>
              <a:buSzTx/>
              <a:buFontTx/>
              <a:buNone/>
              <a:tabLst/>
              <a:defRPr/>
            </a:pPr>
            <a:r>
              <a:rPr lang="en-US" sz="1800" dirty="0">
                <a:solidFill>
                  <a:srgbClr val="00B050"/>
                </a:solidFill>
                <a:effectLst/>
                <a:latin typeface="Times New Roman" panose="02020603050405020304" pitchFamily="18" charset="0"/>
                <a:ea typeface="Times New Roman" panose="02020603050405020304" pitchFamily="18" charset="0"/>
              </a:rPr>
              <a:t>US Copyright Office Questions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1DBF90A-14C1-451B-93A4-B0F9DEB3E78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32001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00A4F1-A8A8-459E-A76A-58E08EFF26D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marL="0" marR="0">
              <a:spcBef>
                <a:spcPts val="0"/>
              </a:spcBef>
              <a:spcAft>
                <a:spcPts val="0"/>
              </a:spcAft>
            </a:pPr>
            <a:r>
              <a:rPr lang="en-US" sz="1800" dirty="0">
                <a:solidFill>
                  <a:srgbClr val="000000"/>
                </a:solidFill>
                <a:effectLst/>
                <a:highlight>
                  <a:srgbClr val="FFFF00"/>
                </a:highlight>
                <a:latin typeface="Times New Roman" panose="02020603050405020304" pitchFamily="18" charset="0"/>
                <a:ea typeface="Times New Roman" panose="02020603050405020304" pitchFamily="18" charset="0"/>
              </a:rPr>
              <a:t>**</a:t>
            </a:r>
            <a:r>
              <a:rPr lang="en-US" sz="1800" dirty="0">
                <a:solidFill>
                  <a:srgbClr val="000000"/>
                </a:solidFill>
                <a:effectLst/>
                <a:latin typeface="Times New Roman" panose="02020603050405020304" pitchFamily="18" charset="0"/>
                <a:ea typeface="Times New Roman" panose="02020603050405020304" pitchFamily="18" charset="0"/>
              </a:rPr>
              <a:t>To document copyright, you must include:</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The symbol © or the word “Copyright” or the abbreviation “</a:t>
            </a:r>
            <a:r>
              <a:rPr lang="en-US" sz="1800" dirty="0" err="1">
                <a:solidFill>
                  <a:srgbClr val="000000"/>
                </a:solidFill>
                <a:effectLst/>
                <a:latin typeface="Times New Roman" panose="02020603050405020304" pitchFamily="18" charset="0"/>
                <a:ea typeface="Times New Roman" panose="02020603050405020304" pitchFamily="18" charset="0"/>
              </a:rPr>
              <a:t>Copr</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The first year of publication or the first year of the derivative work</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The name of the owner of the copyright</a:t>
            </a:r>
            <a:endParaRPr lang="en-US" sz="1800" dirty="0">
              <a:effectLst/>
              <a:latin typeface="Times New Roman" panose="02020603050405020304" pitchFamily="18" charset="0"/>
              <a:ea typeface="Times New Roman" panose="02020603050405020304" pitchFamily="18" charset="0"/>
            </a:endParaRPr>
          </a:p>
          <a:p>
            <a:pPr marL="914400" marR="0" indent="45720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Example:  © 2005 Jane Doe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For audio work, a verbal statement is acceptable.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The exclusive rights of copyrighted work may be transferred to another person.  Officially, this must be done in writing.  This could be done through a will.  For example – who owns the rights to Elvis’ songs?</a:t>
            </a:r>
            <a:endParaRPr lang="en-US" sz="1800" dirty="0">
              <a:effectLst/>
              <a:latin typeface="Times New Roman" panose="02020603050405020304" pitchFamily="18" charset="0"/>
              <a:ea typeface="Times New Roman" panose="02020603050405020304" pitchFamily="18"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275193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8016D00-53F0-4F9C-8ECD-D48327558B1B}"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marL="0" marR="0">
              <a:spcBef>
                <a:spcPts val="0"/>
              </a:spcBef>
              <a:spcAft>
                <a:spcPts val="0"/>
              </a:spcAft>
            </a:pPr>
            <a:r>
              <a:rPr lang="en-US" sz="1800" b="1" dirty="0">
                <a:solidFill>
                  <a:srgbClr val="000000"/>
                </a:solidFill>
                <a:effectLst/>
                <a:highlight>
                  <a:srgbClr val="FFFF00"/>
                </a:highlight>
                <a:latin typeface="Times New Roman" panose="02020603050405020304" pitchFamily="18" charset="0"/>
                <a:ea typeface="Times New Roman" panose="02020603050405020304" pitchFamily="18" charset="0"/>
              </a:rPr>
              <a:t>When can you use someone else’s work?</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If you receive </a:t>
            </a:r>
            <a:r>
              <a:rPr lang="en-US" sz="1800" u="sng" dirty="0">
                <a:solidFill>
                  <a:srgbClr val="000000"/>
                </a:solidFill>
                <a:effectLst/>
                <a:latin typeface="Times New Roman" panose="02020603050405020304" pitchFamily="18" charset="0"/>
                <a:ea typeface="Times New Roman" panose="02020603050405020304" pitchFamily="18" charset="0"/>
              </a:rPr>
              <a:t>written</a:t>
            </a:r>
            <a:r>
              <a:rPr lang="en-US" sz="1800" dirty="0">
                <a:solidFill>
                  <a:srgbClr val="000000"/>
                </a:solidFill>
                <a:effectLst/>
                <a:latin typeface="Times New Roman" panose="02020603050405020304" pitchFamily="18" charset="0"/>
                <a:ea typeface="Times New Roman" panose="02020603050405020304" pitchFamily="18" charset="0"/>
              </a:rPr>
              <a:t> permission from the creator</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If you stay within the rules of “fair use”</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If it is in the public domain</a:t>
            </a:r>
            <a:endParaRPr lang="en-US" sz="1800" dirty="0">
              <a:effectLst/>
              <a:latin typeface="Times New Roman" panose="02020603050405020304" pitchFamily="18" charset="0"/>
              <a:ea typeface="Times New Roman" panose="02020603050405020304" pitchFamily="18"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18501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8FD3702-A7B6-4B93-B822-1DB1C15407ED}"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p:spPr>
        <p:txBody>
          <a:bodyPr/>
          <a:lstStyle/>
          <a:p>
            <a:pPr marL="0" marR="0" indent="0">
              <a:spcBef>
                <a:spcPts val="0"/>
              </a:spcBef>
              <a:spcAft>
                <a:spcPts val="0"/>
              </a:spcAft>
            </a:pPr>
            <a:r>
              <a:rPr lang="en-US" sz="1800" b="1" dirty="0">
                <a:solidFill>
                  <a:srgbClr val="000000"/>
                </a:solidFill>
                <a:effectLst/>
                <a:highlight>
                  <a:srgbClr val="FFFF00"/>
                </a:highlight>
                <a:latin typeface="Times New Roman" panose="02020603050405020304" pitchFamily="18" charset="0"/>
                <a:ea typeface="Times New Roman" panose="02020603050405020304" pitchFamily="18" charset="0"/>
              </a:rPr>
              <a:t>Obtaining Permission</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Identify the owner</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State your intended use</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Set the terms</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Negotiate payment (if required)</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Get it in WRITING!</a:t>
            </a:r>
            <a:endParaRPr lang="en-US" sz="1800" dirty="0">
              <a:effectLst/>
              <a:latin typeface="Times New Roman" panose="02020603050405020304" pitchFamily="18" charset="0"/>
              <a:ea typeface="Times New Roman" panose="02020603050405020304" pitchFamily="18"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27262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F64888B-2935-4911-81CB-995E962E8DBD}"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p:spPr>
        <p:txBody>
          <a:bodyPr/>
          <a:lstStyle/>
          <a:p>
            <a:pPr marL="0" marR="0" indent="0">
              <a:spcBef>
                <a:spcPts val="0"/>
              </a:spcBef>
              <a:spcAft>
                <a:spcPts val="0"/>
              </a:spcAft>
            </a:pPr>
            <a:r>
              <a:rPr lang="en-US" sz="1800" b="1" dirty="0">
                <a:solidFill>
                  <a:srgbClr val="000000"/>
                </a:solidFill>
                <a:effectLst/>
                <a:highlight>
                  <a:srgbClr val="FFFF00"/>
                </a:highlight>
                <a:latin typeface="Times New Roman" panose="02020603050405020304" pitchFamily="18" charset="0"/>
                <a:ea typeface="Times New Roman" panose="02020603050405020304" pitchFamily="18" charset="0"/>
              </a:rPr>
              <a:t>Permission</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Permission is known as “licensing.”  A permission agreement is defined as “exclusive” if you are the only person who can use the work.</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Collective rights organizations act on behalf of multiple owners</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“For example, an artist creates an illustration for a magazine cover, but then the magazine wants to use it for a promotional poster.  The magazine has to go back to the artist for another license to use it on the poster and pay the artist an additional fee for that use.  If a graphic designer is hired to create  logo for a company that wants widespread use of the logo on all its products and merchandise, the designer must be paid accordingly for transferring all the rights to the company so it can use the design in any way it wants.” ~Graphics Artists Guild Handbook</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72410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205C2FB-4B6F-4407-BA4E-04B2C4809936}"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pPr marL="0" marR="0" indent="0">
              <a:spcBef>
                <a:spcPts val="0"/>
              </a:spcBef>
              <a:spcAft>
                <a:spcPts val="0"/>
              </a:spcAft>
            </a:pPr>
            <a:r>
              <a:rPr lang="en-US" sz="1200" b="1" dirty="0">
                <a:solidFill>
                  <a:srgbClr val="000000"/>
                </a:solidFill>
                <a:effectLst/>
                <a:highlight>
                  <a:srgbClr val="FFFF00"/>
                </a:highlight>
                <a:latin typeface="Times New Roman" panose="02020603050405020304" pitchFamily="18" charset="0"/>
                <a:ea typeface="Times New Roman" panose="02020603050405020304" pitchFamily="18" charset="0"/>
              </a:rPr>
              <a:t>Fair Use</a:t>
            </a:r>
            <a:endParaRPr lang="en-US" sz="1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200" dirty="0">
                <a:solidFill>
                  <a:srgbClr val="000000"/>
                </a:solidFill>
                <a:effectLst/>
                <a:latin typeface="Times New Roman" panose="02020603050405020304" pitchFamily="18" charset="0"/>
                <a:ea typeface="Times New Roman" panose="02020603050405020304" pitchFamily="18" charset="0"/>
              </a:rPr>
              <a:t>The Fair Use Guidelines for Educational Multimedia is an interpretation of the Copyright Act of 1976.  It is not a legal document, but is recognized by the House of Representatives’ Subcommittee on Courts and Intellectual Property.</a:t>
            </a:r>
            <a:endParaRPr lang="en-US" sz="1200" dirty="0">
              <a:effectLst/>
              <a:latin typeface="Times New Roman" panose="02020603050405020304" pitchFamily="18" charset="0"/>
              <a:ea typeface="Times New Roman" panose="02020603050405020304" pitchFamily="18" charset="0"/>
            </a:endParaRPr>
          </a:p>
          <a:p>
            <a:pPr marL="742950" marR="0" lvl="1" indent="-285750">
              <a:spcBef>
                <a:spcPts val="0"/>
              </a:spcBef>
              <a:spcAft>
                <a:spcPts val="0"/>
              </a:spcAft>
              <a:buSzPts val="1200"/>
              <a:buFont typeface="Times New Roman" panose="02020603050405020304" pitchFamily="18" charset="0"/>
              <a:buChar char="-"/>
              <a:tabLst>
                <a:tab pos="365760" algn="l"/>
              </a:tabLst>
            </a:pPr>
            <a:r>
              <a:rPr lang="en-US" sz="1200" dirty="0">
                <a:solidFill>
                  <a:srgbClr val="000000"/>
                </a:solidFill>
                <a:effectLst/>
                <a:latin typeface="Times New Roman" panose="02020603050405020304" pitchFamily="18" charset="0"/>
                <a:ea typeface="Times New Roman" panose="02020603050405020304" pitchFamily="18" charset="0"/>
              </a:rPr>
              <a:t>Purpose:</a:t>
            </a:r>
            <a:br>
              <a:rPr lang="en-US" sz="1200" dirty="0">
                <a:solidFill>
                  <a:srgbClr val="000000"/>
                </a:solidFill>
                <a:effectLst/>
                <a:latin typeface="Times New Roman" panose="02020603050405020304" pitchFamily="18" charset="0"/>
                <a:ea typeface="Times New Roman" panose="02020603050405020304" pitchFamily="18" charset="0"/>
              </a:rPr>
            </a:br>
            <a:r>
              <a:rPr lang="en-US" sz="1200" dirty="0">
                <a:solidFill>
                  <a:srgbClr val="000000"/>
                </a:solidFill>
                <a:effectLst/>
                <a:latin typeface="Times New Roman" panose="02020603050405020304" pitchFamily="18" charset="0"/>
                <a:ea typeface="Times New Roman" panose="02020603050405020304" pitchFamily="18" charset="0"/>
              </a:rPr>
              <a:t>Copying is for nonprofit, educational use </a:t>
            </a:r>
            <a:br>
              <a:rPr lang="en-US" sz="1200" dirty="0">
                <a:solidFill>
                  <a:srgbClr val="000000"/>
                </a:solidFill>
                <a:effectLst/>
                <a:latin typeface="Times New Roman" panose="02020603050405020304" pitchFamily="18" charset="0"/>
                <a:ea typeface="Times New Roman" panose="02020603050405020304" pitchFamily="18" charset="0"/>
              </a:rPr>
            </a:br>
            <a:r>
              <a:rPr lang="en-US" sz="1200" dirty="0">
                <a:solidFill>
                  <a:srgbClr val="000000"/>
                </a:solidFill>
                <a:effectLst/>
                <a:latin typeface="Times New Roman" panose="02020603050405020304" pitchFamily="18" charset="0"/>
                <a:ea typeface="Times New Roman" panose="02020603050405020304" pitchFamily="18" charset="0"/>
              </a:rPr>
              <a:t>Criticism, comment, news reporting, teaching, scholarship, research</a:t>
            </a:r>
            <a:endParaRPr lang="en-US" sz="1200" dirty="0">
              <a:effectLst/>
              <a:latin typeface="Times New Roman" panose="02020603050405020304" pitchFamily="18" charset="0"/>
              <a:ea typeface="Times New Roman" panose="02020603050405020304" pitchFamily="18" charset="0"/>
            </a:endParaRPr>
          </a:p>
          <a:p>
            <a:pPr marL="742950" marR="0" lvl="1" indent="-285750">
              <a:spcBef>
                <a:spcPts val="0"/>
              </a:spcBef>
              <a:spcAft>
                <a:spcPts val="0"/>
              </a:spcAft>
              <a:buSzPts val="1200"/>
              <a:buFont typeface="Times New Roman" panose="02020603050405020304" pitchFamily="18" charset="0"/>
              <a:buChar char="-"/>
              <a:tabLst>
                <a:tab pos="365760" algn="l"/>
              </a:tabLst>
            </a:pPr>
            <a:r>
              <a:rPr lang="en-US" sz="1200" dirty="0">
                <a:solidFill>
                  <a:srgbClr val="000000"/>
                </a:solidFill>
                <a:effectLst/>
                <a:latin typeface="Times New Roman" panose="02020603050405020304" pitchFamily="18" charset="0"/>
                <a:ea typeface="Times New Roman" panose="02020603050405020304" pitchFamily="18" charset="0"/>
              </a:rPr>
              <a:t>Nature:</a:t>
            </a:r>
            <a:br>
              <a:rPr lang="en-US" sz="1200" dirty="0">
                <a:solidFill>
                  <a:srgbClr val="000000"/>
                </a:solidFill>
                <a:effectLst/>
                <a:latin typeface="Times New Roman" panose="02020603050405020304" pitchFamily="18" charset="0"/>
                <a:ea typeface="Times New Roman" panose="02020603050405020304" pitchFamily="18" charset="0"/>
              </a:rPr>
            </a:br>
            <a:r>
              <a:rPr lang="en-US" sz="1200" dirty="0">
                <a:solidFill>
                  <a:srgbClr val="000000"/>
                </a:solidFill>
                <a:effectLst/>
                <a:latin typeface="Times New Roman" panose="02020603050405020304" pitchFamily="18" charset="0"/>
                <a:ea typeface="Times New Roman" panose="02020603050405020304" pitchFamily="18" charset="0"/>
              </a:rPr>
              <a:t>Material is mainly facts (rather than creative expression)</a:t>
            </a:r>
            <a:endParaRPr lang="en-US" sz="1200" dirty="0">
              <a:effectLst/>
              <a:latin typeface="Times New Roman" panose="02020603050405020304" pitchFamily="18" charset="0"/>
              <a:ea typeface="Times New Roman" panose="02020603050405020304" pitchFamily="18" charset="0"/>
            </a:endParaRPr>
          </a:p>
          <a:p>
            <a:pPr marL="742950" marR="0" lvl="1" indent="-285750">
              <a:spcBef>
                <a:spcPts val="0"/>
              </a:spcBef>
              <a:spcAft>
                <a:spcPts val="0"/>
              </a:spcAft>
              <a:buSzPts val="1200"/>
              <a:buFont typeface="Times New Roman" panose="02020603050405020304" pitchFamily="18" charset="0"/>
              <a:buChar char="-"/>
              <a:tabLst>
                <a:tab pos="365760" algn="l"/>
              </a:tabLst>
            </a:pPr>
            <a:r>
              <a:rPr lang="en-US" sz="1200" dirty="0">
                <a:solidFill>
                  <a:srgbClr val="000000"/>
                </a:solidFill>
                <a:effectLst/>
                <a:latin typeface="Times New Roman" panose="02020603050405020304" pitchFamily="18" charset="0"/>
                <a:ea typeface="Times New Roman" panose="02020603050405020304" pitchFamily="18" charset="0"/>
              </a:rPr>
              <a:t>Amount:</a:t>
            </a:r>
            <a:br>
              <a:rPr lang="en-US" sz="1200" dirty="0">
                <a:solidFill>
                  <a:srgbClr val="000000"/>
                </a:solidFill>
                <a:effectLst/>
                <a:latin typeface="Times New Roman" panose="02020603050405020304" pitchFamily="18" charset="0"/>
                <a:ea typeface="Times New Roman" panose="02020603050405020304" pitchFamily="18" charset="0"/>
              </a:rPr>
            </a:br>
            <a:r>
              <a:rPr lang="en-US" sz="1200" dirty="0">
                <a:solidFill>
                  <a:srgbClr val="000000"/>
                </a:solidFill>
                <a:effectLst/>
                <a:latin typeface="Times New Roman" panose="02020603050405020304" pitchFamily="18" charset="0"/>
                <a:ea typeface="Times New Roman" panose="02020603050405020304" pitchFamily="18" charset="0"/>
              </a:rPr>
              <a:t>Small portions have been used to make a point (not whole sections) </a:t>
            </a:r>
            <a:br>
              <a:rPr lang="en-US" sz="1200" dirty="0">
                <a:solidFill>
                  <a:srgbClr val="000000"/>
                </a:solidFill>
                <a:effectLst/>
                <a:latin typeface="Times New Roman" panose="02020603050405020304" pitchFamily="18" charset="0"/>
                <a:ea typeface="Times New Roman" panose="02020603050405020304" pitchFamily="18" charset="0"/>
              </a:rPr>
            </a:br>
            <a:r>
              <a:rPr lang="en-US" sz="1200" dirty="0">
                <a:solidFill>
                  <a:srgbClr val="000000"/>
                </a:solidFill>
                <a:effectLst/>
                <a:latin typeface="Times New Roman" panose="02020603050405020304" pitchFamily="18" charset="0"/>
                <a:ea typeface="Times New Roman" panose="02020603050405020304" pitchFamily="18" charset="0"/>
              </a:rPr>
              <a:t>(approximately 10%)</a:t>
            </a:r>
            <a:endParaRPr lang="en-US" sz="1200" dirty="0">
              <a:effectLst/>
              <a:latin typeface="Times New Roman" panose="02020603050405020304" pitchFamily="18" charset="0"/>
              <a:ea typeface="Times New Roman" panose="02020603050405020304" pitchFamily="18" charset="0"/>
            </a:endParaRPr>
          </a:p>
          <a:p>
            <a:pPr marL="742950" marR="0" lvl="1" indent="-285750">
              <a:spcBef>
                <a:spcPts val="0"/>
              </a:spcBef>
              <a:spcAft>
                <a:spcPts val="0"/>
              </a:spcAft>
              <a:buSzPts val="1200"/>
              <a:buFont typeface="Times New Roman" panose="02020603050405020304" pitchFamily="18" charset="0"/>
              <a:buChar char="-"/>
              <a:tabLst>
                <a:tab pos="365760" algn="l"/>
              </a:tabLst>
            </a:pPr>
            <a:r>
              <a:rPr lang="en-US" sz="1200" dirty="0">
                <a:solidFill>
                  <a:srgbClr val="000000"/>
                </a:solidFill>
                <a:effectLst/>
                <a:latin typeface="Times New Roman" panose="02020603050405020304" pitchFamily="18" charset="0"/>
                <a:ea typeface="Times New Roman" panose="02020603050405020304" pitchFamily="18" charset="0"/>
              </a:rPr>
              <a:t>Effect: </a:t>
            </a:r>
            <a:br>
              <a:rPr lang="en-US" sz="1200" dirty="0">
                <a:solidFill>
                  <a:srgbClr val="000000"/>
                </a:solidFill>
                <a:effectLst/>
                <a:latin typeface="Times New Roman" panose="02020603050405020304" pitchFamily="18" charset="0"/>
                <a:ea typeface="Times New Roman" panose="02020603050405020304" pitchFamily="18" charset="0"/>
              </a:rPr>
            </a:br>
            <a:r>
              <a:rPr lang="en-US" sz="1200" dirty="0">
                <a:solidFill>
                  <a:srgbClr val="000000"/>
                </a:solidFill>
                <a:effectLst/>
                <a:latin typeface="Times New Roman" panose="02020603050405020304" pitchFamily="18" charset="0"/>
                <a:ea typeface="Times New Roman" panose="02020603050405020304" pitchFamily="18" charset="0"/>
              </a:rPr>
              <a:t>Using the material is not taking potential sales away from the original work</a:t>
            </a:r>
            <a:endParaRPr lang="en-US" sz="1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200" dirty="0">
                <a:solidFill>
                  <a:srgbClr val="000000"/>
                </a:solidFill>
                <a:effectLst/>
                <a:latin typeface="Times New Roman" panose="02020603050405020304" pitchFamily="18" charset="0"/>
                <a:ea typeface="Times New Roman" panose="02020603050405020304" pitchFamily="18" charset="0"/>
              </a:rPr>
              <a:t> </a:t>
            </a:r>
          </a:p>
          <a:p>
            <a:pPr marL="0" marR="0" indent="0">
              <a:spcBef>
                <a:spcPts val="0"/>
              </a:spcBef>
              <a:spcAft>
                <a:spcPts val="0"/>
              </a:spcAft>
            </a:pPr>
            <a:r>
              <a:rPr lang="en-US" sz="1200" dirty="0">
                <a:solidFill>
                  <a:srgbClr val="000000"/>
                </a:solidFill>
                <a:effectLst/>
                <a:latin typeface="Times New Roman" panose="02020603050405020304" pitchFamily="18" charset="0"/>
                <a:ea typeface="Times New Roman" panose="02020603050405020304" pitchFamily="18" charset="0"/>
              </a:rPr>
              <a:t>**Good time to stop and do the Fair Use Checklist</a:t>
            </a:r>
            <a:endParaRPr lang="en-US" sz="1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endParaRPr lang="en-US" sz="1200" dirty="0">
              <a:solidFill>
                <a:srgbClr val="00B050"/>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200" dirty="0">
                <a:solidFill>
                  <a:srgbClr val="00B050"/>
                </a:solidFill>
                <a:effectLst/>
                <a:latin typeface="Times New Roman" panose="02020603050405020304" pitchFamily="18" charset="0"/>
                <a:ea typeface="Times New Roman" panose="02020603050405020304" pitchFamily="18" charset="0"/>
              </a:rPr>
              <a:t>Optional Activities:</a:t>
            </a:r>
          </a:p>
          <a:p>
            <a:pPr marL="0" marR="0" indent="0">
              <a:spcBef>
                <a:spcPts val="0"/>
              </a:spcBef>
              <a:spcAft>
                <a:spcPts val="0"/>
              </a:spcAft>
            </a:pPr>
            <a:r>
              <a:rPr lang="en-US" sz="1200" dirty="0">
                <a:solidFill>
                  <a:srgbClr val="00B050"/>
                </a:solidFill>
                <a:effectLst/>
                <a:latin typeface="Times New Roman" panose="02020603050405020304" pitchFamily="18" charset="0"/>
                <a:ea typeface="Times New Roman" panose="02020603050405020304" pitchFamily="18" charset="0"/>
              </a:rPr>
              <a:t>Read the “Are tattoos a public display” which describes a controversy over Dennis Rodman. (p. 52, CP&amp;S)</a:t>
            </a:r>
            <a:endParaRPr lang="en-US" sz="1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200" dirty="0">
                <a:solidFill>
                  <a:srgbClr val="000000"/>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200" dirty="0">
                <a:solidFill>
                  <a:srgbClr val="00B050"/>
                </a:solidFill>
                <a:effectLst/>
                <a:latin typeface="Times New Roman" panose="02020603050405020304" pitchFamily="18" charset="0"/>
                <a:ea typeface="Times New Roman" panose="02020603050405020304" pitchFamily="18" charset="0"/>
              </a:rPr>
              <a:t>Mike Tyson’s Tattoo in the movie “The Hangover II”</a:t>
            </a:r>
            <a:endParaRPr lang="en-US" sz="1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200" u="sng" dirty="0">
                <a:solidFill>
                  <a:srgbClr val="00B050"/>
                </a:solidFill>
                <a:effectLst/>
                <a:latin typeface="Times New Roman" panose="02020603050405020304" pitchFamily="18" charset="0"/>
                <a:ea typeface="Times New Roman" panose="02020603050405020304" pitchFamily="18" charset="0"/>
                <a:hlinkClick r:id="rId3"/>
              </a:rPr>
              <a:t>http://www.marklitwak.com/the-hangover-ii-tyson-tattoo-copyright-infringement-suit.html</a:t>
            </a:r>
            <a:r>
              <a:rPr lang="en-US" sz="1200" dirty="0">
                <a:solidFill>
                  <a:srgbClr val="00B050"/>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200" dirty="0">
                <a:solidFill>
                  <a:srgbClr val="00B050"/>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200" dirty="0">
                <a:solidFill>
                  <a:srgbClr val="00B050"/>
                </a:solidFill>
                <a:effectLst/>
                <a:latin typeface="Times New Roman" panose="02020603050405020304" pitchFamily="18" charset="0"/>
                <a:ea typeface="Times New Roman" panose="02020603050405020304" pitchFamily="18" charset="0"/>
              </a:rPr>
              <a:t>Evaluate a situation using the “Checklist for Fair Use.” (Possibly use a cover-band scenario)</a:t>
            </a:r>
            <a:endParaRPr lang="en-US" sz="12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200" dirty="0">
                <a:solidFill>
                  <a:srgbClr val="00B050"/>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pPr marL="457200" marR="0" indent="-457200">
              <a:spcBef>
                <a:spcPts val="0"/>
              </a:spcBef>
              <a:spcAft>
                <a:spcPts val="0"/>
              </a:spcAft>
            </a:pPr>
            <a:r>
              <a:rPr lang="en-US" sz="1200" dirty="0">
                <a:solidFill>
                  <a:srgbClr val="00B050"/>
                </a:solidFill>
                <a:effectLst/>
                <a:latin typeface="Times New Roman" panose="02020603050405020304" pitchFamily="18" charset="0"/>
                <a:ea typeface="Times New Roman" panose="02020603050405020304" pitchFamily="18" charset="0"/>
              </a:rPr>
              <a:t>Article - Cover Bands</a:t>
            </a:r>
            <a:endParaRPr lang="en-US" sz="1200" dirty="0">
              <a:effectLst/>
              <a:latin typeface="Times New Roman" panose="02020603050405020304" pitchFamily="18" charset="0"/>
              <a:ea typeface="Times New Roman" panose="02020603050405020304" pitchFamily="18"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191465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6CE5B3C-B4D4-4435-BF26-CE138E245C6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p:spPr>
        <p:txBody>
          <a:bodyPr/>
          <a:lstStyle/>
          <a:p>
            <a:pPr marL="0" marR="0" indent="0">
              <a:spcBef>
                <a:spcPts val="0"/>
              </a:spcBef>
              <a:spcAft>
                <a:spcPts val="0"/>
              </a:spcAft>
            </a:pPr>
            <a:r>
              <a:rPr lang="en-US" sz="1800" b="1" dirty="0">
                <a:solidFill>
                  <a:srgbClr val="000000"/>
                </a:solidFill>
                <a:effectLst/>
                <a:highlight>
                  <a:srgbClr val="FFFF00"/>
                </a:highlight>
                <a:latin typeface="Times New Roman" panose="02020603050405020304" pitchFamily="18" charset="0"/>
                <a:ea typeface="Times New Roman" panose="02020603050405020304" pitchFamily="18" charset="0"/>
              </a:rPr>
              <a:t>Parody</a:t>
            </a:r>
            <a:r>
              <a:rPr lang="en-US" sz="1800" dirty="0">
                <a:solidFill>
                  <a:srgbClr val="000000"/>
                </a:solidFill>
                <a:effectLst/>
                <a:latin typeface="Times New Roman" panose="02020603050405020304" pitchFamily="18" charset="0"/>
                <a:ea typeface="Times New Roman" panose="02020603050405020304" pitchFamily="18" charset="0"/>
              </a:rPr>
              <a:t> = imitating the characteristic style of some other work in a satirical or humorous way.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To receive protection under the fair use guidelines, a work must</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contain only enough of the original work to make it identifiable as a parody</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365760" algn="l"/>
              </a:tabLst>
            </a:pPr>
            <a:r>
              <a:rPr lang="en-US" sz="1800" dirty="0">
                <a:solidFill>
                  <a:srgbClr val="000000"/>
                </a:solidFill>
                <a:effectLst/>
                <a:latin typeface="Times New Roman" panose="02020603050405020304" pitchFamily="18" charset="0"/>
                <a:ea typeface="Times New Roman" panose="02020603050405020304" pitchFamily="18" charset="0"/>
              </a:rPr>
              <a:t>create a new work that can stand on its own, while criticizing the original work</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For example, Weird Al Yankovic changed Michael Jackson’s “Beat It” into “Eat It.”  On a side note though, Weird Al does get permission to make his adaptations.  Parodies don’t go over too well because they tend to be negative.  Saturday Night Live and other talk shows are known for turning common songs or themes into satire topics and comedy.  (p. 56, CP&amp;S)</a:t>
            </a:r>
          </a:p>
          <a:p>
            <a:pPr marL="0" marR="0" indent="0">
              <a:spcBef>
                <a:spcPts val="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a:lnSpc>
                <a:spcPct val="107000"/>
              </a:lnSpc>
              <a:spcBef>
                <a:spcPts val="0"/>
              </a:spcBef>
              <a:spcAft>
                <a:spcPts val="3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Show SNL Skits  </a:t>
            </a: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https://en.wikipedia.org/wiki/List_of_Saturday_Night_Live_commercial_parodies</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3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Amazon Echo </a:t>
            </a: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https://www.youtube.com/watch?v=YvT_gqs5ETk</a:t>
            </a:r>
            <a:r>
              <a:rPr lang="en-US" sz="1800" dirty="0">
                <a:effectLst/>
                <a:latin typeface="Calibri" panose="020F0502020204030204" pitchFamily="34" charset="0"/>
                <a:ea typeface="Calibri" panose="020F0502020204030204" pitchFamily="34" charset="0"/>
                <a:cs typeface="Times New Roman" panose="02020603050405020304" pitchFamily="18" charset="0"/>
              </a:rPr>
              <a:t> (pause right at beginning to show product)</a:t>
            </a:r>
          </a:p>
          <a:p>
            <a:pPr marL="0" marR="0">
              <a:lnSpc>
                <a:spcPct val="107000"/>
              </a:lnSpc>
              <a:spcBef>
                <a:spcPts val="0"/>
              </a:spcBef>
              <a:spcAft>
                <a:spcPts val="3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Downton Abbey </a:t>
            </a: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5"/>
              </a:rPr>
              <a:t>https://www.youtube.com/watch?v=1khDR7yzZ0I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3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GE Appliances (for men) </a:t>
            </a: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a:rPr>
              <a:t>https://www.youtube.com/watch?v=vZRzJJcq6Rs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3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Star Wars (characters get old) </a:t>
            </a: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https://www.youtube.com/watch?v=mCXkgFjfr9M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u="sng" dirty="0">
                <a:solidFill>
                  <a:srgbClr val="00B050"/>
                </a:solidFill>
                <a:effectLst/>
                <a:latin typeface="Times New Roman" panose="02020603050405020304" pitchFamily="18" charset="0"/>
                <a:ea typeface="Times New Roman" panose="02020603050405020304" pitchFamily="18" charset="0"/>
                <a:hlinkClick r:id="rId3"/>
              </a:rPr>
              <a:t>https://en.wikipedia.org/wiki/List_of_Saturday_Night_Live_commercial_parodies</a:t>
            </a:r>
            <a:r>
              <a:rPr lang="en-US" sz="1800" dirty="0">
                <a:solidFill>
                  <a:srgbClr val="00B05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Optional Activities: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B050"/>
                </a:solidFill>
                <a:effectLst/>
                <a:latin typeface="Times New Roman" panose="02020603050405020304" pitchFamily="18" charset="0"/>
                <a:ea typeface="Times New Roman" panose="02020603050405020304" pitchFamily="18" charset="0"/>
              </a:rPr>
              <a:t>Music Comparison – listen and read legal results</a:t>
            </a:r>
            <a:endParaRPr lang="en-US" sz="1800" dirty="0">
              <a:effectLst/>
              <a:latin typeface="Times New Roman" panose="02020603050405020304" pitchFamily="18" charset="0"/>
              <a:ea typeface="Times New Roman" panose="02020603050405020304" pitchFamily="18" charset="0"/>
            </a:endParaRPr>
          </a:p>
          <a:p>
            <a:pPr marL="457200" marR="0" indent="-457200">
              <a:spcBef>
                <a:spcPts val="0"/>
              </a:spcBef>
              <a:spcAft>
                <a:spcPts val="0"/>
              </a:spcAft>
            </a:pPr>
            <a:r>
              <a:rPr lang="en-US" sz="1800" dirty="0">
                <a:solidFill>
                  <a:srgbClr val="00B050"/>
                </a:solidFill>
                <a:effectLst/>
                <a:latin typeface="Times New Roman" panose="02020603050405020304" pitchFamily="18" charset="0"/>
                <a:ea typeface="Times New Roman" panose="02020603050405020304" pitchFamily="18" charset="0"/>
              </a:rPr>
              <a:t>Listen to some Weird Al (He usually gets permission – read article regarding what he did when Lady Gaga wouldn’t give permission)</a:t>
            </a:r>
            <a:endParaRPr lang="en-US" sz="1800" dirty="0">
              <a:effectLst/>
              <a:latin typeface="Times New Roman" panose="02020603050405020304" pitchFamily="18" charset="0"/>
              <a:ea typeface="Times New Roman" panose="02020603050405020304" pitchFamily="18" charset="0"/>
            </a:endParaRPr>
          </a:p>
          <a:p>
            <a:pPr marL="457200" marR="0" indent="-457200">
              <a:spcBef>
                <a:spcPts val="0"/>
              </a:spcBef>
              <a:spcAft>
                <a:spcPts val="0"/>
              </a:spcAft>
            </a:pPr>
            <a:r>
              <a:rPr lang="en-US" sz="1800" dirty="0">
                <a:solidFill>
                  <a:srgbClr val="00B05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B050"/>
                </a:solidFill>
                <a:effectLst/>
                <a:latin typeface="Times New Roman" panose="02020603050405020304" pitchFamily="18" charset="0"/>
                <a:ea typeface="Times New Roman" panose="02020603050405020304" pitchFamily="18" charset="0"/>
              </a:rPr>
              <a:t>Read Metallica vs Napster Article #1 to the class which addresses the many people who are affected by music piracy  (or, wait until “piracy” topic later)</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b="1" dirty="0">
                <a:solidFill>
                  <a:srgbClr val="000000"/>
                </a:solidFill>
                <a:effectLst/>
                <a:highlight>
                  <a:srgbClr val="FFFF00"/>
                </a:highligh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65081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AD6122-47DC-42AB-877C-F5753744C044}"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pPr marL="0" marR="0" indent="0">
              <a:spcBef>
                <a:spcPts val="0"/>
              </a:spcBef>
              <a:spcAft>
                <a:spcPts val="0"/>
              </a:spcAft>
            </a:pPr>
            <a:r>
              <a:rPr lang="en-US" sz="1800" b="1" dirty="0">
                <a:solidFill>
                  <a:srgbClr val="000000"/>
                </a:solidFill>
                <a:effectLst/>
                <a:highlight>
                  <a:srgbClr val="FFFF00"/>
                </a:highlight>
                <a:latin typeface="Times New Roman" panose="02020603050405020304" pitchFamily="18" charset="0"/>
                <a:ea typeface="Times New Roman" panose="02020603050405020304" pitchFamily="18" charset="0"/>
              </a:rPr>
              <a:t>What is the public domain?</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“The Public Domain is a body of intellectual material which is not copyright or under patent and may be used freely by the public.”</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Certain government documents</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Works that are no longer protected by copyright laws (patent or copyright has expired)</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Work that the author has given explicit permission to use freely (no restrictions) = ‘I grant this to the public domain’</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Known facts, data, or statistics</a:t>
            </a:r>
            <a:endParaRPr lang="en-US" sz="1800" dirty="0">
              <a:effectLst/>
              <a:latin typeface="Times New Roman" panose="02020603050405020304" pitchFamily="18" charset="0"/>
              <a:ea typeface="Times New Roman" panose="02020603050405020304" pitchFamily="18"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99865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F9477ED-0143-4AA2-950C-4F9697DEA3B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p:spPr>
        <p:txBody>
          <a:bodyPr/>
          <a:lstStyle/>
          <a:p>
            <a:pPr marL="0" marR="0" indent="0">
              <a:spcBef>
                <a:spcPts val="0"/>
              </a:spcBef>
              <a:spcAft>
                <a:spcPts val="0"/>
              </a:spcAft>
            </a:pPr>
            <a:r>
              <a:rPr lang="en-US" sz="1800" b="1" dirty="0">
                <a:solidFill>
                  <a:srgbClr val="000000"/>
                </a:solidFill>
                <a:effectLst/>
                <a:highlight>
                  <a:srgbClr val="FFFF00"/>
                </a:highlight>
                <a:latin typeface="Times New Roman" panose="02020603050405020304" pitchFamily="18" charset="0"/>
                <a:ea typeface="Times New Roman" panose="02020603050405020304" pitchFamily="18" charset="0"/>
              </a:rPr>
              <a:t>When does copyrighted material become public domain?</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70 years after the author’s death</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70 years after the death of the last remaining co-author</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95 years after the first publication by an unknown author, or 120 years from creation – which ever is shorter</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tabLst>
                <a:tab pos="685800" algn="l"/>
              </a:tabLst>
            </a:pPr>
            <a:r>
              <a:rPr lang="en-US" sz="1800" dirty="0">
                <a:solidFill>
                  <a:srgbClr val="000000"/>
                </a:solidFill>
                <a:effectLst/>
                <a:latin typeface="Times New Roman" panose="02020603050405020304" pitchFamily="18" charset="0"/>
                <a:ea typeface="Times New Roman" panose="02020603050405020304" pitchFamily="18" charset="0"/>
              </a:rPr>
              <a:t>95 years for works for hire</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These are the current laws that pertain to work created after 1978.  Before 1978, copyright protection took effect when the work was published with a copyright notice or when it was registered.  And, the length of protection was different.  You must know when the original work was created in order to know which laws apply to it.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Compare Beethoven vs. Elvis’ music</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See Changes due to 1998 Legislature</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121466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22</a:t>
            </a:fld>
            <a:endParaRPr lang="en-US"/>
          </a:p>
        </p:txBody>
      </p:sp>
    </p:spTree>
    <p:extLst>
      <p:ext uri="{BB962C8B-B14F-4D97-AF65-F5344CB8AC3E}">
        <p14:creationId xmlns:p14="http://schemas.microsoft.com/office/powerpoint/2010/main" val="750578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David Bowie &amp; Freddie Mercury - Under Pressure – YouTube</a:t>
            </a:r>
            <a:endParaRPr lang="en-US" dirty="0"/>
          </a:p>
          <a:p>
            <a:endParaRPr lang="en-US" dirty="0"/>
          </a:p>
          <a:p>
            <a:r>
              <a:rPr lang="en-US" dirty="0">
                <a:hlinkClick r:id="rId4"/>
              </a:rPr>
              <a:t>Vanilla Ice - Ice </a:t>
            </a:r>
            <a:r>
              <a:rPr lang="en-US" dirty="0" err="1">
                <a:hlinkClick r:id="rId4"/>
              </a:rPr>
              <a:t>Ice</a:t>
            </a:r>
            <a:r>
              <a:rPr lang="en-US" dirty="0">
                <a:hlinkClick r:id="rId4"/>
              </a:rPr>
              <a:t> Baby (Official Music Video) – YouTube</a:t>
            </a:r>
            <a:endParaRPr lang="en-US" dirty="0"/>
          </a:p>
          <a:p>
            <a:endParaRPr lang="en-US" dirty="0"/>
          </a:p>
          <a:p>
            <a:r>
              <a:rPr lang="en-US">
                <a:hlinkClick r:id="rId3"/>
              </a:rPr>
              <a:t>David Bowie &amp; Freddie Mercury - Under Pressure (youtube.com)</a:t>
            </a:r>
            <a:endParaRPr lang="en-US" dirty="0"/>
          </a:p>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27</a:t>
            </a:fld>
            <a:endParaRPr lang="en-US"/>
          </a:p>
        </p:txBody>
      </p:sp>
    </p:spTree>
    <p:extLst>
      <p:ext uri="{BB962C8B-B14F-4D97-AF65-F5344CB8AC3E}">
        <p14:creationId xmlns:p14="http://schemas.microsoft.com/office/powerpoint/2010/main" val="16524234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control" Target="../activeX/activeX1.xml"/><Relationship Id="rId1" Type="http://schemas.openxmlformats.org/officeDocument/2006/relationships/themeOverride" Target="../theme/themeOverride1.xml"/><Relationship Id="rId5" Type="http://schemas.openxmlformats.org/officeDocument/2006/relationships/image" Target="../media/image6.wmf"/><Relationship Id="rId4"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E9E2BFF-0B83-4EEC-B349-6032F0DFE8E4}"/>
              </a:ext>
            </a:extLst>
          </p:cNvPr>
          <p:cNvSpPr/>
          <p:nvPr userDrawn="1"/>
        </p:nvSpPr>
        <p:spPr>
          <a:xfrm rot="10800000">
            <a:off x="0" y="0"/>
            <a:ext cx="9144000" cy="5143500"/>
          </a:xfrm>
          <a:prstGeom prst="rect">
            <a:avLst/>
          </a:prstGeom>
          <a:gradFill flip="none" rotWithShape="1">
            <a:gsLst>
              <a:gs pos="0">
                <a:schemeClr val="bg2">
                  <a:lumMod val="50000"/>
                </a:schemeClr>
              </a:gs>
              <a:gs pos="62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18"/>
          <p:cNvSpPr>
            <a:spLocks noGrp="1"/>
          </p:cNvSpPr>
          <p:nvPr>
            <p:ph type="body" sz="quarter" idx="10" hasCustomPrompt="1"/>
          </p:nvPr>
        </p:nvSpPr>
        <p:spPr>
          <a:xfrm>
            <a:off x="1728216" y="3295142"/>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a:t>Click to edit optional sub-header</a:t>
            </a:r>
            <a:br>
              <a:rPr lang="en-US"/>
            </a:br>
            <a:r>
              <a:rPr lang="en-US"/>
              <a:t>Arial, 12pt, sentence case</a:t>
            </a:r>
          </a:p>
        </p:txBody>
      </p:sp>
      <p:sp>
        <p:nvSpPr>
          <p:cNvPr id="9" name="Title 1"/>
          <p:cNvSpPr>
            <a:spLocks noGrp="1"/>
          </p:cNvSpPr>
          <p:nvPr>
            <p:ph type="title" hasCustomPrompt="1"/>
          </p:nvPr>
        </p:nvSpPr>
        <p:spPr>
          <a:xfrm>
            <a:off x="1728216" y="2230871"/>
            <a:ext cx="5687568" cy="952270"/>
          </a:xfrm>
          <a:prstGeom prst="rect">
            <a:avLst/>
          </a:prstGeom>
        </p:spPr>
        <p:txBody>
          <a:bodyPr anchor="b"/>
          <a:lstStyle>
            <a:lvl1pPr algn="ctr">
              <a:defRPr sz="2000" cap="all" baseline="0">
                <a:solidFill>
                  <a:schemeClr val="bg1"/>
                </a:solidFill>
              </a:defRPr>
            </a:lvl1pPr>
          </a:lstStyle>
          <a:p>
            <a:r>
              <a:rPr lang="en-US" dirty="0"/>
              <a:t>TITLE, ARIAL, 20PT, UPPERCASE</a:t>
            </a:r>
          </a:p>
        </p:txBody>
      </p:sp>
      <p:pic>
        <p:nvPicPr>
          <p:cNvPr id="4" name="Picture 3" descr="A picture containing drawing&#10;&#10;Description automatically generated">
            <a:extLst>
              <a:ext uri="{FF2B5EF4-FFF2-40B4-BE49-F238E27FC236}">
                <a16:creationId xmlns:a16="http://schemas.microsoft.com/office/drawing/2014/main" id="{68CD39B6-2E49-4642-967A-D62CD650C9F5}"/>
              </a:ext>
            </a:extLst>
          </p:cNvPr>
          <p:cNvPicPr>
            <a:picLocks noChangeAspect="1"/>
          </p:cNvPicPr>
          <p:nvPr userDrawn="1"/>
        </p:nvPicPr>
        <p:blipFill>
          <a:blip r:embed="rId2"/>
          <a:stretch>
            <a:fillRect/>
          </a:stretch>
        </p:blipFill>
        <p:spPr>
          <a:xfrm>
            <a:off x="4036022" y="424100"/>
            <a:ext cx="1071956" cy="137484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9970196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40087360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294737960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3" name="Picture 2" descr="A large building&#10;&#10;Description automatically generated">
            <a:extLst>
              <a:ext uri="{FF2B5EF4-FFF2-40B4-BE49-F238E27FC236}">
                <a16:creationId xmlns:a16="http://schemas.microsoft.com/office/drawing/2014/main" id="{0F5107FE-B099-49F5-9A06-956B06276127}"/>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36062824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2" name="Picture 1" descr="A large building&#10;&#10;Description automatically generated">
            <a:extLst>
              <a:ext uri="{FF2B5EF4-FFF2-40B4-BE49-F238E27FC236}">
                <a16:creationId xmlns:a16="http://schemas.microsoft.com/office/drawing/2014/main" id="{E1234ECC-ADCC-46AC-9691-CE80D2E9AC5F}"/>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14527766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bullet list">
    <p:spTree>
      <p:nvGrpSpPr>
        <p:cNvPr id="1" name=""/>
        <p:cNvGrpSpPr/>
        <p:nvPr/>
      </p:nvGrpSpPr>
      <p:grpSpPr>
        <a:xfrm>
          <a:off x="0" y="0"/>
          <a:ext cx="0" cy="0"/>
          <a:chOff x="0" y="0"/>
          <a:chExt cx="0" cy="0"/>
        </a:xfrm>
      </p:grpSpPr>
      <p:cxnSp>
        <p:nvCxnSpPr>
          <p:cNvPr id="13" name="Straight Connector 12"/>
          <p:cNvCxnSpPr/>
          <p:nvPr userDrawn="1"/>
        </p:nvCxnSpPr>
        <p:spPr>
          <a:xfrm>
            <a:off x="2793883" y="8682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2793883" y="10206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509695" y="2243735"/>
            <a:ext cx="2098939" cy="584775"/>
          </a:xfrm>
          <a:prstGeom prst="rect">
            <a:avLst/>
          </a:prstGeom>
          <a:noFill/>
        </p:spPr>
        <p:txBody>
          <a:bodyPr wrap="square" rtlCol="0">
            <a:spAutoFit/>
          </a:bodyPr>
          <a:lstStyle/>
          <a:p>
            <a:pPr algn="ctr"/>
            <a:r>
              <a:rPr lang="en-US" sz="3200">
                <a:solidFill>
                  <a:srgbClr val="2597CB"/>
                </a:solidFill>
              </a:rPr>
              <a:t>AGENDA</a:t>
            </a:r>
            <a:endParaRPr lang="en-US" sz="3200">
              <a:solidFill>
                <a:srgbClr val="2597CB"/>
              </a:solidFill>
              <a:latin typeface="Arial" panose="020B0604020202020204" pitchFamily="34" charset="0"/>
            </a:endParaRPr>
          </a:p>
        </p:txBody>
      </p:sp>
      <p:sp>
        <p:nvSpPr>
          <p:cNvPr id="5" name="Text Placeholder 4"/>
          <p:cNvSpPr>
            <a:spLocks noGrp="1"/>
          </p:cNvSpPr>
          <p:nvPr>
            <p:ph type="body" sz="quarter" idx="13"/>
          </p:nvPr>
        </p:nvSpPr>
        <p:spPr>
          <a:xfrm>
            <a:off x="3233738" y="1075638"/>
            <a:ext cx="5203825" cy="3162035"/>
          </a:xfrm>
        </p:spPr>
        <p:txBody>
          <a:bodyPr/>
          <a:lstStyle>
            <a:lvl1pPr>
              <a:buClr>
                <a:srgbClr val="2597CB"/>
              </a:buClr>
              <a:defRPr>
                <a:solidFill>
                  <a:srgbClr val="414042"/>
                </a:solidFill>
              </a:defRPr>
            </a:lvl1pPr>
            <a:lvl2pPr>
              <a:buClr>
                <a:srgbClr val="2597CB"/>
              </a:buClr>
              <a:defRPr>
                <a:solidFill>
                  <a:srgbClr val="414042"/>
                </a:solidFill>
              </a:defRPr>
            </a:lvl2pPr>
            <a:lvl3pPr>
              <a:buClr>
                <a:srgbClr val="2597CB"/>
              </a:buClr>
              <a:defRPr>
                <a:solidFill>
                  <a:srgbClr val="414042"/>
                </a:solidFill>
              </a:defRPr>
            </a:lvl3pPr>
            <a:lvl4pPr>
              <a:buClr>
                <a:srgbClr val="2597CB"/>
              </a:buClr>
              <a:defRPr/>
            </a:lvl4pPr>
            <a:lvl5pPr>
              <a:buClr>
                <a:srgbClr val="2597CB"/>
              </a:buClr>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9158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col bullets">
    <p:spTree>
      <p:nvGrpSpPr>
        <p:cNvPr id="1" name=""/>
        <p:cNvGrpSpPr/>
        <p:nvPr/>
      </p:nvGrpSpPr>
      <p:grpSpPr>
        <a:xfrm>
          <a:off x="0" y="0"/>
          <a:ext cx="0" cy="0"/>
          <a:chOff x="0" y="0"/>
          <a:chExt cx="0" cy="0"/>
        </a:xfrm>
      </p:grpSpPr>
      <p:sp>
        <p:nvSpPr>
          <p:cNvPr id="4" name="Text Placeholder 3"/>
          <p:cNvSpPr>
            <a:spLocks noGrp="1"/>
          </p:cNvSpPr>
          <p:nvPr>
            <p:ph type="body" sz="quarter" idx="18" hasCustomPrompt="1"/>
          </p:nvPr>
        </p:nvSpPr>
        <p:spPr>
          <a:xfrm>
            <a:off x="692306" y="865565"/>
            <a:ext cx="7746421"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8" name="Straight Connector 7">
            <a:extLst>
              <a:ext uri="{FF2B5EF4-FFF2-40B4-BE49-F238E27FC236}">
                <a16:creationId xmlns:a16="http://schemas.microsoft.com/office/drawing/2014/main" id="{065853EB-037E-4664-B8C6-47A825981E1A}"/>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037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 blue subtitle">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692306" y="866121"/>
            <a:ext cx="7765894" cy="237970"/>
          </a:xfrm>
          <a:prstGeom prst="rect">
            <a:avLst/>
          </a:prstGeom>
        </p:spPr>
        <p:txBody>
          <a:bodyPr>
            <a:noAutofit/>
          </a:bodyPr>
          <a:lstStyle>
            <a:lvl1pPr marL="0" indent="0">
              <a:spcBef>
                <a:spcPts val="0"/>
              </a:spcBef>
              <a:buNone/>
              <a:defRPr sz="1600" b="0">
                <a:solidFill>
                  <a:schemeClr val="accent3"/>
                </a:solidFill>
              </a:defRPr>
            </a:lvl1pPr>
          </a:lstStyle>
          <a:p>
            <a:pPr lvl="0"/>
            <a:r>
              <a:rPr lang="en-US" dirty="0"/>
              <a:t>Click to enter subtitle</a:t>
            </a:r>
          </a:p>
        </p:txBody>
      </p:sp>
      <p:sp>
        <p:nvSpPr>
          <p:cNvPr id="9" name="Text Placeholder 3">
            <a:extLst>
              <a:ext uri="{FF2B5EF4-FFF2-40B4-BE49-F238E27FC236}">
                <a16:creationId xmlns:a16="http://schemas.microsoft.com/office/drawing/2014/main" id="{FC134C1F-53DF-43C2-AF4D-EE37600EC2CB}"/>
              </a:ext>
            </a:extLst>
          </p:cNvPr>
          <p:cNvSpPr>
            <a:spLocks noGrp="1"/>
          </p:cNvSpPr>
          <p:nvPr>
            <p:ph type="body" sz="quarter" idx="18" hasCustomPrompt="1"/>
          </p:nvPr>
        </p:nvSpPr>
        <p:spPr>
          <a:xfrm>
            <a:off x="692306" y="1207501"/>
            <a:ext cx="7746421" cy="324522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Select &amp; type to begin bullet list</a:t>
            </a:r>
          </a:p>
          <a:p>
            <a:pPr lvl="1"/>
            <a:r>
              <a:rPr lang="en-US"/>
              <a:t>Second level</a:t>
            </a:r>
          </a:p>
          <a:p>
            <a:pPr lvl="2"/>
            <a:r>
              <a:rPr lang="en-US"/>
              <a:t>Third level</a:t>
            </a:r>
          </a:p>
        </p:txBody>
      </p:sp>
      <p:sp>
        <p:nvSpPr>
          <p:cNvPr id="1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11" name="Straight Connector 10">
            <a:extLst>
              <a:ext uri="{FF2B5EF4-FFF2-40B4-BE49-F238E27FC236}">
                <a16:creationId xmlns:a16="http://schemas.microsoft.com/office/drawing/2014/main" id="{AFDCBBB4-8E3B-4C61-976E-98D52FE44A29}"/>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419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sp>
        <p:nvSpPr>
          <p:cNvPr id="15" name="Text Placeholder 3">
            <a:extLst>
              <a:ext uri="{FF2B5EF4-FFF2-40B4-BE49-F238E27FC236}">
                <a16:creationId xmlns:a16="http://schemas.microsoft.com/office/drawing/2014/main" id="{DAC10F0B-0123-4229-8555-D91EFBF8221C}"/>
              </a:ext>
            </a:extLst>
          </p:cNvPr>
          <p:cNvSpPr>
            <a:spLocks noGrp="1"/>
          </p:cNvSpPr>
          <p:nvPr>
            <p:ph type="body" sz="quarter" idx="18" hasCustomPrompt="1"/>
          </p:nvPr>
        </p:nvSpPr>
        <p:spPr>
          <a:xfrm>
            <a:off x="692307" y="865565"/>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16" name="Text Placeholder 3">
            <a:extLst>
              <a:ext uri="{FF2B5EF4-FFF2-40B4-BE49-F238E27FC236}">
                <a16:creationId xmlns:a16="http://schemas.microsoft.com/office/drawing/2014/main" id="{C0598F9A-D406-4367-9FD6-44DB1EEC8496}"/>
              </a:ext>
            </a:extLst>
          </p:cNvPr>
          <p:cNvSpPr>
            <a:spLocks noGrp="1"/>
          </p:cNvSpPr>
          <p:nvPr>
            <p:ph type="body" sz="quarter" idx="19" hasCustomPrompt="1"/>
          </p:nvPr>
        </p:nvSpPr>
        <p:spPr>
          <a:xfrm>
            <a:off x="4652151" y="857250"/>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Click to edit Master text styles</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70343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384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ctrTitle"/>
          </p:nvPr>
        </p:nvSpPr>
        <p:spPr>
          <a:xfrm>
            <a:off x="136526" y="1714500"/>
            <a:ext cx="8856663" cy="857250"/>
          </a:xfrm>
        </p:spPr>
        <p:txBody>
          <a:bodyPr anchor="ctr"/>
          <a:lstStyle>
            <a:lvl1pPr>
              <a:defRPr/>
            </a:lvl1pPr>
          </a:lstStyle>
          <a:p>
            <a:pPr lvl="0"/>
            <a:r>
              <a:rPr lang="en-US" altLang="en-US" noProof="0"/>
              <a:t>Click to edit Master title style</a:t>
            </a:r>
          </a:p>
        </p:txBody>
      </p:sp>
      <p:sp>
        <p:nvSpPr>
          <p:cNvPr id="35843" name="Rectangle 3"/>
          <p:cNvSpPr>
            <a:spLocks noGrp="1" noChangeArrowheads="1"/>
          </p:cNvSpPr>
          <p:nvPr>
            <p:ph type="subTitle" idx="1"/>
          </p:nvPr>
        </p:nvSpPr>
        <p:spPr>
          <a:xfrm>
            <a:off x="136526" y="2914650"/>
            <a:ext cx="8856663" cy="1314450"/>
          </a:xfrm>
        </p:spPr>
        <p:txBody>
          <a:bodyPr/>
          <a:lstStyle>
            <a:lvl1pPr marL="0" indent="0" algn="r">
              <a:buFontTx/>
              <a:buNone/>
              <a:defRPr/>
            </a:lvl1pPr>
          </a:lstStyle>
          <a:p>
            <a:pPr lvl="0"/>
            <a:r>
              <a:rPr lang="en-US" alt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xfrm>
            <a:off x="6553200" y="4686300"/>
            <a:ext cx="1905000" cy="342900"/>
          </a:xfrm>
          <a:prstGeom prst="rect">
            <a:avLst/>
          </a:prstGeom>
        </p:spPr>
        <p:txBody>
          <a:bodyPr/>
          <a:lstStyle>
            <a:lvl1pPr>
              <a:defRPr smtClean="0"/>
            </a:lvl1pPr>
          </a:lstStyle>
          <a:p>
            <a:pPr>
              <a:defRPr/>
            </a:pPr>
            <a:fld id="{FD8268D1-880F-4227-A12E-08C9982F8BCA}" type="slidenum">
              <a:rPr lang="en-US" altLang="en-US"/>
              <a:pPr>
                <a:defRPr/>
              </a:pPr>
              <a:t>‹#›</a:t>
            </a:fld>
            <a:endParaRPr lang="en-US" altLang="en-US"/>
          </a:p>
        </p:txBody>
      </p:sp>
    </p:spTree>
    <p:controls>
      <mc:AlternateContent xmlns:mc="http://schemas.openxmlformats.org/markup-compatibility/2006">
        <mc:Choice xmlns:v="urn:schemas-microsoft-com:vml" Requires="v">
          <p:control r:id="rId2" imgW="9151920" imgH="1103400"/>
        </mc:Choice>
        <mc:Fallback>
          <p:control r:id="rId2" imgW="9151920" imgH="1103400">
            <p:pic>
              <p:nvPicPr>
                <p:cNvPr id="4" name="ShockwaveFlash1"/>
                <p:cNvPicPr preferRelativeResize="0">
                  <a:picLocks noChangeArrowheads="1" noChangeShapeType="1"/>
                </p:cNvPicPr>
                <p:nvPr/>
              </p:nvPicPr>
              <p:blipFill>
                <a:blip r:embed="rId5"/>
                <a:srcRect/>
                <a:stretch>
                  <a:fillRect/>
                </a:stretch>
              </p:blipFill>
              <p:spPr bwMode="auto">
                <a:xfrm>
                  <a:off x="0" y="2909888"/>
                  <a:ext cx="9151938" cy="827485"/>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control>
        </mc:Fallback>
      </mc:AlternateContent>
    </p:controls>
    <p:extLst>
      <p:ext uri="{BB962C8B-B14F-4D97-AF65-F5344CB8AC3E}">
        <p14:creationId xmlns:p14="http://schemas.microsoft.com/office/powerpoint/2010/main" val="2803955297"/>
      </p:ext>
    </p:extLst>
  </p:cSld>
  <p:clrMapOvr>
    <a:overrideClrMapping bg1="dk2" tx1="lt1" bg2="dk1"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xfrm>
            <a:off x="7162800" y="4943475"/>
            <a:ext cx="2895600" cy="171450"/>
          </a:xfrm>
        </p:spPr>
        <p:txBody>
          <a:bodyPr/>
          <a:lstStyle>
            <a:lvl1pPr algn="ctr">
              <a:defRPr sz="450" dirty="0" smtClean="0">
                <a:latin typeface="Arial" charset="0"/>
              </a:defRPr>
            </a:lvl1pPr>
          </a:lstStyle>
          <a:p>
            <a:pPr>
              <a:defRPr/>
            </a:pPr>
            <a:r>
              <a:rPr lang="en-US" altLang="en-US"/>
              <a:t>© 2006 Mariah Kraus</a:t>
            </a:r>
          </a:p>
        </p:txBody>
      </p:sp>
    </p:spTree>
    <p:extLst>
      <p:ext uri="{BB962C8B-B14F-4D97-AF65-F5344CB8AC3E}">
        <p14:creationId xmlns:p14="http://schemas.microsoft.com/office/powerpoint/2010/main" val="38988961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p:txBody>
          <a:bodyPr/>
          <a:lstStyle>
            <a:lvl1pPr>
              <a:defRPr smtClean="0"/>
            </a:lvl1pPr>
          </a:lstStyle>
          <a:p>
            <a:pPr>
              <a:defRPr/>
            </a:pPr>
            <a:r>
              <a:rPr lang="en-US" altLang="en-US"/>
              <a:t>© 2006 Mariah Kraus</a:t>
            </a:r>
          </a:p>
        </p:txBody>
      </p:sp>
      <p:sp>
        <p:nvSpPr>
          <p:cNvPr id="6" name="Rectangle 6"/>
          <p:cNvSpPr>
            <a:spLocks noGrp="1" noChangeArrowheads="1"/>
          </p:cNvSpPr>
          <p:nvPr>
            <p:ph type="sldNum" sz="quarter" idx="12"/>
          </p:nvPr>
        </p:nvSpPr>
        <p:spPr>
          <a:xfrm>
            <a:off x="6553200" y="4686300"/>
            <a:ext cx="1905000" cy="342900"/>
          </a:xfrm>
          <a:prstGeom prst="rect">
            <a:avLst/>
          </a:prstGeom>
        </p:spPr>
        <p:txBody>
          <a:bodyPr/>
          <a:lstStyle>
            <a:lvl1pPr>
              <a:defRPr smtClean="0"/>
            </a:lvl1pPr>
          </a:lstStyle>
          <a:p>
            <a:pPr>
              <a:defRPr/>
            </a:pPr>
            <a:fld id="{66BBB2D1-341B-4590-8DC0-445D504B45A4}" type="slidenum">
              <a:rPr lang="en-US" altLang="en-US"/>
              <a:pPr>
                <a:defRPr/>
              </a:pPr>
              <a:t>‹#›</a:t>
            </a:fld>
            <a:endParaRPr lang="en-US" altLang="en-US"/>
          </a:p>
        </p:txBody>
      </p:sp>
    </p:spTree>
    <p:extLst>
      <p:ext uri="{BB962C8B-B14F-4D97-AF65-F5344CB8AC3E}">
        <p14:creationId xmlns:p14="http://schemas.microsoft.com/office/powerpoint/2010/main" val="37876352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6525" y="826294"/>
            <a:ext cx="4351338" cy="374570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0264" y="826294"/>
            <a:ext cx="4352925" cy="374570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p:txBody>
          <a:bodyPr/>
          <a:lstStyle>
            <a:lvl1pPr>
              <a:defRPr smtClean="0"/>
            </a:lvl1pPr>
          </a:lstStyle>
          <a:p>
            <a:pPr>
              <a:defRPr/>
            </a:pPr>
            <a:r>
              <a:rPr lang="en-US" altLang="en-US"/>
              <a:t>© 2006 Mariah Kraus</a:t>
            </a:r>
          </a:p>
        </p:txBody>
      </p:sp>
      <p:sp>
        <p:nvSpPr>
          <p:cNvPr id="7" name="Slide Number Placeholder 6"/>
          <p:cNvSpPr>
            <a:spLocks noGrp="1" noChangeArrowheads="1"/>
          </p:cNvSpPr>
          <p:nvPr>
            <p:ph type="sldNum" sz="quarter" idx="12"/>
          </p:nvPr>
        </p:nvSpPr>
        <p:spPr>
          <a:xfrm>
            <a:off x="6553200" y="4686300"/>
            <a:ext cx="1905000" cy="342900"/>
          </a:xfrm>
          <a:prstGeom prst="rect">
            <a:avLst/>
          </a:prstGeom>
        </p:spPr>
        <p:txBody>
          <a:bodyPr/>
          <a:lstStyle>
            <a:lvl1pPr>
              <a:defRPr smtClean="0"/>
            </a:lvl1pPr>
          </a:lstStyle>
          <a:p>
            <a:pPr>
              <a:defRPr/>
            </a:pPr>
            <a:fld id="{17D7EF82-FC73-4592-A75E-71BD7E5CE284}" type="slidenum">
              <a:rPr lang="en-US" altLang="en-US"/>
              <a:pPr>
                <a:defRPr/>
              </a:pPr>
              <a:t>‹#›</a:t>
            </a:fld>
            <a:endParaRPr lang="en-US" altLang="en-US"/>
          </a:p>
        </p:txBody>
      </p:sp>
    </p:spTree>
    <p:extLst>
      <p:ext uri="{BB962C8B-B14F-4D97-AF65-F5344CB8AC3E}">
        <p14:creationId xmlns:p14="http://schemas.microsoft.com/office/powerpoint/2010/main" val="3026977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p:txBody>
          <a:bodyPr/>
          <a:lstStyle>
            <a:lvl1pPr>
              <a:defRPr smtClean="0"/>
            </a:lvl1pPr>
          </a:lstStyle>
          <a:p>
            <a:pPr>
              <a:defRPr/>
            </a:pPr>
            <a:r>
              <a:rPr lang="en-US" altLang="en-US"/>
              <a:t>© 2006 Mariah Kraus</a:t>
            </a:r>
          </a:p>
        </p:txBody>
      </p:sp>
      <p:sp>
        <p:nvSpPr>
          <p:cNvPr id="9" name="Rectangle 6"/>
          <p:cNvSpPr>
            <a:spLocks noGrp="1" noChangeArrowheads="1"/>
          </p:cNvSpPr>
          <p:nvPr>
            <p:ph type="sldNum" sz="quarter" idx="12"/>
          </p:nvPr>
        </p:nvSpPr>
        <p:spPr>
          <a:xfrm>
            <a:off x="6553200" y="4686300"/>
            <a:ext cx="1905000" cy="342900"/>
          </a:xfrm>
          <a:prstGeom prst="rect">
            <a:avLst/>
          </a:prstGeom>
        </p:spPr>
        <p:txBody>
          <a:bodyPr/>
          <a:lstStyle>
            <a:lvl1pPr>
              <a:defRPr smtClean="0"/>
            </a:lvl1pPr>
          </a:lstStyle>
          <a:p>
            <a:pPr>
              <a:defRPr/>
            </a:pPr>
            <a:fld id="{AAC35316-0733-40C2-A665-415BBECA935E}" type="slidenum">
              <a:rPr lang="en-US" altLang="en-US"/>
              <a:pPr>
                <a:defRPr/>
              </a:pPr>
              <a:t>‹#›</a:t>
            </a:fld>
            <a:endParaRPr lang="en-US" altLang="en-US"/>
          </a:p>
        </p:txBody>
      </p:sp>
    </p:spTree>
    <p:extLst>
      <p:ext uri="{BB962C8B-B14F-4D97-AF65-F5344CB8AC3E}">
        <p14:creationId xmlns:p14="http://schemas.microsoft.com/office/powerpoint/2010/main" val="1281211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p:txBody>
          <a:bodyPr/>
          <a:lstStyle>
            <a:lvl1pPr>
              <a:defRPr smtClean="0"/>
            </a:lvl1pPr>
          </a:lstStyle>
          <a:p>
            <a:pPr>
              <a:defRPr/>
            </a:pPr>
            <a:r>
              <a:rPr lang="en-US" altLang="en-US"/>
              <a:t>© 2006 Mariah Kraus</a:t>
            </a:r>
          </a:p>
        </p:txBody>
      </p:sp>
      <p:sp>
        <p:nvSpPr>
          <p:cNvPr id="5" name="Rectangle 6"/>
          <p:cNvSpPr>
            <a:spLocks noGrp="1" noChangeArrowheads="1"/>
          </p:cNvSpPr>
          <p:nvPr>
            <p:ph type="sldNum" sz="quarter" idx="12"/>
          </p:nvPr>
        </p:nvSpPr>
        <p:spPr>
          <a:xfrm>
            <a:off x="6553200" y="4686300"/>
            <a:ext cx="1905000" cy="342900"/>
          </a:xfrm>
          <a:prstGeom prst="rect">
            <a:avLst/>
          </a:prstGeom>
        </p:spPr>
        <p:txBody>
          <a:bodyPr/>
          <a:lstStyle>
            <a:lvl1pPr>
              <a:defRPr smtClean="0"/>
            </a:lvl1pPr>
          </a:lstStyle>
          <a:p>
            <a:pPr>
              <a:defRPr/>
            </a:pPr>
            <a:fld id="{DF0DE59C-2360-487C-B5C0-82199355B132}" type="slidenum">
              <a:rPr lang="en-US" altLang="en-US"/>
              <a:pPr>
                <a:defRPr/>
              </a:pPr>
              <a:t>‹#›</a:t>
            </a:fld>
            <a:endParaRPr lang="en-US" altLang="en-US"/>
          </a:p>
        </p:txBody>
      </p:sp>
    </p:spTree>
    <p:extLst>
      <p:ext uri="{BB962C8B-B14F-4D97-AF65-F5344CB8AC3E}">
        <p14:creationId xmlns:p14="http://schemas.microsoft.com/office/powerpoint/2010/main" val="3132927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p:txBody>
          <a:bodyPr/>
          <a:lstStyle>
            <a:lvl1pPr>
              <a:defRPr smtClean="0"/>
            </a:lvl1pPr>
          </a:lstStyle>
          <a:p>
            <a:pPr>
              <a:defRPr/>
            </a:pPr>
            <a:r>
              <a:rPr lang="en-US" altLang="en-US"/>
              <a:t>© 2006 Mariah Kraus</a:t>
            </a:r>
          </a:p>
        </p:txBody>
      </p:sp>
      <p:sp>
        <p:nvSpPr>
          <p:cNvPr id="4" name="Rectangle 6"/>
          <p:cNvSpPr>
            <a:spLocks noGrp="1" noChangeArrowheads="1"/>
          </p:cNvSpPr>
          <p:nvPr>
            <p:ph type="sldNum" sz="quarter" idx="12"/>
          </p:nvPr>
        </p:nvSpPr>
        <p:spPr>
          <a:xfrm>
            <a:off x="6553200" y="4686300"/>
            <a:ext cx="1905000" cy="342900"/>
          </a:xfrm>
          <a:prstGeom prst="rect">
            <a:avLst/>
          </a:prstGeom>
        </p:spPr>
        <p:txBody>
          <a:bodyPr/>
          <a:lstStyle>
            <a:lvl1pPr>
              <a:defRPr smtClean="0"/>
            </a:lvl1pPr>
          </a:lstStyle>
          <a:p>
            <a:pPr>
              <a:defRPr/>
            </a:pPr>
            <a:fld id="{24FF4EE6-04DE-4075-9EA8-71487C7E5739}" type="slidenum">
              <a:rPr lang="en-US" altLang="en-US"/>
              <a:pPr>
                <a:defRPr/>
              </a:pPr>
              <a:t>‹#›</a:t>
            </a:fld>
            <a:endParaRPr lang="en-US" altLang="en-US"/>
          </a:p>
        </p:txBody>
      </p:sp>
    </p:spTree>
    <p:extLst>
      <p:ext uri="{BB962C8B-B14F-4D97-AF65-F5344CB8AC3E}">
        <p14:creationId xmlns:p14="http://schemas.microsoft.com/office/powerpoint/2010/main" val="1057971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p:txBody>
          <a:bodyPr/>
          <a:lstStyle>
            <a:lvl1pPr>
              <a:defRPr smtClean="0"/>
            </a:lvl1pPr>
          </a:lstStyle>
          <a:p>
            <a:pPr>
              <a:defRPr/>
            </a:pPr>
            <a:r>
              <a:rPr lang="en-US" altLang="en-US"/>
              <a:t>© 2006 Mariah Kraus</a:t>
            </a:r>
          </a:p>
        </p:txBody>
      </p:sp>
      <p:sp>
        <p:nvSpPr>
          <p:cNvPr id="7" name="Slide Number Placeholder 6"/>
          <p:cNvSpPr>
            <a:spLocks noGrp="1" noChangeArrowheads="1"/>
          </p:cNvSpPr>
          <p:nvPr>
            <p:ph type="sldNum" sz="quarter" idx="12"/>
          </p:nvPr>
        </p:nvSpPr>
        <p:spPr>
          <a:xfrm>
            <a:off x="6553200" y="4686300"/>
            <a:ext cx="1905000" cy="342900"/>
          </a:xfrm>
          <a:prstGeom prst="rect">
            <a:avLst/>
          </a:prstGeom>
        </p:spPr>
        <p:txBody>
          <a:bodyPr/>
          <a:lstStyle>
            <a:lvl1pPr>
              <a:defRPr smtClean="0"/>
            </a:lvl1pPr>
          </a:lstStyle>
          <a:p>
            <a:pPr>
              <a:defRPr/>
            </a:pPr>
            <a:fld id="{BA58F2B6-62F5-4B62-8BE2-23F9A8F55124}" type="slidenum">
              <a:rPr lang="en-US" altLang="en-US"/>
              <a:pPr>
                <a:defRPr/>
              </a:pPr>
              <a:t>‹#›</a:t>
            </a:fld>
            <a:endParaRPr lang="en-US" altLang="en-US"/>
          </a:p>
        </p:txBody>
      </p:sp>
    </p:spTree>
    <p:extLst>
      <p:ext uri="{BB962C8B-B14F-4D97-AF65-F5344CB8AC3E}">
        <p14:creationId xmlns:p14="http://schemas.microsoft.com/office/powerpoint/2010/main" val="31421757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p:txBody>
          <a:bodyPr/>
          <a:lstStyle>
            <a:lvl1pPr>
              <a:defRPr smtClean="0"/>
            </a:lvl1pPr>
          </a:lstStyle>
          <a:p>
            <a:pPr>
              <a:defRPr/>
            </a:pPr>
            <a:r>
              <a:rPr lang="en-US" altLang="en-US"/>
              <a:t>© 2006 Mariah Kraus</a:t>
            </a:r>
          </a:p>
        </p:txBody>
      </p:sp>
      <p:sp>
        <p:nvSpPr>
          <p:cNvPr id="7" name="Slide Number Placeholder 6"/>
          <p:cNvSpPr>
            <a:spLocks noGrp="1" noChangeArrowheads="1"/>
          </p:cNvSpPr>
          <p:nvPr>
            <p:ph type="sldNum" sz="quarter" idx="12"/>
          </p:nvPr>
        </p:nvSpPr>
        <p:spPr>
          <a:xfrm>
            <a:off x="6553200" y="4686300"/>
            <a:ext cx="1905000" cy="342900"/>
          </a:xfrm>
          <a:prstGeom prst="rect">
            <a:avLst/>
          </a:prstGeom>
        </p:spPr>
        <p:txBody>
          <a:bodyPr/>
          <a:lstStyle>
            <a:lvl1pPr>
              <a:defRPr smtClean="0"/>
            </a:lvl1pPr>
          </a:lstStyle>
          <a:p>
            <a:pPr>
              <a:defRPr/>
            </a:pPr>
            <a:fld id="{C30B53AE-9DEC-46E4-A0B2-072FAD9DF75A}" type="slidenum">
              <a:rPr lang="en-US" altLang="en-US"/>
              <a:pPr>
                <a:defRPr/>
              </a:pPr>
              <a:t>‹#›</a:t>
            </a:fld>
            <a:endParaRPr lang="en-US" altLang="en-US"/>
          </a:p>
        </p:txBody>
      </p:sp>
    </p:spTree>
    <p:extLst>
      <p:ext uri="{BB962C8B-B14F-4D97-AF65-F5344CB8AC3E}">
        <p14:creationId xmlns:p14="http://schemas.microsoft.com/office/powerpoint/2010/main" val="21853602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p:txBody>
          <a:bodyPr/>
          <a:lstStyle>
            <a:lvl1pPr>
              <a:defRPr smtClean="0"/>
            </a:lvl1pPr>
          </a:lstStyle>
          <a:p>
            <a:pPr>
              <a:defRPr/>
            </a:pPr>
            <a:r>
              <a:rPr lang="en-US" altLang="en-US"/>
              <a:t>© 2006 Mariah Kraus</a:t>
            </a:r>
          </a:p>
        </p:txBody>
      </p:sp>
      <p:sp>
        <p:nvSpPr>
          <p:cNvPr id="6" name="Rectangle 6"/>
          <p:cNvSpPr>
            <a:spLocks noGrp="1" noChangeArrowheads="1"/>
          </p:cNvSpPr>
          <p:nvPr>
            <p:ph type="sldNum" sz="quarter" idx="12"/>
          </p:nvPr>
        </p:nvSpPr>
        <p:spPr>
          <a:xfrm>
            <a:off x="6553200" y="4686300"/>
            <a:ext cx="1905000" cy="342900"/>
          </a:xfrm>
          <a:prstGeom prst="rect">
            <a:avLst/>
          </a:prstGeom>
        </p:spPr>
        <p:txBody>
          <a:bodyPr/>
          <a:lstStyle>
            <a:lvl1pPr>
              <a:defRPr smtClean="0"/>
            </a:lvl1pPr>
          </a:lstStyle>
          <a:p>
            <a:pPr>
              <a:defRPr/>
            </a:pPr>
            <a:fld id="{34DD85FA-4606-4F69-B55E-55B1D917A64C}" type="slidenum">
              <a:rPr lang="en-US" altLang="en-US"/>
              <a:pPr>
                <a:defRPr/>
              </a:pPr>
              <a:t>‹#›</a:t>
            </a:fld>
            <a:endParaRPr lang="en-US" altLang="en-US"/>
          </a:p>
        </p:txBody>
      </p:sp>
    </p:spTree>
    <p:extLst>
      <p:ext uri="{BB962C8B-B14F-4D97-AF65-F5344CB8AC3E}">
        <p14:creationId xmlns:p14="http://schemas.microsoft.com/office/powerpoint/2010/main" val="161569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0214" y="-51197"/>
            <a:ext cx="2212975" cy="462319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6525" y="-51197"/>
            <a:ext cx="6491288" cy="46231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p:txBody>
          <a:bodyPr/>
          <a:lstStyle>
            <a:lvl1pPr>
              <a:defRPr smtClean="0"/>
            </a:lvl1pPr>
          </a:lstStyle>
          <a:p>
            <a:pPr>
              <a:defRPr/>
            </a:pPr>
            <a:r>
              <a:rPr lang="en-US" altLang="en-US"/>
              <a:t>© 2006 Mariah Kraus</a:t>
            </a:r>
          </a:p>
        </p:txBody>
      </p:sp>
      <p:sp>
        <p:nvSpPr>
          <p:cNvPr id="6" name="Rectangle 6"/>
          <p:cNvSpPr>
            <a:spLocks noGrp="1" noChangeArrowheads="1"/>
          </p:cNvSpPr>
          <p:nvPr>
            <p:ph type="sldNum" sz="quarter" idx="12"/>
          </p:nvPr>
        </p:nvSpPr>
        <p:spPr>
          <a:xfrm>
            <a:off x="6553200" y="4686300"/>
            <a:ext cx="1905000" cy="342900"/>
          </a:xfrm>
          <a:prstGeom prst="rect">
            <a:avLst/>
          </a:prstGeom>
        </p:spPr>
        <p:txBody>
          <a:bodyPr/>
          <a:lstStyle>
            <a:lvl1pPr>
              <a:defRPr smtClean="0"/>
            </a:lvl1pPr>
          </a:lstStyle>
          <a:p>
            <a:pPr>
              <a:defRPr/>
            </a:pPr>
            <a:fld id="{F7F39AC8-4011-4BA6-A5BD-5B99B50ADC99}" type="slidenum">
              <a:rPr lang="en-US" altLang="en-US"/>
              <a:pPr>
                <a:defRPr/>
              </a:pPr>
              <a:t>‹#›</a:t>
            </a:fld>
            <a:endParaRPr lang="en-US" altLang="en-US"/>
          </a:p>
        </p:txBody>
      </p:sp>
    </p:spTree>
    <p:extLst>
      <p:ext uri="{BB962C8B-B14F-4D97-AF65-F5344CB8AC3E}">
        <p14:creationId xmlns:p14="http://schemas.microsoft.com/office/powerpoint/2010/main" val="3767230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47C7A-DD97-4DA5-8899-04B6164DAA6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80ABFCA-47DB-4F53-BD9F-C3E96576A97A}"/>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E5C047C-0E77-498E-8BF6-4FB2EF9B9A22}"/>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5" name="Footer Placeholder 4">
            <a:extLst>
              <a:ext uri="{FF2B5EF4-FFF2-40B4-BE49-F238E27FC236}">
                <a16:creationId xmlns:a16="http://schemas.microsoft.com/office/drawing/2014/main" id="{5737FDFD-BDA4-42E9-AD71-6C64A88303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C832D7-9609-4E81-ABB3-29FF6A85F6E3}"/>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23281841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B7260-0A33-4DCD-8B09-060617B06E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7038F8-1CF8-4905-BFAC-58B6B506F3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05B1C6-98B6-47AA-B15F-B1A2DFF34688}"/>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5" name="Footer Placeholder 4">
            <a:extLst>
              <a:ext uri="{FF2B5EF4-FFF2-40B4-BE49-F238E27FC236}">
                <a16:creationId xmlns:a16="http://schemas.microsoft.com/office/drawing/2014/main" id="{85BE7CC2-C0AC-4AFD-A192-8451ACC77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CC1BC9-B73B-4168-BFFE-03323F483C36}"/>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18833848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C7993-08E5-4F91-9FD5-FF2895549A22}"/>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01340DA5-EC1B-4511-B899-3CD2ACF9BBE0}"/>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9435F9-F4C4-4DCE-962D-61CE3795C695}"/>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5" name="Footer Placeholder 4">
            <a:extLst>
              <a:ext uri="{FF2B5EF4-FFF2-40B4-BE49-F238E27FC236}">
                <a16:creationId xmlns:a16="http://schemas.microsoft.com/office/drawing/2014/main" id="{D274EB5B-1B1F-4B78-8382-6A86CDAFD3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3D27AC-5988-453D-AFB3-52988F0BED3E}"/>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10787726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FFDF7-A971-43FD-A92B-8C6616C80E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40E1CF-BEF1-402A-900D-EAF53BC43E9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9F542E-D030-4EFA-8B89-D397F60A2BE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0377A6-1E6C-4AF2-9792-25D6E4A37A70}"/>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6" name="Footer Placeholder 5">
            <a:extLst>
              <a:ext uri="{FF2B5EF4-FFF2-40B4-BE49-F238E27FC236}">
                <a16:creationId xmlns:a16="http://schemas.microsoft.com/office/drawing/2014/main" id="{A329926B-EAE7-4349-A4EA-16014AA489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68FA80-DB75-4C53-A254-2301B0665DC5}"/>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41398239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3FE96-C049-4D77-B4EC-E15A441380E5}"/>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ECC07D-75CA-42B2-9D36-A30F70BB332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D8F749C-8C28-479C-A133-1538139F5827}"/>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03E74A-7AA5-47B2-951A-BA67125A4BA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B3E6B72-EAC1-44ED-B2A8-5298ADECE6BD}"/>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62545-AD89-4032-B025-1F94EB6F3D00}"/>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8" name="Footer Placeholder 7">
            <a:extLst>
              <a:ext uri="{FF2B5EF4-FFF2-40B4-BE49-F238E27FC236}">
                <a16:creationId xmlns:a16="http://schemas.microsoft.com/office/drawing/2014/main" id="{41C4E7D6-F397-46B8-A369-FB33AAF268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1B440F-F03A-4640-B56F-A81226819C5E}"/>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21811461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7F5F2-98FB-491B-84D6-2B9B457D7E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76646C-463A-49C8-9A3B-751DCD7839CF}"/>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4" name="Footer Placeholder 3">
            <a:extLst>
              <a:ext uri="{FF2B5EF4-FFF2-40B4-BE49-F238E27FC236}">
                <a16:creationId xmlns:a16="http://schemas.microsoft.com/office/drawing/2014/main" id="{5865F8B1-916D-4D8D-BFFC-D4240C778B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7C500A-7C1B-4D11-9E7C-AA855E2AB68B}"/>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29600207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A65FDD-C469-44C8-A4A6-E779715FFEB9}"/>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3" name="Footer Placeholder 2">
            <a:extLst>
              <a:ext uri="{FF2B5EF4-FFF2-40B4-BE49-F238E27FC236}">
                <a16:creationId xmlns:a16="http://schemas.microsoft.com/office/drawing/2014/main" id="{DF9131DA-5046-4C07-9294-42444AC371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0151F3-250A-4379-846B-B8850483E4C7}"/>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35949086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7EE9A-A33B-4D8B-B99E-F04B57317DBB}"/>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DEF0466-61C3-4C43-8966-C31F33F93772}"/>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1BE699-0548-4363-9914-912391F2F64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3871083-EABB-4593-A708-FECCBBF850BC}"/>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6" name="Footer Placeholder 5">
            <a:extLst>
              <a:ext uri="{FF2B5EF4-FFF2-40B4-BE49-F238E27FC236}">
                <a16:creationId xmlns:a16="http://schemas.microsoft.com/office/drawing/2014/main" id="{C3ADA62D-3F3A-4690-850D-5831F47E47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7C1C83-BC56-4AB5-8FED-F1F0BDC408B1}"/>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38664595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85831-A267-4C68-A7FA-FBFA2DF2B0A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93191BEB-D5E8-4DCC-AE97-F52815C2254F}"/>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17B59CD-8247-4D79-9886-F97B1C95198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4FC9341-BFFD-4463-B862-9DFB295B1BA2}"/>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6" name="Footer Placeholder 5">
            <a:extLst>
              <a:ext uri="{FF2B5EF4-FFF2-40B4-BE49-F238E27FC236}">
                <a16:creationId xmlns:a16="http://schemas.microsoft.com/office/drawing/2014/main" id="{AF15B84C-BD3A-4DF5-B3AA-4987728532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D8382D-458B-4844-8032-7BAAEDC2F405}"/>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14787735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6EC4C-219F-45EF-8288-00854B6547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56EDA5-ADC5-4427-BF15-796097C86B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0517D-904A-4734-97B3-632C466ABA2C}"/>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5" name="Footer Placeholder 4">
            <a:extLst>
              <a:ext uri="{FF2B5EF4-FFF2-40B4-BE49-F238E27FC236}">
                <a16:creationId xmlns:a16="http://schemas.microsoft.com/office/drawing/2014/main" id="{9D8A960D-DB3C-4119-9C81-6220901ED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0E80BA-7BBC-4A89-8943-B4EB0275E56B}"/>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14043242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974944-AB52-41A5-A40F-EC3A20BCA41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37DDFA-F959-412E-B192-4451FAD139F2}"/>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750356-74EA-4734-8B00-0ABBB500C789}"/>
              </a:ext>
            </a:extLst>
          </p:cNvPr>
          <p:cNvSpPr>
            <a:spLocks noGrp="1"/>
          </p:cNvSpPr>
          <p:nvPr>
            <p:ph type="dt" sz="half" idx="10"/>
          </p:nvPr>
        </p:nvSpPr>
        <p:spPr/>
        <p:txBody>
          <a:bodyPr/>
          <a:lstStyle/>
          <a:p>
            <a:fld id="{60063007-2180-49E2-871B-12A9A9328471}" type="datetimeFigureOut">
              <a:rPr lang="en-US" smtClean="0"/>
              <a:t>3/31/2026</a:t>
            </a:fld>
            <a:endParaRPr lang="en-US"/>
          </a:p>
        </p:txBody>
      </p:sp>
      <p:sp>
        <p:nvSpPr>
          <p:cNvPr id="5" name="Footer Placeholder 4">
            <a:extLst>
              <a:ext uri="{FF2B5EF4-FFF2-40B4-BE49-F238E27FC236}">
                <a16:creationId xmlns:a16="http://schemas.microsoft.com/office/drawing/2014/main" id="{20B34AB6-88BA-4521-8F7F-2D9559A5E7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323AAC-9F5A-4F7D-BE9F-E8AAFB24F680}"/>
              </a:ext>
            </a:extLst>
          </p:cNvPr>
          <p:cNvSpPr>
            <a:spLocks noGrp="1"/>
          </p:cNvSpPr>
          <p:nvPr>
            <p:ph type="sldNum" sz="quarter" idx="12"/>
          </p:nvPr>
        </p:nvSpPr>
        <p:spPr/>
        <p:txBody>
          <a:bodyPr/>
          <a:lstStyle/>
          <a:p>
            <a:fld id="{BA798F49-E831-4ED0-8B30-5E4F106E1E3B}" type="slidenum">
              <a:rPr lang="en-US" smtClean="0"/>
              <a:t>‹#›</a:t>
            </a:fld>
            <a:endParaRPr lang="en-US"/>
          </a:p>
        </p:txBody>
      </p:sp>
    </p:spTree>
    <p:extLst>
      <p:ext uri="{BB962C8B-B14F-4D97-AF65-F5344CB8AC3E}">
        <p14:creationId xmlns:p14="http://schemas.microsoft.com/office/powerpoint/2010/main" val="1592213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4.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DFE816-852F-4EC5-8BA8-2C49BCA56D83}"/>
              </a:ext>
            </a:extLst>
          </p:cNvPr>
          <p:cNvSpPr/>
          <p:nvPr userDrawn="1"/>
        </p:nvSpPr>
        <p:spPr>
          <a:xfrm>
            <a:off x="0" y="4827579"/>
            <a:ext cx="9144000" cy="323236"/>
          </a:xfrm>
          <a:prstGeom prst="rect">
            <a:avLst/>
          </a:prstGeom>
          <a:solidFill>
            <a:srgbClr val="DBD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94944" y="164592"/>
            <a:ext cx="7735824" cy="384048"/>
          </a:xfrm>
          <a:prstGeom prst="rect">
            <a:avLst/>
          </a:prstGeom>
        </p:spPr>
        <p:txBody>
          <a:bodyPr vert="horz" lIns="0" tIns="0" rIns="0" bIns="0" rtlCol="0" anchor="ctr">
            <a:noAutofit/>
          </a:bodyPr>
          <a:lstStyle/>
          <a:p>
            <a:r>
              <a:rPr lang="en-US" dirty="0"/>
              <a:t>Click to edit Master title style42</a:t>
            </a:r>
          </a:p>
        </p:txBody>
      </p:sp>
      <p:sp>
        <p:nvSpPr>
          <p:cNvPr id="24" name="Text Placeholder 23"/>
          <p:cNvSpPr>
            <a:spLocks noGrp="1"/>
          </p:cNvSpPr>
          <p:nvPr>
            <p:ph type="body" idx="1"/>
          </p:nvPr>
        </p:nvSpPr>
        <p:spPr>
          <a:xfrm>
            <a:off x="685800" y="865565"/>
            <a:ext cx="7759699" cy="376676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TextBox 5">
            <a:extLst>
              <a:ext uri="{FF2B5EF4-FFF2-40B4-BE49-F238E27FC236}">
                <a16:creationId xmlns:a16="http://schemas.microsoft.com/office/drawing/2014/main" id="{ED650B3E-7DA0-47E4-9748-B24A0208F1CA}"/>
              </a:ext>
            </a:extLst>
          </p:cNvPr>
          <p:cNvSpPr txBox="1"/>
          <p:nvPr userDrawn="1"/>
        </p:nvSpPr>
        <p:spPr>
          <a:xfrm>
            <a:off x="8360163" y="4923587"/>
            <a:ext cx="496793" cy="110639"/>
          </a:xfrm>
          <a:prstGeom prst="rect">
            <a:avLst/>
          </a:prstGeom>
          <a:noFill/>
        </p:spPr>
        <p:txBody>
          <a:bodyPr wrap="square" lIns="0" tIns="0" rIns="0" bIns="0" rtlCol="0">
            <a:spAutoFit/>
          </a:bodyPr>
          <a:lstStyle/>
          <a:p>
            <a:pPr algn="r"/>
            <a:fld id="{198DCDC1-55DC-4367-A313-31C40E88617A}" type="slidenum">
              <a:rPr lang="en-US" sz="700" smtClean="0">
                <a:solidFill>
                  <a:srgbClr val="414042"/>
                </a:solidFill>
              </a:rPr>
              <a:t>‹#›</a:t>
            </a:fld>
            <a:endParaRPr lang="en-US" sz="700" dirty="0">
              <a:solidFill>
                <a:srgbClr val="414042"/>
              </a:solidFill>
            </a:endParaRPr>
          </a:p>
        </p:txBody>
      </p:sp>
      <p:sp>
        <p:nvSpPr>
          <p:cNvPr id="4" name="TextBox 3">
            <a:extLst>
              <a:ext uri="{FF2B5EF4-FFF2-40B4-BE49-F238E27FC236}">
                <a16:creationId xmlns:a16="http://schemas.microsoft.com/office/drawing/2014/main" id="{BCE7DAE6-672D-4E30-B617-4C20C7FB20BD}"/>
              </a:ext>
            </a:extLst>
          </p:cNvPr>
          <p:cNvSpPr txBox="1"/>
          <p:nvPr userDrawn="1"/>
        </p:nvSpPr>
        <p:spPr>
          <a:xfrm>
            <a:off x="194553" y="4260715"/>
            <a:ext cx="184731" cy="276999"/>
          </a:xfrm>
          <a:prstGeom prst="rect">
            <a:avLst/>
          </a:prstGeom>
          <a:noFill/>
        </p:spPr>
        <p:txBody>
          <a:bodyPr wrap="none" rtlCol="0">
            <a:spAutoFit/>
          </a:bodyPr>
          <a:lstStyle/>
          <a:p>
            <a:endParaRPr lang="en-US" sz="1200" dirty="0" err="1">
              <a:latin typeface="Arial" panose="020B0604020202020204" pitchFamily="34" charset="0"/>
            </a:endParaRPr>
          </a:p>
        </p:txBody>
      </p:sp>
      <p:sp>
        <p:nvSpPr>
          <p:cNvPr id="10" name="TextBox 9">
            <a:extLst>
              <a:ext uri="{FF2B5EF4-FFF2-40B4-BE49-F238E27FC236}">
                <a16:creationId xmlns:a16="http://schemas.microsoft.com/office/drawing/2014/main" id="{86686789-9FDA-46BC-9875-217FC8534140}"/>
              </a:ext>
            </a:extLst>
          </p:cNvPr>
          <p:cNvSpPr txBox="1"/>
          <p:nvPr userDrawn="1"/>
        </p:nvSpPr>
        <p:spPr>
          <a:xfrm>
            <a:off x="694944" y="4866086"/>
            <a:ext cx="3384260"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Business &amp; Marketing, Economics, and Digital Marketing</a:t>
            </a:r>
          </a:p>
        </p:txBody>
      </p:sp>
      <p:sp>
        <p:nvSpPr>
          <p:cNvPr id="11" name="TextBox 10">
            <a:extLst>
              <a:ext uri="{FF2B5EF4-FFF2-40B4-BE49-F238E27FC236}">
                <a16:creationId xmlns:a16="http://schemas.microsoft.com/office/drawing/2014/main" id="{AAB75B59-9310-4D12-B8AB-3D539D27C359}"/>
              </a:ext>
            </a:extLst>
          </p:cNvPr>
          <p:cNvSpPr txBox="1"/>
          <p:nvPr userDrawn="1"/>
        </p:nvSpPr>
        <p:spPr>
          <a:xfrm>
            <a:off x="7774169" y="4855795"/>
            <a:ext cx="784189"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2020/2021</a:t>
            </a:r>
          </a:p>
        </p:txBody>
      </p:sp>
      <p:pic>
        <p:nvPicPr>
          <p:cNvPr id="21" name="Picture 20" descr="A picture containing drawing&#10;&#10;Description automatically generated">
            <a:extLst>
              <a:ext uri="{FF2B5EF4-FFF2-40B4-BE49-F238E27FC236}">
                <a16:creationId xmlns:a16="http://schemas.microsoft.com/office/drawing/2014/main" id="{F4D7F0F3-F14F-4231-B370-8C5A4CDF590F}"/>
              </a:ext>
            </a:extLst>
          </p:cNvPr>
          <p:cNvPicPr>
            <a:picLocks noChangeAspect="1"/>
          </p:cNvPicPr>
          <p:nvPr userDrawn="1"/>
        </p:nvPicPr>
        <p:blipFill>
          <a:blip r:embed="rId14"/>
          <a:stretch>
            <a:fillRect/>
          </a:stretch>
        </p:blipFill>
        <p:spPr>
          <a:xfrm>
            <a:off x="130075" y="4500484"/>
            <a:ext cx="416155" cy="53374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85382473"/>
      </p:ext>
    </p:extLst>
  </p:cSld>
  <p:clrMap bg1="lt1" tx1="dk1" bg2="lt2" tx2="dk2" accent1="accent1" accent2="accent2" accent3="accent3" accent4="accent4" accent5="accent5" accent6="accent6" hlink="hlink" folHlink="folHlink"/>
  <p:sldLayoutIdLst>
    <p:sldLayoutId id="2147483831" r:id="rId1"/>
    <p:sldLayoutId id="2147483846" r:id="rId2"/>
    <p:sldLayoutId id="2147483847" r:id="rId3"/>
    <p:sldLayoutId id="2147483844" r:id="rId4"/>
    <p:sldLayoutId id="2147483845" r:id="rId5"/>
    <p:sldLayoutId id="2147483834" r:id="rId6"/>
    <p:sldLayoutId id="2147483836" r:id="rId7"/>
    <p:sldLayoutId id="2147483839" r:id="rId8"/>
    <p:sldLayoutId id="2147483782" r:id="rId9"/>
    <p:sldLayoutId id="2147483848" r:id="rId10"/>
    <p:sldLayoutId id="2147483818" r:id="rId11"/>
  </p:sldLayoutIdLst>
  <p:hf hdr="0" ftr="0" dt="0"/>
  <p:txStyles>
    <p:titleStyle>
      <a:lvl1pPr algn="l" defTabSz="914400" rtl="0" eaLnBrk="1" latinLnBrk="0" hangingPunct="1">
        <a:lnSpc>
          <a:spcPct val="90000"/>
        </a:lnSpc>
        <a:spcBef>
          <a:spcPct val="0"/>
        </a:spcBef>
        <a:buNone/>
        <a:defRPr sz="2000" kern="1200">
          <a:solidFill>
            <a:schemeClr val="bg1"/>
          </a:solidFill>
          <a:latin typeface="Arial" charset="0"/>
          <a:ea typeface="Arial" charset="0"/>
          <a:cs typeface="Arial" charset="0"/>
        </a:defRPr>
      </a:lvl1pPr>
    </p:titleStyle>
    <p:bodyStyle>
      <a:lvl1pPr marL="228600" indent="-228600" algn="l" defTabSz="914400" rtl="0" eaLnBrk="1" latinLnBrk="0" hangingPunct="1">
        <a:lnSpc>
          <a:spcPct val="90000"/>
        </a:lnSpc>
        <a:spcBef>
          <a:spcPts val="1000"/>
        </a:spcBef>
        <a:buClr>
          <a:srgbClr val="2597CB"/>
        </a:buClr>
        <a:buSzPct val="140000"/>
        <a:buFont typeface="Arial"/>
        <a:buChar char="•"/>
        <a:defRPr sz="1600" kern="1200">
          <a:solidFill>
            <a:srgbClr val="414042"/>
          </a:solidFill>
          <a:latin typeface="Arial" charset="0"/>
          <a:ea typeface="Arial" charset="0"/>
          <a:cs typeface="Arial" charset="0"/>
        </a:defRPr>
      </a:lvl1pPr>
      <a:lvl2pPr marL="687388" indent="-234950" algn="l" defTabSz="914400" rtl="0" eaLnBrk="1" latinLnBrk="0" hangingPunct="1">
        <a:lnSpc>
          <a:spcPct val="90000"/>
        </a:lnSpc>
        <a:spcBef>
          <a:spcPts val="500"/>
        </a:spcBef>
        <a:buClr>
          <a:srgbClr val="2597CB"/>
        </a:buClr>
        <a:buFont typeface="Courier New" charset="0"/>
        <a:buChar char="o"/>
        <a:defRPr sz="1400" kern="1200">
          <a:solidFill>
            <a:srgbClr val="414042"/>
          </a:solidFill>
          <a:latin typeface="Arial" charset="0"/>
          <a:ea typeface="Arial" charset="0"/>
          <a:cs typeface="Arial" charset="0"/>
        </a:defRPr>
      </a:lvl2pPr>
      <a:lvl3pPr marL="1141413" indent="-230188" algn="l" defTabSz="914400" rtl="0" eaLnBrk="1" latinLnBrk="0" hangingPunct="1">
        <a:lnSpc>
          <a:spcPct val="90000"/>
        </a:lnSpc>
        <a:spcBef>
          <a:spcPts val="500"/>
        </a:spcBef>
        <a:buClr>
          <a:srgbClr val="2597CB"/>
        </a:buClr>
        <a:buFont typeface="Arial"/>
        <a:buChar char="•"/>
        <a:defRPr sz="1200" kern="1200">
          <a:solidFill>
            <a:srgbClr val="414042"/>
          </a:solidFill>
          <a:latin typeface="Arial" charset="0"/>
          <a:ea typeface="Arial" charset="0"/>
          <a:cs typeface="Arial" charset="0"/>
        </a:defRPr>
      </a:lvl3pPr>
      <a:lvl4pPr marL="1601788" indent="-228600" algn="l" defTabSz="914400" rtl="0" eaLnBrk="1" latinLnBrk="0" hangingPunct="1">
        <a:lnSpc>
          <a:spcPct val="90000"/>
        </a:lnSpc>
        <a:spcBef>
          <a:spcPts val="500"/>
        </a:spcBef>
        <a:buClr>
          <a:srgbClr val="703F85"/>
        </a:buClr>
        <a:buSzPct val="60000"/>
        <a:buFont typeface="Courier New" charset="0"/>
        <a:buChar char="o"/>
        <a:defRPr sz="1100" kern="1200">
          <a:solidFill>
            <a:schemeClr val="tx1"/>
          </a:solidFill>
          <a:latin typeface="Arial" charset="0"/>
          <a:ea typeface="Arial" charset="0"/>
          <a:cs typeface="Arial" charset="0"/>
        </a:defRPr>
      </a:lvl4pPr>
      <a:lvl5pPr marL="2055813" indent="-230188" algn="l" defTabSz="914400" rtl="0" eaLnBrk="1" latinLnBrk="0" hangingPunct="1">
        <a:lnSpc>
          <a:spcPct val="90000"/>
        </a:lnSpc>
        <a:spcBef>
          <a:spcPts val="500"/>
        </a:spcBef>
        <a:buClr>
          <a:srgbClr val="703F85"/>
        </a:buClr>
        <a:buFont typeface="Arial"/>
        <a:buChar char="•"/>
        <a:defRPr sz="11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p15:clr>
            <a:srgbClr val="F26B43"/>
          </p15:clr>
        </p15:guide>
        <p15:guide id="2" pos="5328" userDrawn="1">
          <p15:clr>
            <a:srgbClr val="F26B43"/>
          </p15:clr>
        </p15:guide>
        <p15:guide id="4" orient="horz" pos="540">
          <p15:clr>
            <a:srgbClr val="F26B43"/>
          </p15:clr>
        </p15:guide>
        <p15:guide id="5" orient="horz" pos="3156" userDrawn="1">
          <p15:clr>
            <a:srgbClr val="F26B43"/>
          </p15:clr>
        </p15:guide>
        <p15:guide id="6" pos="2880" userDrawn="1">
          <p15:clr>
            <a:srgbClr val="F26B43"/>
          </p15:clr>
        </p15:guide>
        <p15:guide id="7" orient="horz" pos="171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136526" y="-51197"/>
            <a:ext cx="8856663" cy="773907"/>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36" tIns="45718" rIns="91436" bIns="45718" numCol="1" anchor="b" anchorCtr="0" compatLnSpc="1">
            <a:prstTxWarp prst="textNoShape">
              <a:avLst/>
            </a:prstTxWarp>
          </a:bodyPr>
          <a:lstStyle/>
          <a:p>
            <a:pPr lvl="0"/>
            <a:r>
              <a:rPr lang="en-US" altLang="en-US"/>
              <a:t>Click to edit Master title style</a:t>
            </a:r>
          </a:p>
        </p:txBody>
      </p:sp>
      <p:sp>
        <p:nvSpPr>
          <p:cNvPr id="34819" name="Rectangle 3"/>
          <p:cNvSpPr>
            <a:spLocks noGrp="1" noChangeArrowheads="1"/>
          </p:cNvSpPr>
          <p:nvPr>
            <p:ph type="body" idx="1"/>
          </p:nvPr>
        </p:nvSpPr>
        <p:spPr bwMode="auto">
          <a:xfrm>
            <a:off x="136526" y="826294"/>
            <a:ext cx="8856663" cy="374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4820" name="Rectangle 4"/>
          <p:cNvSpPr>
            <a:spLocks noGrp="1" noChangeArrowheads="1"/>
          </p:cNvSpPr>
          <p:nvPr>
            <p:ph type="dt" sz="half" idx="2"/>
          </p:nvPr>
        </p:nvSpPr>
        <p:spPr bwMode="auto">
          <a:xfrm>
            <a:off x="685800" y="4686300"/>
            <a:ext cx="1905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defRPr sz="1050">
                <a:latin typeface="Arial" charset="0"/>
              </a:defRPr>
            </a:lvl1pPr>
          </a:lstStyle>
          <a:p>
            <a:pPr>
              <a:defRPr/>
            </a:pPr>
            <a:endParaRPr lang="en-US" altLang="en-US"/>
          </a:p>
        </p:txBody>
      </p:sp>
      <p:sp>
        <p:nvSpPr>
          <p:cNvPr id="34821" name="Rectangle 5"/>
          <p:cNvSpPr>
            <a:spLocks noGrp="1" noChangeArrowheads="1"/>
          </p:cNvSpPr>
          <p:nvPr>
            <p:ph type="ftr" sz="quarter" idx="3"/>
          </p:nvPr>
        </p:nvSpPr>
        <p:spPr bwMode="auto">
          <a:xfrm>
            <a:off x="7010400" y="4914900"/>
            <a:ext cx="2895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ctr">
              <a:defRPr sz="600" dirty="0" smtClean="0">
                <a:latin typeface="Arial" charset="0"/>
              </a:defRPr>
            </a:lvl1pPr>
          </a:lstStyle>
          <a:p>
            <a:pPr>
              <a:defRPr/>
            </a:pPr>
            <a:r>
              <a:rPr lang="en-US" altLang="en-US"/>
              <a:t>© 2006 Mariah Kraus</a:t>
            </a:r>
          </a:p>
        </p:txBody>
      </p:sp>
    </p:spTree>
    <p:extLst>
      <p:ext uri="{BB962C8B-B14F-4D97-AF65-F5344CB8AC3E}">
        <p14:creationId xmlns:p14="http://schemas.microsoft.com/office/powerpoint/2010/main" val="2048683687"/>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wipe(left)">
                                      <p:cBhvr>
                                        <p:cTn id="7" dur="500"/>
                                        <p:tgtEl>
                                          <p:spTgt spid="348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19">
                                            <p:txEl>
                                              <p:pRg st="0" end="0"/>
                                            </p:txEl>
                                          </p:spTgt>
                                        </p:tgtEl>
                                        <p:attrNameLst>
                                          <p:attrName>style.visibility</p:attrName>
                                        </p:attrNameLst>
                                      </p:cBhvr>
                                      <p:to>
                                        <p:strVal val="visible"/>
                                      </p:to>
                                    </p:set>
                                    <p:animEffect transition="in" filter="wipe(left)">
                                      <p:cBhvr>
                                        <p:cTn id="12" dur="500"/>
                                        <p:tgtEl>
                                          <p:spTgt spid="34819">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4819">
                                            <p:txEl>
                                              <p:pRg st="1" end="1"/>
                                            </p:txEl>
                                          </p:spTgt>
                                        </p:tgtEl>
                                        <p:attrNameLst>
                                          <p:attrName>style.visibility</p:attrName>
                                        </p:attrNameLst>
                                      </p:cBhvr>
                                      <p:to>
                                        <p:strVal val="visible"/>
                                      </p:to>
                                    </p:set>
                                    <p:animEffect transition="in" filter="wipe(left)">
                                      <p:cBhvr>
                                        <p:cTn id="15" dur="500"/>
                                        <p:tgtEl>
                                          <p:spTgt spid="34819">
                                            <p:txEl>
                                              <p:pRg st="1" end="1"/>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4819">
                                            <p:txEl>
                                              <p:pRg st="2" end="2"/>
                                            </p:txEl>
                                          </p:spTgt>
                                        </p:tgtEl>
                                        <p:attrNameLst>
                                          <p:attrName>style.visibility</p:attrName>
                                        </p:attrNameLst>
                                      </p:cBhvr>
                                      <p:to>
                                        <p:strVal val="visible"/>
                                      </p:to>
                                    </p:set>
                                    <p:animEffect transition="in" filter="wipe(left)">
                                      <p:cBhvr>
                                        <p:cTn id="18" dur="500"/>
                                        <p:tgtEl>
                                          <p:spTgt spid="34819">
                                            <p:txEl>
                                              <p:pRg st="2" end="2"/>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4819">
                                            <p:txEl>
                                              <p:pRg st="3" end="3"/>
                                            </p:txEl>
                                          </p:spTgt>
                                        </p:tgtEl>
                                        <p:attrNameLst>
                                          <p:attrName>style.visibility</p:attrName>
                                        </p:attrNameLst>
                                      </p:cBhvr>
                                      <p:to>
                                        <p:strVal val="visible"/>
                                      </p:to>
                                    </p:set>
                                    <p:animEffect transition="in" filter="wipe(left)">
                                      <p:cBhvr>
                                        <p:cTn id="21" dur="500"/>
                                        <p:tgtEl>
                                          <p:spTgt spid="34819">
                                            <p:txEl>
                                              <p:pRg st="3" end="3"/>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4819">
                                            <p:txEl>
                                              <p:pRg st="4" end="4"/>
                                            </p:txEl>
                                          </p:spTgt>
                                        </p:tgtEl>
                                        <p:attrNameLst>
                                          <p:attrName>style.visibility</p:attrName>
                                        </p:attrNameLst>
                                      </p:cBhvr>
                                      <p:to>
                                        <p:strVal val="visible"/>
                                      </p:to>
                                    </p:set>
                                    <p:animEffect transition="in" filter="wipe(left)">
                                      <p:cBhvr>
                                        <p:cTn id="24" dur="500"/>
                                        <p:tgtEl>
                                          <p:spTgt spid="34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P spid="34819" grpId="0" build="p" autoUpdateAnimBg="0">
        <p:tmplLst>
          <p:tmpl lvl="1">
            <p:tnLst>
              <p:par>
                <p:cTn presetID="22" presetClass="entr" presetSubtype="8" fill="hold" nodeType="clickEffect">
                  <p:stCondLst>
                    <p:cond delay="0"/>
                  </p:stCondLst>
                  <p:childTnLst>
                    <p:set>
                      <p:cBhvr>
                        <p:cTn dur="1" fill="hold">
                          <p:stCondLst>
                            <p:cond delay="0"/>
                          </p:stCondLst>
                        </p:cTn>
                        <p:tgtEl>
                          <p:spTgt spid="34819"/>
                        </p:tgtEl>
                        <p:attrNameLst>
                          <p:attrName>style.visibility</p:attrName>
                        </p:attrNameLst>
                      </p:cBhvr>
                      <p:to>
                        <p:strVal val="visible"/>
                      </p:to>
                    </p:set>
                    <p:animEffect transition="in" filter="wipe(left)">
                      <p:cBhvr>
                        <p:cTn dur="500"/>
                        <p:tgtEl>
                          <p:spTgt spid="34819"/>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34819"/>
                        </p:tgtEl>
                        <p:attrNameLst>
                          <p:attrName>style.visibility</p:attrName>
                        </p:attrNameLst>
                      </p:cBhvr>
                      <p:to>
                        <p:strVal val="visible"/>
                      </p:to>
                    </p:set>
                    <p:animEffect transition="in" filter="wipe(left)">
                      <p:cBhvr>
                        <p:cTn dur="500"/>
                        <p:tgtEl>
                          <p:spTgt spid="34819"/>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34819"/>
                        </p:tgtEl>
                        <p:attrNameLst>
                          <p:attrName>style.visibility</p:attrName>
                        </p:attrNameLst>
                      </p:cBhvr>
                      <p:to>
                        <p:strVal val="visible"/>
                      </p:to>
                    </p:set>
                    <p:animEffect transition="in" filter="wipe(left)">
                      <p:cBhvr>
                        <p:cTn dur="500"/>
                        <p:tgtEl>
                          <p:spTgt spid="34819"/>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34819"/>
                        </p:tgtEl>
                        <p:attrNameLst>
                          <p:attrName>style.visibility</p:attrName>
                        </p:attrNameLst>
                      </p:cBhvr>
                      <p:to>
                        <p:strVal val="visible"/>
                      </p:to>
                    </p:set>
                    <p:animEffect transition="in" filter="wipe(left)">
                      <p:cBhvr>
                        <p:cTn dur="500"/>
                        <p:tgtEl>
                          <p:spTgt spid="34819"/>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34819"/>
                        </p:tgtEl>
                        <p:attrNameLst>
                          <p:attrName>style.visibility</p:attrName>
                        </p:attrNameLst>
                      </p:cBhvr>
                      <p:to>
                        <p:strVal val="visible"/>
                      </p:to>
                    </p:set>
                    <p:animEffect transition="in" filter="wipe(left)">
                      <p:cBhvr>
                        <p:cTn dur="500"/>
                        <p:tgtEl>
                          <p:spTgt spid="34819"/>
                        </p:tgtEl>
                      </p:cBhvr>
                    </p:animEffect>
                  </p:childTnLst>
                </p:cTn>
              </p:par>
            </p:tnLst>
          </p:tmpl>
        </p:tmplLst>
      </p:bldP>
    </p:bldLst>
  </p:timing>
  <p:hf sldNum="0" hdr="0" dt="0"/>
  <p:txStyles>
    <p:titleStyle>
      <a:lvl1pPr algn="l" rtl="0" eaLnBrk="0" fontAlgn="base" hangingPunct="0">
        <a:spcBef>
          <a:spcPct val="0"/>
        </a:spcBef>
        <a:spcAft>
          <a:spcPct val="0"/>
        </a:spcAft>
        <a:defRPr sz="33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Arial" charset="0"/>
        </a:defRPr>
      </a:lvl2pPr>
      <a:lvl3pPr algn="l" rtl="0" eaLnBrk="0" fontAlgn="base" hangingPunct="0">
        <a:spcBef>
          <a:spcPct val="0"/>
        </a:spcBef>
        <a:spcAft>
          <a:spcPct val="0"/>
        </a:spcAft>
        <a:defRPr sz="3300">
          <a:solidFill>
            <a:schemeClr val="tx2"/>
          </a:solidFill>
          <a:latin typeface="Arial" charset="0"/>
        </a:defRPr>
      </a:lvl3pPr>
      <a:lvl4pPr algn="l" rtl="0" eaLnBrk="0" fontAlgn="base" hangingPunct="0">
        <a:spcBef>
          <a:spcPct val="0"/>
        </a:spcBef>
        <a:spcAft>
          <a:spcPct val="0"/>
        </a:spcAft>
        <a:defRPr sz="3300">
          <a:solidFill>
            <a:schemeClr val="tx2"/>
          </a:solidFill>
          <a:latin typeface="Arial" charset="0"/>
        </a:defRPr>
      </a:lvl4pPr>
      <a:lvl5pPr algn="l" rtl="0" eaLnBrk="0" fontAlgn="base" hangingPunct="0">
        <a:spcBef>
          <a:spcPct val="0"/>
        </a:spcBef>
        <a:spcAft>
          <a:spcPct val="0"/>
        </a:spcAft>
        <a:defRPr sz="3300">
          <a:solidFill>
            <a:schemeClr val="tx2"/>
          </a:solidFill>
          <a:latin typeface="Arial" charset="0"/>
        </a:defRPr>
      </a:lvl5pPr>
      <a:lvl6pPr marL="342900" algn="l" rtl="0" eaLnBrk="0" fontAlgn="base" hangingPunct="0">
        <a:spcBef>
          <a:spcPct val="0"/>
        </a:spcBef>
        <a:spcAft>
          <a:spcPct val="0"/>
        </a:spcAft>
        <a:defRPr sz="3300">
          <a:solidFill>
            <a:schemeClr val="tx2"/>
          </a:solidFill>
          <a:latin typeface="Arial" charset="0"/>
        </a:defRPr>
      </a:lvl6pPr>
      <a:lvl7pPr marL="685800" algn="l" rtl="0" eaLnBrk="0" fontAlgn="base" hangingPunct="0">
        <a:spcBef>
          <a:spcPct val="0"/>
        </a:spcBef>
        <a:spcAft>
          <a:spcPct val="0"/>
        </a:spcAft>
        <a:defRPr sz="3300">
          <a:solidFill>
            <a:schemeClr val="tx2"/>
          </a:solidFill>
          <a:latin typeface="Arial" charset="0"/>
        </a:defRPr>
      </a:lvl7pPr>
      <a:lvl8pPr marL="1028700" algn="l" rtl="0" eaLnBrk="0" fontAlgn="base" hangingPunct="0">
        <a:spcBef>
          <a:spcPct val="0"/>
        </a:spcBef>
        <a:spcAft>
          <a:spcPct val="0"/>
        </a:spcAft>
        <a:defRPr sz="3300">
          <a:solidFill>
            <a:schemeClr val="tx2"/>
          </a:solidFill>
          <a:latin typeface="Arial" charset="0"/>
        </a:defRPr>
      </a:lvl8pPr>
      <a:lvl9pPr marL="1371600" algn="l" rtl="0" eaLnBrk="0" fontAlgn="base" hangingPunct="0">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6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sz="1800">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eaLnBrk="0" fontAlgn="base" hangingPunct="0">
        <a:spcBef>
          <a:spcPct val="20000"/>
        </a:spcBef>
        <a:spcAft>
          <a:spcPct val="0"/>
        </a:spcAft>
        <a:buChar char="»"/>
        <a:defRPr sz="1500">
          <a:solidFill>
            <a:schemeClr val="tx1"/>
          </a:solidFill>
          <a:latin typeface="+mn-lt"/>
        </a:defRPr>
      </a:lvl6pPr>
      <a:lvl7pPr marL="2228850" indent="-171450" algn="l" rtl="0" eaLnBrk="0" fontAlgn="base" hangingPunct="0">
        <a:spcBef>
          <a:spcPct val="20000"/>
        </a:spcBef>
        <a:spcAft>
          <a:spcPct val="0"/>
        </a:spcAft>
        <a:buChar char="»"/>
        <a:defRPr sz="1500">
          <a:solidFill>
            <a:schemeClr val="tx1"/>
          </a:solidFill>
          <a:latin typeface="+mn-lt"/>
        </a:defRPr>
      </a:lvl7pPr>
      <a:lvl8pPr marL="2571750" indent="-171450" algn="l" rtl="0" eaLnBrk="0" fontAlgn="base" hangingPunct="0">
        <a:spcBef>
          <a:spcPct val="20000"/>
        </a:spcBef>
        <a:spcAft>
          <a:spcPct val="0"/>
        </a:spcAft>
        <a:buChar char="»"/>
        <a:defRPr sz="1500">
          <a:solidFill>
            <a:schemeClr val="tx1"/>
          </a:solidFill>
          <a:latin typeface="+mn-lt"/>
        </a:defRPr>
      </a:lvl8pPr>
      <a:lvl9pPr marL="2914650" indent="-171450" algn="l" rtl="0" eaLnBrk="0" fontAlgn="base" hangingPunct="0">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27467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4AD367-03F9-47BD-A722-4821612E56BF}"/>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BEA91F-7753-4635-BCDC-E8239BB9E025}"/>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6D9C84-66F9-46C5-842A-D78FD3BD95C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0063007-2180-49E2-871B-12A9A9328471}" type="datetimeFigureOut">
              <a:rPr lang="en-US" smtClean="0"/>
              <a:t>3/31/2026</a:t>
            </a:fld>
            <a:endParaRPr lang="en-US"/>
          </a:p>
        </p:txBody>
      </p:sp>
      <p:sp>
        <p:nvSpPr>
          <p:cNvPr id="5" name="Footer Placeholder 4">
            <a:extLst>
              <a:ext uri="{FF2B5EF4-FFF2-40B4-BE49-F238E27FC236}">
                <a16:creationId xmlns:a16="http://schemas.microsoft.com/office/drawing/2014/main" id="{3A880856-ACC0-4DD9-ABE9-ABC79244C9DE}"/>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457AAF-DE26-4B1E-BE07-70E062D3C2D2}"/>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A798F49-E831-4ED0-8B30-5E4F106E1E3B}" type="slidenum">
              <a:rPr lang="en-US" smtClean="0"/>
              <a:t>‹#›</a:t>
            </a:fld>
            <a:endParaRPr lang="en-US"/>
          </a:p>
        </p:txBody>
      </p:sp>
    </p:spTree>
    <p:extLst>
      <p:ext uri="{BB962C8B-B14F-4D97-AF65-F5344CB8AC3E}">
        <p14:creationId xmlns:p14="http://schemas.microsoft.com/office/powerpoint/2010/main" val="2188782335"/>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hyperlink" Target="http://postingsfromanedge.blogspot.com/2011/04/creative-commons-in-classroom-use-share.html" TargetMode="External"/><Relationship Id="rId5" Type="http://schemas.openxmlformats.org/officeDocument/2006/relationships/image" Target="../media/image8.png"/><Relationship Id="rId4" Type="http://schemas.openxmlformats.org/officeDocument/2006/relationships/hyperlink" Target="https://en.wikipedia.org/wiki/Patent_troll"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www.cbc.ca/radio/undertheinfluence/the-best-selling-cookie-in-the-world-is-a-copycat-brand-1.7080582#:~:text=Oreo%20is%20the%20best%2Dselling,as%20Na%2DBis%2DCo."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www.biologycorner.com/worksheets/scientific_method_experiments.html" TargetMode="External"/><Relationship Id="rId5" Type="http://schemas.openxmlformats.org/officeDocument/2006/relationships/image" Target="../media/image11.jpg"/><Relationship Id="rId4" Type="http://schemas.openxmlformats.org/officeDocument/2006/relationships/hyperlink" Target="https://youtu.be/G4qaiopZK5U?si=ulrTxVk1iOkzoEx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pixnio.com/computer-arts/photomontage/photomontage-light-bulb-brain-inspiration-electricity-invention"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www.copyright.iupui.edu/permhome.htm"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8" Type="http://schemas.openxmlformats.org/officeDocument/2006/relationships/hyperlink" Target="http://www.ilmondodisimis.com/2021/03/recensione-crave-di-tracy-wolff.html" TargetMode="External"/><Relationship Id="rId3" Type="http://schemas.openxmlformats.org/officeDocument/2006/relationships/slideLayout" Target="../slideLayouts/slideLayout16.xml"/><Relationship Id="rId7" Type="http://schemas.openxmlformats.org/officeDocument/2006/relationships/image" Target="../media/image17.jp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https://www.youtube.com/embed/YoDh_gHDvkk?feature=oembed" TargetMode="External"/><Relationship Id="rId1" Type="http://schemas.openxmlformats.org/officeDocument/2006/relationships/video" Target="https://www.youtube.com/embed/rog8ou-ZepE?feature=oembed" TargetMode="Externa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3" Type="http://schemas.openxmlformats.org/officeDocument/2006/relationships/hyperlink" Target="http://megmaniausa.blogspot.com/2012/11/telestrations-telephone-game-skeched.html" TargetMode="External"/><Relationship Id="rId2" Type="http://schemas.openxmlformats.org/officeDocument/2006/relationships/image" Target="../media/image2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76F389E-DF5C-41EB-9EED-BCA8E7DFEF8A}"/>
              </a:ext>
            </a:extLst>
          </p:cNvPr>
          <p:cNvSpPr>
            <a:spLocks noGrp="1"/>
          </p:cNvSpPr>
          <p:nvPr>
            <p:ph type="body" sz="quarter" idx="10"/>
          </p:nvPr>
        </p:nvSpPr>
        <p:spPr/>
        <p:txBody>
          <a:bodyPr>
            <a:normAutofit/>
          </a:bodyPr>
          <a:lstStyle/>
          <a:p>
            <a:r>
              <a:rPr lang="en-US" dirty="0"/>
              <a:t>Mrs. Schafer</a:t>
            </a:r>
          </a:p>
        </p:txBody>
      </p:sp>
      <p:sp>
        <p:nvSpPr>
          <p:cNvPr id="4" name="Title 3">
            <a:extLst>
              <a:ext uri="{FF2B5EF4-FFF2-40B4-BE49-F238E27FC236}">
                <a16:creationId xmlns:a16="http://schemas.microsoft.com/office/drawing/2014/main" id="{DABA2A26-3540-40B1-B7BC-7586323523F3}"/>
              </a:ext>
            </a:extLst>
          </p:cNvPr>
          <p:cNvSpPr>
            <a:spLocks noGrp="1"/>
          </p:cNvSpPr>
          <p:nvPr>
            <p:ph type="title"/>
          </p:nvPr>
        </p:nvSpPr>
        <p:spPr/>
        <p:txBody>
          <a:bodyPr/>
          <a:lstStyle/>
          <a:p>
            <a:r>
              <a:rPr lang="en-US" dirty="0"/>
              <a:t>Business &amp; Marketing, Digital Marketing &amp; Social Media, &amp; Economics</a:t>
            </a:r>
          </a:p>
        </p:txBody>
      </p:sp>
    </p:spTree>
    <p:extLst>
      <p:ext uri="{BB962C8B-B14F-4D97-AF65-F5344CB8AC3E}">
        <p14:creationId xmlns:p14="http://schemas.microsoft.com/office/powerpoint/2010/main" val="314979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4AADD7-387E-4013-8C84-380563E11459}"/>
              </a:ext>
            </a:extLst>
          </p:cNvPr>
          <p:cNvSpPr>
            <a:spLocks noGrp="1"/>
          </p:cNvSpPr>
          <p:nvPr>
            <p:ph type="body" sz="quarter" idx="13"/>
          </p:nvPr>
        </p:nvSpPr>
        <p:spPr>
          <a:xfrm>
            <a:off x="3070563" y="963555"/>
            <a:ext cx="5203825" cy="3162035"/>
          </a:xfrm>
        </p:spPr>
        <p:txBody>
          <a:bodyPr/>
          <a:lstStyle/>
          <a:p>
            <a:r>
              <a:rPr lang="en-US" sz="1200" dirty="0"/>
              <a:t>Intellectual Property</a:t>
            </a:r>
          </a:p>
          <a:p>
            <a:pPr lvl="1"/>
            <a:r>
              <a:rPr lang="en-US" sz="1100" dirty="0"/>
              <a:t>Patents</a:t>
            </a:r>
          </a:p>
          <a:p>
            <a:pPr lvl="1"/>
            <a:r>
              <a:rPr lang="en-US" sz="1100" dirty="0"/>
              <a:t>Trademarks</a:t>
            </a:r>
          </a:p>
          <a:p>
            <a:pPr lvl="1"/>
            <a:r>
              <a:rPr lang="en-US" sz="1100" dirty="0"/>
              <a:t>Copyrights</a:t>
            </a:r>
          </a:p>
          <a:p>
            <a:pPr lvl="1"/>
            <a:r>
              <a:rPr lang="en-US" sz="1100" dirty="0"/>
              <a:t>Fair Use</a:t>
            </a:r>
          </a:p>
          <a:p>
            <a:pPr lvl="1"/>
            <a:r>
              <a:rPr lang="en-US" sz="1100" dirty="0"/>
              <a:t>Open Source</a:t>
            </a:r>
          </a:p>
          <a:p>
            <a:pPr lvl="1"/>
            <a:r>
              <a:rPr lang="en-US" sz="1100" dirty="0"/>
              <a:t>Public Domain</a:t>
            </a:r>
          </a:p>
          <a:p>
            <a:r>
              <a:rPr lang="en-US" sz="1200" dirty="0"/>
              <a:t>Examples of lawsuits</a:t>
            </a:r>
          </a:p>
          <a:p>
            <a:r>
              <a:rPr lang="en-US" sz="1200" dirty="0"/>
              <a:t>Fair Use Questions</a:t>
            </a:r>
            <a:endParaRPr lang="en-US" dirty="0"/>
          </a:p>
        </p:txBody>
      </p:sp>
    </p:spTree>
    <p:extLst>
      <p:ext uri="{BB962C8B-B14F-4D97-AF65-F5344CB8AC3E}">
        <p14:creationId xmlns:p14="http://schemas.microsoft.com/office/powerpoint/2010/main" val="209844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15B96-7275-40BC-A2EB-7A80D63F5120}"/>
              </a:ext>
            </a:extLst>
          </p:cNvPr>
          <p:cNvSpPr>
            <a:spLocks noGrp="1"/>
          </p:cNvSpPr>
          <p:nvPr>
            <p:ph type="title"/>
          </p:nvPr>
        </p:nvSpPr>
        <p:spPr/>
        <p:txBody>
          <a:bodyPr/>
          <a:lstStyle/>
          <a:p>
            <a:r>
              <a:rPr lang="en-US" dirty="0"/>
              <a:t>Types of Intellectual Property	</a:t>
            </a:r>
          </a:p>
        </p:txBody>
      </p:sp>
      <p:sp>
        <p:nvSpPr>
          <p:cNvPr id="3" name="Text Placeholder 2">
            <a:extLst>
              <a:ext uri="{FF2B5EF4-FFF2-40B4-BE49-F238E27FC236}">
                <a16:creationId xmlns:a16="http://schemas.microsoft.com/office/drawing/2014/main" id="{7899AEF3-6719-408D-8BAB-0F589423A8C5}"/>
              </a:ext>
            </a:extLst>
          </p:cNvPr>
          <p:cNvSpPr>
            <a:spLocks noGrp="1"/>
          </p:cNvSpPr>
          <p:nvPr>
            <p:ph type="body" sz="quarter" idx="18"/>
          </p:nvPr>
        </p:nvSpPr>
        <p:spPr>
          <a:xfrm>
            <a:off x="692307" y="865565"/>
            <a:ext cx="2424117" cy="3554299"/>
          </a:xfrm>
        </p:spPr>
        <p:txBody>
          <a:bodyPr/>
          <a:lstStyle/>
          <a:p>
            <a:r>
              <a:rPr lang="en-US" dirty="0"/>
              <a:t>Patent: inventions (including processes, machines, manufactured items)</a:t>
            </a:r>
          </a:p>
          <a:p>
            <a:pPr marL="0" indent="0">
              <a:buNone/>
            </a:pPr>
            <a:endParaRPr lang="en-US" dirty="0"/>
          </a:p>
          <a:p>
            <a:r>
              <a:rPr lang="en-US" dirty="0"/>
              <a:t>Trademark: commercial names, phrases, and logos (don’t expire)</a:t>
            </a:r>
          </a:p>
          <a:p>
            <a:endParaRPr lang="en-US" dirty="0"/>
          </a:p>
          <a:p>
            <a:pPr marL="0" indent="0">
              <a:buNone/>
            </a:pPr>
            <a:endParaRPr lang="en-US" dirty="0"/>
          </a:p>
          <a:p>
            <a:r>
              <a:rPr lang="en-US" dirty="0"/>
              <a:t>Copyright: creative or intellectual works</a:t>
            </a:r>
          </a:p>
        </p:txBody>
      </p:sp>
      <p:pic>
        <p:nvPicPr>
          <p:cNvPr id="9" name="Picture 8" descr="Diagram, engineering drawing&#10;&#10;Description automatically generated">
            <a:extLst>
              <a:ext uri="{FF2B5EF4-FFF2-40B4-BE49-F238E27FC236}">
                <a16:creationId xmlns:a16="http://schemas.microsoft.com/office/drawing/2014/main" id="{AA577D89-BDDA-488E-BE73-987DA9E81A3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213134" y="1219756"/>
            <a:ext cx="3547466" cy="3296635"/>
          </a:xfrm>
          <a:prstGeom prst="rect">
            <a:avLst/>
          </a:prstGeom>
        </p:spPr>
      </p:pic>
      <p:pic>
        <p:nvPicPr>
          <p:cNvPr id="12" name="Picture 11" descr="Shape, icon&#10;&#10;Description automatically generated">
            <a:extLst>
              <a:ext uri="{FF2B5EF4-FFF2-40B4-BE49-F238E27FC236}">
                <a16:creationId xmlns:a16="http://schemas.microsoft.com/office/drawing/2014/main" id="{E14F9553-B302-4794-864D-EE880B3F9F82}"/>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3119783" y="3237146"/>
            <a:ext cx="1363731" cy="1355271"/>
          </a:xfrm>
          <a:prstGeom prst="rect">
            <a:avLst/>
          </a:prstGeom>
        </p:spPr>
      </p:pic>
      <p:sp>
        <p:nvSpPr>
          <p:cNvPr id="16" name="TextBox 15">
            <a:extLst>
              <a:ext uri="{FF2B5EF4-FFF2-40B4-BE49-F238E27FC236}">
                <a16:creationId xmlns:a16="http://schemas.microsoft.com/office/drawing/2014/main" id="{F6F6BF3E-E14C-4074-8B4F-C33143418CED}"/>
              </a:ext>
            </a:extLst>
          </p:cNvPr>
          <p:cNvSpPr txBox="1"/>
          <p:nvPr/>
        </p:nvSpPr>
        <p:spPr>
          <a:xfrm>
            <a:off x="5477239" y="942757"/>
            <a:ext cx="3666761" cy="276999"/>
          </a:xfrm>
          <a:prstGeom prst="rect">
            <a:avLst/>
          </a:prstGeom>
          <a:noFill/>
        </p:spPr>
        <p:txBody>
          <a:bodyPr wrap="square" rtlCol="0">
            <a:spAutoFit/>
          </a:bodyPr>
          <a:lstStyle/>
          <a:p>
            <a:r>
              <a:rPr lang="en-US" sz="1200" dirty="0">
                <a:highlight>
                  <a:srgbClr val="FFFF00"/>
                </a:highlight>
                <a:latin typeface="Arial" panose="020B0604020202020204" pitchFamily="34" charset="0"/>
              </a:rPr>
              <a:t>For what object is this the original patent picture?</a:t>
            </a:r>
          </a:p>
        </p:txBody>
      </p:sp>
      <p:pic>
        <p:nvPicPr>
          <p:cNvPr id="1026" name="Picture 2" descr="Trademark symbol icon Royalty Free Vector Image">
            <a:extLst>
              <a:ext uri="{FF2B5EF4-FFF2-40B4-BE49-F238E27FC236}">
                <a16:creationId xmlns:a16="http://schemas.microsoft.com/office/drawing/2014/main" id="{169C6611-BAD7-4199-8492-E22A0C7C122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5461" b="13091"/>
          <a:stretch/>
        </p:blipFill>
        <p:spPr bwMode="auto">
          <a:xfrm>
            <a:off x="3031299" y="1805804"/>
            <a:ext cx="1540701" cy="1355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732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r>
              <a:rPr lang="en-US" altLang="en-US" dirty="0"/>
              <a:t>Comparison</a:t>
            </a:r>
          </a:p>
        </p:txBody>
      </p:sp>
      <p:pic>
        <p:nvPicPr>
          <p:cNvPr id="77827"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264444" y="826294"/>
            <a:ext cx="6615113" cy="4180285"/>
          </a:xfrm>
        </p:spPr>
      </p:pic>
      <p:sp>
        <p:nvSpPr>
          <p:cNvPr id="77828"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07258C-2BC5-B92A-8E9D-3F99BC17DB2C}"/>
              </a:ext>
            </a:extLst>
          </p:cNvPr>
          <p:cNvSpPr>
            <a:spLocks noGrp="1"/>
          </p:cNvSpPr>
          <p:nvPr>
            <p:ph type="body" sz="quarter" idx="18"/>
          </p:nvPr>
        </p:nvSpPr>
        <p:spPr/>
        <p:txBody>
          <a:bodyPr/>
          <a:lstStyle/>
          <a:p>
            <a:r>
              <a:rPr lang="en-US" dirty="0"/>
              <a:t>First mover advantage? Or is second mover the real advantage?</a:t>
            </a:r>
          </a:p>
          <a:p>
            <a:r>
              <a:rPr lang="en-US" dirty="0"/>
              <a:t>Read this article about competition and the world's most famous cookie. </a:t>
            </a:r>
            <a:r>
              <a:rPr lang="en-US" b="0" i="0" dirty="0">
                <a:effectLst/>
                <a:latin typeface="-apple-system"/>
                <a:hlinkClick r:id="rId3" tooltip="https://www.cbc.ca/radio/undertheinfluence/the-best-selling-cookie-in-the-world-is-a-copycat-brand-1.7080582#:~:text=oreo%20is%20the%20best%2dselling,as%20na%2dbis%2dco."/>
              </a:rPr>
              <a:t>The best-selling cookie in the world is a copycat brand | CBC Radio</a:t>
            </a:r>
            <a:endParaRPr lang="en-US" b="0" i="0" dirty="0">
              <a:effectLst/>
              <a:latin typeface="-apple-system"/>
            </a:endParaRPr>
          </a:p>
          <a:p>
            <a:r>
              <a:rPr lang="en-US" sz="1600" u="sng" dirty="0">
                <a:solidFill>
                  <a:srgbClr val="0563C1"/>
                </a:solidFill>
                <a:effectLst/>
                <a:latin typeface="Calibri" panose="020F0502020204030204" pitchFamily="34" charset="0"/>
                <a:ea typeface="Times New Roman" panose="02020603050405020304" pitchFamily="18" charset="0"/>
                <a:hlinkClick r:id="rId4"/>
              </a:rPr>
              <a:t>https://youtu.be/G4qaiopZK5U?si=ulrTxVk1iOkzoExm</a:t>
            </a:r>
            <a:endParaRPr lang="en-US" sz="1600" dirty="0">
              <a:effectLst/>
              <a:latin typeface="Calibri" panose="020F0502020204030204" pitchFamily="34" charset="0"/>
              <a:ea typeface="Calibri" panose="020F0502020204030204" pitchFamily="34" charset="0"/>
            </a:endParaRPr>
          </a:p>
          <a:p>
            <a:pPr marL="0" indent="0">
              <a:buNone/>
            </a:pPr>
            <a:endParaRPr lang="en-US" b="0" i="0" dirty="0">
              <a:effectLst/>
              <a:latin typeface="-apple-system"/>
            </a:endParaRPr>
          </a:p>
          <a:p>
            <a:endParaRPr lang="en-US" dirty="0"/>
          </a:p>
        </p:txBody>
      </p:sp>
      <p:sp>
        <p:nvSpPr>
          <p:cNvPr id="3" name="Title 2">
            <a:extLst>
              <a:ext uri="{FF2B5EF4-FFF2-40B4-BE49-F238E27FC236}">
                <a16:creationId xmlns:a16="http://schemas.microsoft.com/office/drawing/2014/main" id="{9C252FDC-34F7-B93F-381E-032050F29D40}"/>
              </a:ext>
            </a:extLst>
          </p:cNvPr>
          <p:cNvSpPr>
            <a:spLocks noGrp="1"/>
          </p:cNvSpPr>
          <p:nvPr>
            <p:ph type="title"/>
          </p:nvPr>
        </p:nvSpPr>
        <p:spPr/>
        <p:txBody>
          <a:bodyPr/>
          <a:lstStyle/>
          <a:p>
            <a:r>
              <a:rPr lang="en-US" dirty="0"/>
              <a:t>Bestselling Cookie Example</a:t>
            </a:r>
          </a:p>
        </p:txBody>
      </p:sp>
      <p:pic>
        <p:nvPicPr>
          <p:cNvPr id="5" name="Picture 4" descr="A close-up of two cookies&#10;&#10;Description automatically generated">
            <a:extLst>
              <a:ext uri="{FF2B5EF4-FFF2-40B4-BE49-F238E27FC236}">
                <a16:creationId xmlns:a16="http://schemas.microsoft.com/office/drawing/2014/main" id="{C7F6E2CB-5AEF-4673-3FA0-34921F1A4A66}"/>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2530129" y="2443596"/>
            <a:ext cx="4064000" cy="2095500"/>
          </a:xfrm>
          <a:prstGeom prst="rect">
            <a:avLst/>
          </a:prstGeom>
        </p:spPr>
      </p:pic>
    </p:spTree>
    <p:extLst>
      <p:ext uri="{BB962C8B-B14F-4D97-AF65-F5344CB8AC3E}">
        <p14:creationId xmlns:p14="http://schemas.microsoft.com/office/powerpoint/2010/main" val="1034528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898FE6-2186-4093-927E-B7DBC20872F4}"/>
              </a:ext>
            </a:extLst>
          </p:cNvPr>
          <p:cNvSpPr>
            <a:spLocks noGrp="1"/>
          </p:cNvSpPr>
          <p:nvPr>
            <p:ph type="body" sz="quarter" idx="10"/>
          </p:nvPr>
        </p:nvSpPr>
        <p:spPr/>
        <p:txBody>
          <a:bodyPr/>
          <a:lstStyle/>
          <a:p>
            <a:r>
              <a:rPr lang="en-US" dirty="0"/>
              <a:t>Copyright, Legal paperwork to retain Patent Lawyer, Trademark Issue, Patent Documents</a:t>
            </a:r>
          </a:p>
        </p:txBody>
      </p:sp>
      <p:sp>
        <p:nvSpPr>
          <p:cNvPr id="3" name="Title 2">
            <a:extLst>
              <a:ext uri="{FF2B5EF4-FFF2-40B4-BE49-F238E27FC236}">
                <a16:creationId xmlns:a16="http://schemas.microsoft.com/office/drawing/2014/main" id="{B723CB6B-33CD-418A-8211-419A276AD858}"/>
              </a:ext>
            </a:extLst>
          </p:cNvPr>
          <p:cNvSpPr>
            <a:spLocks noGrp="1"/>
          </p:cNvSpPr>
          <p:nvPr>
            <p:ph type="title"/>
          </p:nvPr>
        </p:nvSpPr>
        <p:spPr/>
        <p:txBody>
          <a:bodyPr/>
          <a:lstStyle/>
          <a:p>
            <a:r>
              <a:rPr lang="en-US" dirty="0"/>
              <a:t>Showcase of Real Items</a:t>
            </a:r>
          </a:p>
        </p:txBody>
      </p:sp>
    </p:spTree>
    <p:extLst>
      <p:ext uri="{BB962C8B-B14F-4D97-AF65-F5344CB8AC3E}">
        <p14:creationId xmlns:p14="http://schemas.microsoft.com/office/powerpoint/2010/main" val="2801264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CE7BF7-5219-47E7-9881-EFE36DD8ED1D}"/>
              </a:ext>
            </a:extLst>
          </p:cNvPr>
          <p:cNvSpPr>
            <a:spLocks noGrp="1"/>
          </p:cNvSpPr>
          <p:nvPr>
            <p:ph type="title"/>
          </p:nvPr>
        </p:nvSpPr>
        <p:spPr>
          <a:xfrm>
            <a:off x="1728216" y="2095615"/>
            <a:ext cx="5687568" cy="952270"/>
          </a:xfrm>
        </p:spPr>
        <p:txBody>
          <a:bodyPr/>
          <a:lstStyle/>
          <a:p>
            <a:r>
              <a:rPr lang="en-US" dirty="0"/>
              <a:t>What are the primary goals of patent law?</a:t>
            </a:r>
          </a:p>
        </p:txBody>
      </p:sp>
    </p:spTree>
    <p:extLst>
      <p:ext uri="{BB962C8B-B14F-4D97-AF65-F5344CB8AC3E}">
        <p14:creationId xmlns:p14="http://schemas.microsoft.com/office/powerpoint/2010/main" val="2486974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0E371B-B0D3-4F21-BACE-B3A34CC7220C}"/>
              </a:ext>
            </a:extLst>
          </p:cNvPr>
          <p:cNvSpPr>
            <a:spLocks noGrp="1"/>
          </p:cNvSpPr>
          <p:nvPr>
            <p:ph type="body" sz="quarter" idx="18"/>
          </p:nvPr>
        </p:nvSpPr>
        <p:spPr>
          <a:xfrm>
            <a:off x="692306" y="865565"/>
            <a:ext cx="4082893" cy="3554299"/>
          </a:xfrm>
        </p:spPr>
        <p:txBody>
          <a:bodyPr/>
          <a:lstStyle/>
          <a:p>
            <a:r>
              <a:rPr lang="en-US" dirty="0"/>
              <a:t>To encourage innovation and commercialization of technological advances. </a:t>
            </a:r>
          </a:p>
          <a:p>
            <a:r>
              <a:rPr lang="en-US" dirty="0"/>
              <a:t>Incentivize investors to publicly disclose their inventions in exchange for certain exclusive rights. </a:t>
            </a:r>
          </a:p>
          <a:p>
            <a:pPr marL="0" indent="0">
              <a:buNone/>
            </a:pPr>
            <a:endParaRPr lang="en-US" dirty="0"/>
          </a:p>
        </p:txBody>
      </p:sp>
      <p:sp>
        <p:nvSpPr>
          <p:cNvPr id="3" name="Title 2">
            <a:extLst>
              <a:ext uri="{FF2B5EF4-FFF2-40B4-BE49-F238E27FC236}">
                <a16:creationId xmlns:a16="http://schemas.microsoft.com/office/drawing/2014/main" id="{B16EB336-E8B3-4A11-A792-215A7406EB39}"/>
              </a:ext>
            </a:extLst>
          </p:cNvPr>
          <p:cNvSpPr>
            <a:spLocks noGrp="1"/>
          </p:cNvSpPr>
          <p:nvPr>
            <p:ph type="title"/>
          </p:nvPr>
        </p:nvSpPr>
        <p:spPr/>
        <p:txBody>
          <a:bodyPr/>
          <a:lstStyle/>
          <a:p>
            <a:r>
              <a:rPr lang="en-US" dirty="0"/>
              <a:t>What is the primary goal of patent law?</a:t>
            </a:r>
          </a:p>
        </p:txBody>
      </p:sp>
      <p:pic>
        <p:nvPicPr>
          <p:cNvPr id="5" name="Picture 4">
            <a:extLst>
              <a:ext uri="{FF2B5EF4-FFF2-40B4-BE49-F238E27FC236}">
                <a16:creationId xmlns:a16="http://schemas.microsoft.com/office/drawing/2014/main" id="{C46DD1BB-4643-4A45-AF08-032DBDFCD9C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259387" y="756764"/>
            <a:ext cx="2828925" cy="3771900"/>
          </a:xfrm>
          <a:prstGeom prst="rect">
            <a:avLst/>
          </a:prstGeom>
        </p:spPr>
      </p:pic>
    </p:spTree>
    <p:extLst>
      <p:ext uri="{BB962C8B-B14F-4D97-AF65-F5344CB8AC3E}">
        <p14:creationId xmlns:p14="http://schemas.microsoft.com/office/powerpoint/2010/main" val="3564640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565F7E-0DE4-4549-B936-021C95FB39D8}"/>
              </a:ext>
            </a:extLst>
          </p:cNvPr>
          <p:cNvSpPr>
            <a:spLocks noGrp="1"/>
          </p:cNvSpPr>
          <p:nvPr>
            <p:ph type="title"/>
          </p:nvPr>
        </p:nvSpPr>
        <p:spPr/>
        <p:txBody>
          <a:bodyPr/>
          <a:lstStyle/>
          <a:p>
            <a:r>
              <a:rPr lang="en-US" dirty="0"/>
              <a:t>Copyrights</a:t>
            </a:r>
          </a:p>
        </p:txBody>
      </p:sp>
    </p:spTree>
    <p:extLst>
      <p:ext uri="{BB962C8B-B14F-4D97-AF65-F5344CB8AC3E}">
        <p14:creationId xmlns:p14="http://schemas.microsoft.com/office/powerpoint/2010/main" val="2209045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a:t>Documenting Copyright</a:t>
            </a:r>
          </a:p>
        </p:txBody>
      </p:sp>
      <p:sp>
        <p:nvSpPr>
          <p:cNvPr id="29699" name="Rectangle 3"/>
          <p:cNvSpPr>
            <a:spLocks noGrp="1" noChangeArrowheads="1"/>
          </p:cNvSpPr>
          <p:nvPr>
            <p:ph type="body" idx="1"/>
          </p:nvPr>
        </p:nvSpPr>
        <p:spPr>
          <a:xfrm>
            <a:off x="1245394" y="826294"/>
            <a:ext cx="6642497" cy="4088606"/>
          </a:xfrm>
        </p:spPr>
        <p:txBody>
          <a:bodyPr/>
          <a:lstStyle/>
          <a:p>
            <a:pPr>
              <a:lnSpc>
                <a:spcPct val="90000"/>
              </a:lnSpc>
            </a:pPr>
            <a:r>
              <a:rPr lang="en-US" altLang="en-US" b="1"/>
              <a:t>Copyright happens AUTOMATICALLY upon creation!</a:t>
            </a:r>
            <a:r>
              <a:rPr lang="en-US" altLang="en-US"/>
              <a:t>  </a:t>
            </a:r>
          </a:p>
          <a:p>
            <a:pPr lvl="1">
              <a:lnSpc>
                <a:spcPct val="90000"/>
              </a:lnSpc>
            </a:pPr>
            <a:r>
              <a:rPr lang="en-US" altLang="en-US"/>
              <a:t>You do not need to include a notice or symbol</a:t>
            </a:r>
          </a:p>
          <a:p>
            <a:pPr>
              <a:lnSpc>
                <a:spcPct val="90000"/>
              </a:lnSpc>
            </a:pPr>
            <a:r>
              <a:rPr lang="en-US" altLang="en-US"/>
              <a:t>You should register your work to protect your interests and notify the public.  </a:t>
            </a:r>
          </a:p>
          <a:p>
            <a:pPr lvl="1">
              <a:lnSpc>
                <a:spcPct val="90000"/>
              </a:lnSpc>
            </a:pPr>
            <a:r>
              <a:rPr lang="en-US" altLang="en-US"/>
              <a:t>Library of Congress, Copyright Office</a:t>
            </a:r>
          </a:p>
          <a:p>
            <a:pPr>
              <a:lnSpc>
                <a:spcPct val="90000"/>
              </a:lnSpc>
            </a:pPr>
            <a:r>
              <a:rPr lang="en-US" altLang="en-US"/>
              <a:t>If you should want to file a legal suit, your work must first be registered.</a:t>
            </a:r>
          </a:p>
          <a:p>
            <a:pPr lvl="1">
              <a:lnSpc>
                <a:spcPct val="90000"/>
              </a:lnSpc>
            </a:pPr>
            <a:r>
              <a:rPr lang="en-US" altLang="en-US"/>
              <a:t>You may still assert a claim for infringement if not registered, but most benefits from the law are only available through the formal process</a:t>
            </a:r>
          </a:p>
          <a:p>
            <a:pPr>
              <a:lnSpc>
                <a:spcPct val="90000"/>
              </a:lnSpc>
            </a:pPr>
            <a:endParaRPr lang="en-US" altLang="en-US"/>
          </a:p>
        </p:txBody>
      </p:sp>
      <p:pic>
        <p:nvPicPr>
          <p:cNvPr id="29700" name="Picture 4" descr="MCj0319478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3700" y="2457451"/>
            <a:ext cx="1028700" cy="73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a:t>Registering Your Work</a:t>
            </a:r>
          </a:p>
        </p:txBody>
      </p:sp>
      <p:sp>
        <p:nvSpPr>
          <p:cNvPr id="31747" name="Content Placeholder 2"/>
          <p:cNvSpPr>
            <a:spLocks noGrp="1"/>
          </p:cNvSpPr>
          <p:nvPr>
            <p:ph idx="1"/>
          </p:nvPr>
        </p:nvSpPr>
        <p:spPr/>
        <p:txBody>
          <a:bodyPr/>
          <a:lstStyle/>
          <a:p>
            <a:r>
              <a:rPr lang="en-US" altLang="en-US" dirty="0"/>
              <a:t>Paper/Mail ~$65</a:t>
            </a:r>
          </a:p>
          <a:p>
            <a:r>
              <a:rPr lang="en-US" altLang="en-US" dirty="0"/>
              <a:t>Online ~$35</a:t>
            </a:r>
          </a:p>
          <a:p>
            <a:r>
              <a:rPr lang="en-US" altLang="en-US" dirty="0"/>
              <a:t>Also need to submit photos and/or copies of the work</a:t>
            </a:r>
          </a:p>
          <a:p>
            <a:r>
              <a:rPr lang="en-US" altLang="en-US" dirty="0"/>
              <a:t>Can register several un-published items together (cheaper) as a “collection”</a:t>
            </a:r>
          </a:p>
        </p:txBody>
      </p:sp>
      <p:sp>
        <p:nvSpPr>
          <p:cNvPr id="31748"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a:t>Documenting Copyright</a:t>
            </a:r>
          </a:p>
        </p:txBody>
      </p:sp>
      <p:sp>
        <p:nvSpPr>
          <p:cNvPr id="32771" name="Rectangle 3"/>
          <p:cNvSpPr>
            <a:spLocks noGrp="1" noChangeArrowheads="1"/>
          </p:cNvSpPr>
          <p:nvPr>
            <p:ph type="body" idx="1"/>
          </p:nvPr>
        </p:nvSpPr>
        <p:spPr/>
        <p:txBody>
          <a:bodyPr/>
          <a:lstStyle/>
          <a:p>
            <a:pPr marL="457200" indent="-457200">
              <a:lnSpc>
                <a:spcPct val="90000"/>
              </a:lnSpc>
            </a:pPr>
            <a:r>
              <a:rPr lang="en-US" altLang="en-US"/>
              <a:t>To document copyright, you must include:</a:t>
            </a:r>
          </a:p>
          <a:p>
            <a:pPr marL="1028700" lvl="2" indent="-342900">
              <a:lnSpc>
                <a:spcPct val="90000"/>
              </a:lnSpc>
              <a:spcBef>
                <a:spcPct val="60000"/>
              </a:spcBef>
              <a:buFontTx/>
              <a:buAutoNum type="arabicPeriod"/>
            </a:pPr>
            <a:r>
              <a:rPr lang="en-US" altLang="en-US"/>
              <a:t>The symbol, word or abbreviation </a:t>
            </a:r>
            <a:br>
              <a:rPr lang="en-US" altLang="en-US"/>
            </a:br>
            <a:r>
              <a:rPr lang="en-US" altLang="en-US"/>
              <a:t>          © - “Copyright” - “Copr.”</a:t>
            </a:r>
          </a:p>
          <a:p>
            <a:pPr marL="1028700" lvl="2" indent="-342900">
              <a:lnSpc>
                <a:spcPct val="90000"/>
              </a:lnSpc>
              <a:spcBef>
                <a:spcPct val="60000"/>
              </a:spcBef>
              <a:buFontTx/>
              <a:buAutoNum type="arabicPeriod"/>
            </a:pPr>
            <a:r>
              <a:rPr lang="en-US" altLang="en-US"/>
              <a:t>The first year of publication </a:t>
            </a:r>
            <a:br>
              <a:rPr lang="en-US" altLang="en-US"/>
            </a:br>
            <a:r>
              <a:rPr lang="en-US" altLang="en-US"/>
              <a:t> (or the first year of the derivative work)</a:t>
            </a:r>
          </a:p>
          <a:p>
            <a:pPr marL="1028700" lvl="2" indent="-342900">
              <a:lnSpc>
                <a:spcPct val="90000"/>
              </a:lnSpc>
              <a:spcBef>
                <a:spcPct val="60000"/>
              </a:spcBef>
              <a:buFontTx/>
              <a:buAutoNum type="arabicPeriod"/>
            </a:pPr>
            <a:r>
              <a:rPr lang="en-US" altLang="en-US"/>
              <a:t>The name of the owner of the copyright</a:t>
            </a:r>
          </a:p>
          <a:p>
            <a:pPr marL="457200" indent="-457200">
              <a:lnSpc>
                <a:spcPct val="90000"/>
              </a:lnSpc>
            </a:pPr>
            <a:r>
              <a:rPr lang="en-US" altLang="en-US"/>
              <a:t>For audio work, a verbal statement is acceptable</a:t>
            </a:r>
          </a:p>
          <a:p>
            <a:pPr marL="457200" indent="-457200" algn="ctr">
              <a:lnSpc>
                <a:spcPct val="90000"/>
              </a:lnSpc>
              <a:buNone/>
            </a:pPr>
            <a:r>
              <a:rPr lang="en-US" altLang="en-US" sz="2700" b="1"/>
              <a:t>Example:  © 2005 Jane Doe</a:t>
            </a:r>
          </a:p>
        </p:txBody>
      </p:sp>
      <p:sp>
        <p:nvSpPr>
          <p:cNvPr id="32772"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a:t>You May Use Someone’s Work If:</a:t>
            </a:r>
          </a:p>
        </p:txBody>
      </p:sp>
      <p:sp>
        <p:nvSpPr>
          <p:cNvPr id="34819" name="Rectangle 3"/>
          <p:cNvSpPr>
            <a:spLocks noGrp="1" noChangeArrowheads="1"/>
          </p:cNvSpPr>
          <p:nvPr>
            <p:ph type="body" idx="1"/>
          </p:nvPr>
        </p:nvSpPr>
        <p:spPr>
          <a:xfrm>
            <a:off x="1245394" y="1257300"/>
            <a:ext cx="6642497" cy="3314700"/>
          </a:xfrm>
        </p:spPr>
        <p:txBody>
          <a:bodyPr/>
          <a:lstStyle/>
          <a:p>
            <a:r>
              <a:rPr lang="en-US" altLang="en-US"/>
              <a:t>You receive (written) permission from the owner</a:t>
            </a:r>
          </a:p>
          <a:p>
            <a:r>
              <a:rPr lang="en-US" altLang="en-US"/>
              <a:t>You stay within the rules of “</a:t>
            </a:r>
            <a:r>
              <a:rPr lang="en-US" altLang="en-US" u="sng"/>
              <a:t>fair use</a:t>
            </a:r>
            <a:r>
              <a:rPr lang="en-US" altLang="en-US"/>
              <a:t>”</a:t>
            </a:r>
          </a:p>
          <a:p>
            <a:r>
              <a:rPr lang="en-US" altLang="en-US"/>
              <a:t>The work is in the </a:t>
            </a:r>
            <a:r>
              <a:rPr lang="en-US" altLang="en-US" u="sng"/>
              <a:t>public domain</a:t>
            </a:r>
            <a:endParaRPr lang="en-US" altLang="en-US"/>
          </a:p>
        </p:txBody>
      </p:sp>
      <p:sp>
        <p:nvSpPr>
          <p:cNvPr id="34820"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a:t>Getting Permission</a:t>
            </a:r>
          </a:p>
        </p:txBody>
      </p:sp>
      <p:sp>
        <p:nvSpPr>
          <p:cNvPr id="36867" name="Rectangle 3"/>
          <p:cNvSpPr>
            <a:spLocks noGrp="1" noChangeArrowheads="1"/>
          </p:cNvSpPr>
          <p:nvPr>
            <p:ph type="body" idx="1"/>
          </p:nvPr>
        </p:nvSpPr>
        <p:spPr>
          <a:xfrm>
            <a:off x="1245394" y="1085850"/>
            <a:ext cx="6642497" cy="3486150"/>
          </a:xfrm>
        </p:spPr>
        <p:txBody>
          <a:bodyPr/>
          <a:lstStyle/>
          <a:p>
            <a:r>
              <a:rPr lang="en-US" altLang="en-US"/>
              <a:t>To obtain permission from a copyright owner, follow these steps</a:t>
            </a:r>
          </a:p>
          <a:p>
            <a:pPr lvl="4">
              <a:buFontTx/>
              <a:buAutoNum type="arabicPeriod"/>
            </a:pPr>
            <a:r>
              <a:rPr lang="en-US" altLang="en-US" sz="2100"/>
              <a:t>Identify and contact the owner</a:t>
            </a:r>
          </a:p>
          <a:p>
            <a:pPr lvl="4">
              <a:buFontTx/>
              <a:buAutoNum type="arabicPeriod"/>
            </a:pPr>
            <a:r>
              <a:rPr lang="en-US" altLang="en-US" sz="2100"/>
              <a:t>State your intended use</a:t>
            </a:r>
          </a:p>
          <a:p>
            <a:pPr lvl="4">
              <a:buFontTx/>
              <a:buAutoNum type="arabicPeriod"/>
            </a:pPr>
            <a:r>
              <a:rPr lang="en-US" altLang="en-US" sz="2100"/>
              <a:t>Set the terms</a:t>
            </a:r>
          </a:p>
          <a:p>
            <a:pPr lvl="4">
              <a:buFontTx/>
              <a:buAutoNum type="arabicPeriod"/>
            </a:pPr>
            <a:r>
              <a:rPr lang="en-US" altLang="en-US" sz="2100"/>
              <a:t>Negotiate payment (if required)</a:t>
            </a:r>
          </a:p>
          <a:p>
            <a:pPr lvl="4">
              <a:buFontTx/>
              <a:buAutoNum type="arabicPeriod"/>
            </a:pPr>
            <a:r>
              <a:rPr lang="en-US" altLang="en-US" sz="2100"/>
              <a:t>Get it in WRITING!</a:t>
            </a:r>
          </a:p>
        </p:txBody>
      </p:sp>
      <p:sp>
        <p:nvSpPr>
          <p:cNvPr id="36868"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a:t>Permission</a:t>
            </a:r>
          </a:p>
        </p:txBody>
      </p:sp>
      <p:sp>
        <p:nvSpPr>
          <p:cNvPr id="38915" name="Rectangle 3"/>
          <p:cNvSpPr>
            <a:spLocks noGrp="1" noChangeArrowheads="1"/>
          </p:cNvSpPr>
          <p:nvPr>
            <p:ph type="body" idx="1"/>
          </p:nvPr>
        </p:nvSpPr>
        <p:spPr/>
        <p:txBody>
          <a:bodyPr/>
          <a:lstStyle/>
          <a:p>
            <a:pPr>
              <a:lnSpc>
                <a:spcPct val="90000"/>
              </a:lnSpc>
            </a:pPr>
            <a:r>
              <a:rPr lang="en-US" altLang="en-US"/>
              <a:t>Permission is known as “licensing.”  </a:t>
            </a:r>
          </a:p>
          <a:p>
            <a:pPr>
              <a:lnSpc>
                <a:spcPct val="90000"/>
              </a:lnSpc>
            </a:pPr>
            <a:r>
              <a:rPr lang="en-US" altLang="en-US"/>
              <a:t>A permission agreement is defined as “exclusive” if you are the only person who can use the work.</a:t>
            </a:r>
          </a:p>
          <a:p>
            <a:pPr>
              <a:lnSpc>
                <a:spcPct val="90000"/>
              </a:lnSpc>
            </a:pPr>
            <a:r>
              <a:rPr lang="en-US" altLang="en-US"/>
              <a:t>Some organizations, known as collective rights organizations, act on behalf of multiple owners and can grant permission.  Visit </a:t>
            </a:r>
            <a:r>
              <a:rPr lang="en-US" altLang="en-US">
                <a:solidFill>
                  <a:schemeClr val="accent2"/>
                </a:solidFill>
                <a:hlinkClick r:id="rId3"/>
              </a:rPr>
              <a:t>http://www.copyright.iupui.edu/permhome.htm</a:t>
            </a:r>
            <a:r>
              <a:rPr lang="en-US" altLang="en-US"/>
              <a:t> for a list of such companies.</a:t>
            </a:r>
          </a:p>
          <a:p>
            <a:pPr>
              <a:lnSpc>
                <a:spcPct val="90000"/>
              </a:lnSpc>
            </a:pPr>
            <a:endParaRPr lang="en-US" altLang="en-US"/>
          </a:p>
        </p:txBody>
      </p:sp>
      <p:sp>
        <p:nvSpPr>
          <p:cNvPr id="38916"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a:t>Fair Use</a:t>
            </a:r>
          </a:p>
        </p:txBody>
      </p:sp>
      <p:sp>
        <p:nvSpPr>
          <p:cNvPr id="40963" name="Rectangle 3"/>
          <p:cNvSpPr>
            <a:spLocks noGrp="1" noChangeArrowheads="1"/>
          </p:cNvSpPr>
          <p:nvPr>
            <p:ph type="body" idx="1"/>
          </p:nvPr>
        </p:nvSpPr>
        <p:spPr/>
        <p:txBody>
          <a:bodyPr/>
          <a:lstStyle/>
          <a:p>
            <a:pPr marL="457200" indent="-457200">
              <a:lnSpc>
                <a:spcPct val="80000"/>
              </a:lnSpc>
              <a:buNone/>
            </a:pPr>
            <a:r>
              <a:rPr lang="en-US" altLang="en-US" dirty="0"/>
              <a:t>4 basic guidelines for using copyrighted work:	</a:t>
            </a:r>
          </a:p>
          <a:p>
            <a:pPr marL="457200" indent="-457200">
              <a:lnSpc>
                <a:spcPct val="80000"/>
              </a:lnSpc>
              <a:spcBef>
                <a:spcPct val="70000"/>
              </a:spcBef>
              <a:buFontTx/>
              <a:buAutoNum type="arabicPeriod"/>
            </a:pPr>
            <a:r>
              <a:rPr lang="en-US" altLang="en-US" sz="2100" b="1" dirty="0"/>
              <a:t>Purpose</a:t>
            </a:r>
            <a:r>
              <a:rPr lang="en-US" altLang="en-US" sz="2100" dirty="0"/>
              <a:t>: No for commercial use. The use is for nonprofit, education, criticism, comment, news reporting, scholarship, or research. Favors transformative, not merely reproductions</a:t>
            </a:r>
          </a:p>
          <a:p>
            <a:pPr marL="457200" indent="-457200">
              <a:lnSpc>
                <a:spcPct val="80000"/>
              </a:lnSpc>
              <a:buFontTx/>
              <a:buAutoNum type="arabicPeriod"/>
            </a:pPr>
            <a:r>
              <a:rPr lang="en-US" altLang="en-US" sz="2100" b="1" dirty="0"/>
              <a:t>Nature</a:t>
            </a:r>
            <a:r>
              <a:rPr lang="en-US" altLang="en-US" sz="2100" dirty="0"/>
              <a:t>: The material is mainly facts (rather than creative expression), </a:t>
            </a:r>
          </a:p>
          <a:p>
            <a:pPr marL="457200" indent="-457200">
              <a:lnSpc>
                <a:spcPct val="80000"/>
              </a:lnSpc>
              <a:buFontTx/>
              <a:buAutoNum type="arabicPeriod"/>
            </a:pPr>
            <a:r>
              <a:rPr lang="en-US" altLang="en-US" sz="2100" b="1" dirty="0"/>
              <a:t>Amount</a:t>
            </a:r>
            <a:r>
              <a:rPr lang="en-US" altLang="en-US" sz="2100" dirty="0"/>
              <a:t>: Generally the more you use, the less likely you are within fair use. Small amounts are excessive if they take the “heart of the work”</a:t>
            </a:r>
          </a:p>
          <a:p>
            <a:pPr marL="457200" indent="-457200">
              <a:lnSpc>
                <a:spcPct val="80000"/>
              </a:lnSpc>
              <a:buFontTx/>
              <a:buAutoNum type="arabicPeriod"/>
            </a:pPr>
            <a:r>
              <a:rPr lang="en-US" altLang="en-US" sz="2100" b="1" dirty="0"/>
              <a:t>Effect</a:t>
            </a:r>
            <a:r>
              <a:rPr lang="en-US" altLang="en-US" sz="2100" dirty="0"/>
              <a:t>: Using the material is not taking potential sales away from the original work</a:t>
            </a:r>
          </a:p>
          <a:p>
            <a:pPr marL="0" indent="0">
              <a:lnSpc>
                <a:spcPct val="80000"/>
              </a:lnSpc>
              <a:buNone/>
            </a:pPr>
            <a:br>
              <a:rPr lang="en-US" sz="1350" dirty="0"/>
            </a:br>
            <a:r>
              <a:rPr lang="en-US" sz="1350" dirty="0"/>
              <a:t>The Fair Use Guidelines for Educational Multimedia is an interpretation of the Copyright Act of 1976.  It is not a legal document, but is recognized by the House of Representatives’ Subcommittee on Courts and Intellectual Property</a:t>
            </a:r>
            <a:endParaRPr lang="en-US" altLang="en-US" sz="1200" dirty="0"/>
          </a:p>
        </p:txBody>
      </p:sp>
      <p:sp>
        <p:nvSpPr>
          <p:cNvPr id="40964"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98C34-F728-4DE0-A4E4-673CAF066DC0}"/>
              </a:ext>
            </a:extLst>
          </p:cNvPr>
          <p:cNvSpPr>
            <a:spLocks noGrp="1"/>
          </p:cNvSpPr>
          <p:nvPr>
            <p:ph type="title"/>
          </p:nvPr>
        </p:nvSpPr>
        <p:spPr/>
        <p:txBody>
          <a:bodyPr/>
          <a:lstStyle/>
          <a:p>
            <a:r>
              <a:rPr lang="en-US" dirty="0"/>
              <a:t>Do you need to have all 4 factors?</a:t>
            </a:r>
          </a:p>
        </p:txBody>
      </p:sp>
      <p:sp>
        <p:nvSpPr>
          <p:cNvPr id="3" name="Footer Placeholder 2">
            <a:extLst>
              <a:ext uri="{FF2B5EF4-FFF2-40B4-BE49-F238E27FC236}">
                <a16:creationId xmlns:a16="http://schemas.microsoft.com/office/drawing/2014/main" id="{0FDF87D2-1097-4099-99AE-37FFAC389FA8}"/>
              </a:ext>
            </a:extLst>
          </p:cNvPr>
          <p:cNvSpPr>
            <a:spLocks noGrp="1"/>
          </p:cNvSpPr>
          <p:nvPr>
            <p:ph type="ftr" sz="quarter" idx="11"/>
          </p:nvPr>
        </p:nvSpPr>
        <p:spPr/>
        <p:txBody>
          <a:bodyPr/>
          <a:lstStyle/>
          <a:p>
            <a:pPr>
              <a:defRPr/>
            </a:pPr>
            <a:r>
              <a:rPr lang="en-US" altLang="en-US"/>
              <a:t>© 2006 Mariah Kraus</a:t>
            </a:r>
          </a:p>
        </p:txBody>
      </p:sp>
      <p:sp>
        <p:nvSpPr>
          <p:cNvPr id="4" name="TextBox 3">
            <a:extLst>
              <a:ext uri="{FF2B5EF4-FFF2-40B4-BE49-F238E27FC236}">
                <a16:creationId xmlns:a16="http://schemas.microsoft.com/office/drawing/2014/main" id="{C5F3C136-6CF2-40DF-B0A7-4B8F484E5023}"/>
              </a:ext>
            </a:extLst>
          </p:cNvPr>
          <p:cNvSpPr txBox="1"/>
          <p:nvPr/>
        </p:nvSpPr>
        <p:spPr>
          <a:xfrm>
            <a:off x="239949" y="881974"/>
            <a:ext cx="8753240" cy="3785652"/>
          </a:xfrm>
          <a:prstGeom prst="rect">
            <a:avLst/>
          </a:prstGeom>
          <a:noFill/>
        </p:spPr>
        <p:txBody>
          <a:bodyPr wrap="square" rtlCol="0">
            <a:spAutoFit/>
          </a:bodyPr>
          <a:lstStyle/>
          <a:p>
            <a:r>
              <a:rPr lang="en-US" sz="2000" b="1" dirty="0"/>
              <a:t>Fair Use is a Balancing Test</a:t>
            </a:r>
            <a:endParaRPr lang="en-US" sz="2000" dirty="0"/>
          </a:p>
          <a:p>
            <a:r>
              <a:rPr lang="en-US" sz="2000" dirty="0"/>
              <a:t>To determine whether a use is or is not a fair use, always keep in mind that you need to apply all four factors. For example, do not jump to a conclusion based simply on whether your use is educational or commercial. You still need to evaluate, apply, and weigh in the balance the nature of the copyrighted work, the amount or substantiality of the portion used, and the potential impact of the use on the market or value of the work. </a:t>
            </a:r>
          </a:p>
          <a:p>
            <a:endParaRPr lang="en-US" sz="2000" dirty="0"/>
          </a:p>
          <a:p>
            <a:r>
              <a:rPr lang="en-US" sz="2000" dirty="0">
                <a:highlight>
                  <a:srgbClr val="FFFF00"/>
                </a:highlight>
              </a:rPr>
              <a:t>Not all factors</a:t>
            </a:r>
            <a:r>
              <a:rPr lang="en-US" sz="2000" dirty="0"/>
              <a:t> need to weigh either for or against fair use, but overall the factors will usually lean one direction or the other. Also, the relative importance of the factors is not always the same. Your analysis should guide you to a conclusion.</a:t>
            </a:r>
          </a:p>
        </p:txBody>
      </p:sp>
    </p:spTree>
    <p:extLst>
      <p:ext uri="{BB962C8B-B14F-4D97-AF65-F5344CB8AC3E}">
        <p14:creationId xmlns:p14="http://schemas.microsoft.com/office/powerpoint/2010/main" val="249825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a:t>Fair Use - Parody</a:t>
            </a:r>
          </a:p>
        </p:txBody>
      </p:sp>
      <p:sp>
        <p:nvSpPr>
          <p:cNvPr id="43011" name="Rectangle 3"/>
          <p:cNvSpPr>
            <a:spLocks noGrp="1" noChangeArrowheads="1"/>
          </p:cNvSpPr>
          <p:nvPr>
            <p:ph type="body" idx="1"/>
          </p:nvPr>
        </p:nvSpPr>
        <p:spPr/>
        <p:txBody>
          <a:bodyPr/>
          <a:lstStyle/>
          <a:p>
            <a:r>
              <a:rPr lang="en-US" altLang="en-US"/>
              <a:t>A parody is an imitation of the characteristic style of some other work in a satirical or humorous way.  Parodies are a special case.</a:t>
            </a:r>
          </a:p>
          <a:p>
            <a:r>
              <a:rPr lang="en-US" altLang="en-US"/>
              <a:t>To receive protection under the fair use guidelines, a work (parody) must</a:t>
            </a:r>
          </a:p>
          <a:p>
            <a:pPr lvl="1"/>
            <a:r>
              <a:rPr lang="en-US" altLang="en-US"/>
              <a:t>contain only enough of the original work to make it identifiable as a parody</a:t>
            </a:r>
          </a:p>
          <a:p>
            <a:pPr lvl="1"/>
            <a:r>
              <a:rPr lang="en-US" altLang="en-US"/>
              <a:t>create a new work that can stand on its own, while criticizing the original work </a:t>
            </a:r>
          </a:p>
          <a:p>
            <a:endParaRPr lang="en-US" altLang="en-US"/>
          </a:p>
        </p:txBody>
      </p:sp>
      <p:sp>
        <p:nvSpPr>
          <p:cNvPr id="43012"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t>What Is The Public Domain?</a:t>
            </a:r>
          </a:p>
        </p:txBody>
      </p:sp>
      <p:sp>
        <p:nvSpPr>
          <p:cNvPr id="45059" name="Rectangle 3"/>
          <p:cNvSpPr>
            <a:spLocks noGrp="1" noChangeArrowheads="1"/>
          </p:cNvSpPr>
          <p:nvPr>
            <p:ph type="body" idx="1"/>
          </p:nvPr>
        </p:nvSpPr>
        <p:spPr/>
        <p:txBody>
          <a:bodyPr/>
          <a:lstStyle/>
          <a:p>
            <a:pPr>
              <a:lnSpc>
                <a:spcPct val="90000"/>
              </a:lnSpc>
            </a:pPr>
            <a:r>
              <a:rPr lang="en-US" altLang="en-US" sz="2250"/>
              <a:t>“The Public Domain is a body of intellectual material which is not copyright or under patent and may be used freely by the public.”</a:t>
            </a:r>
          </a:p>
          <a:p>
            <a:pPr>
              <a:lnSpc>
                <a:spcPct val="90000"/>
              </a:lnSpc>
            </a:pPr>
            <a:r>
              <a:rPr lang="en-US" altLang="en-US" sz="2250"/>
              <a:t>Certain government documents</a:t>
            </a:r>
          </a:p>
          <a:p>
            <a:pPr>
              <a:lnSpc>
                <a:spcPct val="90000"/>
              </a:lnSpc>
            </a:pPr>
            <a:r>
              <a:rPr lang="en-US" altLang="en-US" sz="2250"/>
              <a:t>Works that are no longer protected by copyright laws (patent or copyright has expired)</a:t>
            </a:r>
          </a:p>
          <a:p>
            <a:pPr>
              <a:lnSpc>
                <a:spcPct val="90000"/>
              </a:lnSpc>
            </a:pPr>
            <a:r>
              <a:rPr lang="en-US" altLang="en-US" sz="2250"/>
              <a:t>Work that the author has given explicit permission to use freely (no restrictions) = ‘I grant this to the public domain’</a:t>
            </a:r>
          </a:p>
          <a:p>
            <a:pPr>
              <a:lnSpc>
                <a:spcPct val="90000"/>
              </a:lnSpc>
            </a:pPr>
            <a:r>
              <a:rPr lang="en-US" altLang="en-US" sz="2250"/>
              <a:t>Known facts, data, or statistics</a:t>
            </a:r>
          </a:p>
        </p:txBody>
      </p:sp>
      <p:sp>
        <p:nvSpPr>
          <p:cNvPr id="45060"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sz="2400"/>
              <a:t>When Does Material Enter The Public Domain?</a:t>
            </a:r>
          </a:p>
        </p:txBody>
      </p:sp>
      <p:sp>
        <p:nvSpPr>
          <p:cNvPr id="47107" name="Rectangle 3"/>
          <p:cNvSpPr>
            <a:spLocks noGrp="1" noChangeArrowheads="1"/>
          </p:cNvSpPr>
          <p:nvPr>
            <p:ph type="body" idx="1"/>
          </p:nvPr>
        </p:nvSpPr>
        <p:spPr/>
        <p:txBody>
          <a:bodyPr/>
          <a:lstStyle/>
          <a:p>
            <a:r>
              <a:rPr lang="en-US" altLang="en-US"/>
              <a:t>70 years after the author’s death</a:t>
            </a:r>
          </a:p>
          <a:p>
            <a:r>
              <a:rPr lang="en-US" altLang="en-US"/>
              <a:t>70 years after the death of the last remaining co-author</a:t>
            </a:r>
          </a:p>
          <a:p>
            <a:r>
              <a:rPr lang="en-US" altLang="en-US"/>
              <a:t>95 years after the first publication by an unknown author, or 120 years from creation – which ever is shorter</a:t>
            </a:r>
          </a:p>
          <a:p>
            <a:r>
              <a:rPr lang="en-US" altLang="en-US"/>
              <a:t>95 years after the creation of works for hire</a:t>
            </a:r>
          </a:p>
          <a:p>
            <a:endParaRPr lang="en-US" altLang="en-US"/>
          </a:p>
        </p:txBody>
      </p:sp>
      <p:sp>
        <p:nvSpPr>
          <p:cNvPr id="47108" name="Footer Placeholder 4"/>
          <p:cNvSpPr>
            <a:spLocks noGrp="1"/>
          </p:cNvSpPr>
          <p:nvPr>
            <p:ph type="ftr" sz="quarter" idx="11"/>
          </p:nvPr>
        </p:nvSpPr>
        <p:spPr>
          <a:noFill/>
        </p:spPr>
        <p:txBody>
          <a:bodyPr/>
          <a:lstStyle>
            <a:lvl1pPr>
              <a:defRPr sz="1800">
                <a:solidFill>
                  <a:schemeClr val="tx1"/>
                </a:solidFill>
                <a:latin typeface="Arial" panose="020B0604020202020204" pitchFamily="34" charset="0"/>
              </a:defRPr>
            </a:lvl1pPr>
            <a:lvl2pPr marL="557213" indent="-214313">
              <a:defRPr sz="1800">
                <a:solidFill>
                  <a:schemeClr val="tx1"/>
                </a:solidFill>
                <a:latin typeface="Arial" panose="020B0604020202020204" pitchFamily="34" charset="0"/>
              </a:defRPr>
            </a:lvl2pPr>
            <a:lvl3pPr marL="857250" indent="-171450">
              <a:defRPr sz="1800">
                <a:solidFill>
                  <a:schemeClr val="tx1"/>
                </a:solidFill>
                <a:latin typeface="Arial" panose="020B0604020202020204" pitchFamily="34" charset="0"/>
              </a:defRPr>
            </a:lvl3pPr>
            <a:lvl4pPr marL="1200150" indent="-171450">
              <a:defRPr sz="1800">
                <a:solidFill>
                  <a:schemeClr val="tx1"/>
                </a:solidFill>
                <a:latin typeface="Arial" panose="020B0604020202020204" pitchFamily="34" charset="0"/>
              </a:defRPr>
            </a:lvl4pPr>
            <a:lvl5pPr marL="1543050" indent="-171450">
              <a:defRPr sz="1800">
                <a:solidFill>
                  <a:schemeClr val="tx1"/>
                </a:solidFill>
                <a:latin typeface="Arial" panose="020B0604020202020204" pitchFamily="34" charset="0"/>
              </a:defRPr>
            </a:lvl5pPr>
            <a:lvl6pPr marL="1885950" indent="-171450" eaLnBrk="0" fontAlgn="base" hangingPunct="0">
              <a:spcBef>
                <a:spcPct val="0"/>
              </a:spcBef>
              <a:spcAft>
                <a:spcPct val="0"/>
              </a:spcAft>
              <a:defRPr sz="1800">
                <a:solidFill>
                  <a:schemeClr val="tx1"/>
                </a:solidFill>
                <a:latin typeface="Arial" panose="020B0604020202020204" pitchFamily="34" charset="0"/>
              </a:defRPr>
            </a:lvl6pPr>
            <a:lvl7pPr marL="2228850" indent="-171450" eaLnBrk="0" fontAlgn="base" hangingPunct="0">
              <a:spcBef>
                <a:spcPct val="0"/>
              </a:spcBef>
              <a:spcAft>
                <a:spcPct val="0"/>
              </a:spcAft>
              <a:defRPr sz="1800">
                <a:solidFill>
                  <a:schemeClr val="tx1"/>
                </a:solidFill>
                <a:latin typeface="Arial" panose="020B0604020202020204" pitchFamily="34" charset="0"/>
              </a:defRPr>
            </a:lvl7pPr>
            <a:lvl8pPr marL="2571750" indent="-171450" eaLnBrk="0" fontAlgn="base" hangingPunct="0">
              <a:spcBef>
                <a:spcPct val="0"/>
              </a:spcBef>
              <a:spcAft>
                <a:spcPct val="0"/>
              </a:spcAft>
              <a:defRPr sz="1800">
                <a:solidFill>
                  <a:schemeClr val="tx1"/>
                </a:solidFill>
                <a:latin typeface="Arial" panose="020B0604020202020204" pitchFamily="34" charset="0"/>
              </a:defRPr>
            </a:lvl8pPr>
            <a:lvl9pPr marL="2914650" indent="-171450" eaLnBrk="0" fontAlgn="base" hangingPunct="0">
              <a:spcBef>
                <a:spcPct val="0"/>
              </a:spcBef>
              <a:spcAft>
                <a:spcPct val="0"/>
              </a:spcAft>
              <a:defRPr sz="1800">
                <a:solidFill>
                  <a:schemeClr val="tx1"/>
                </a:solidFill>
                <a:latin typeface="Arial" panose="020B0604020202020204" pitchFamily="34" charset="0"/>
              </a:defRPr>
            </a:lvl9pPr>
          </a:lstStyle>
          <a:p>
            <a:pPr eaLnBrk="0" fontAlgn="base" hangingPunct="0">
              <a:spcBef>
                <a:spcPct val="0"/>
              </a:spcBef>
              <a:spcAft>
                <a:spcPct val="0"/>
              </a:spcAft>
            </a:pPr>
            <a:r>
              <a:rPr lang="en-US" altLang="en-US" sz="450">
                <a:solidFill>
                  <a:srgbClr val="000000"/>
                </a:solidFill>
              </a:rPr>
              <a:t>© 2006 Mariah Kraus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826AE-2F5F-4DE0-9531-C25AB081F47E}"/>
              </a:ext>
            </a:extLst>
          </p:cNvPr>
          <p:cNvSpPr>
            <a:spLocks noGrp="1"/>
          </p:cNvSpPr>
          <p:nvPr>
            <p:ph type="title"/>
          </p:nvPr>
        </p:nvSpPr>
        <p:spPr/>
        <p:txBody>
          <a:bodyPr/>
          <a:lstStyle/>
          <a:p>
            <a:r>
              <a:rPr lang="en-US" dirty="0"/>
              <a:t>Open Source</a:t>
            </a:r>
          </a:p>
        </p:txBody>
      </p:sp>
      <p:sp>
        <p:nvSpPr>
          <p:cNvPr id="4" name="Footer Placeholder 3">
            <a:extLst>
              <a:ext uri="{FF2B5EF4-FFF2-40B4-BE49-F238E27FC236}">
                <a16:creationId xmlns:a16="http://schemas.microsoft.com/office/drawing/2014/main" id="{9A99977D-C102-4252-8EA3-FB53B3AC9713}"/>
              </a:ext>
            </a:extLst>
          </p:cNvPr>
          <p:cNvSpPr>
            <a:spLocks noGrp="1"/>
          </p:cNvSpPr>
          <p:nvPr>
            <p:ph type="ftr" sz="quarter" idx="11"/>
          </p:nvPr>
        </p:nvSpPr>
        <p:spPr/>
        <p:txBody>
          <a:bodyPr/>
          <a:lstStyle/>
          <a:p>
            <a:pPr eaLnBrk="0" fontAlgn="base" hangingPunct="0">
              <a:spcBef>
                <a:spcPct val="0"/>
              </a:spcBef>
              <a:spcAft>
                <a:spcPct val="0"/>
              </a:spcAft>
              <a:defRPr/>
            </a:pPr>
            <a:r>
              <a:rPr lang="en-US" altLang="en-US">
                <a:solidFill>
                  <a:srgbClr val="000000"/>
                </a:solidFill>
              </a:rPr>
              <a:t>© 2006 Mariah Kraus</a:t>
            </a:r>
          </a:p>
        </p:txBody>
      </p:sp>
      <p:pic>
        <p:nvPicPr>
          <p:cNvPr id="14" name="Content Placeholder 13">
            <a:extLst>
              <a:ext uri="{FF2B5EF4-FFF2-40B4-BE49-F238E27FC236}">
                <a16:creationId xmlns:a16="http://schemas.microsoft.com/office/drawing/2014/main" id="{D6F3E773-3FA5-4972-A84F-66FA5A434E40}"/>
              </a:ext>
            </a:extLst>
          </p:cNvPr>
          <p:cNvPicPr>
            <a:picLocks noGrp="1" noChangeAspect="1"/>
          </p:cNvPicPr>
          <p:nvPr>
            <p:ph idx="1"/>
          </p:nvPr>
        </p:nvPicPr>
        <p:blipFill>
          <a:blip r:embed="rId2"/>
          <a:stretch>
            <a:fillRect/>
          </a:stretch>
        </p:blipFill>
        <p:spPr>
          <a:xfrm>
            <a:off x="1245394" y="1514242"/>
            <a:ext cx="6642497" cy="2369810"/>
          </a:xfrm>
        </p:spPr>
      </p:pic>
      <p:sp>
        <p:nvSpPr>
          <p:cNvPr id="16" name="TextBox 15">
            <a:extLst>
              <a:ext uri="{FF2B5EF4-FFF2-40B4-BE49-F238E27FC236}">
                <a16:creationId xmlns:a16="http://schemas.microsoft.com/office/drawing/2014/main" id="{AE5AFB16-1C28-4517-B732-C8EB1294A8F5}"/>
              </a:ext>
            </a:extLst>
          </p:cNvPr>
          <p:cNvSpPr txBox="1"/>
          <p:nvPr/>
        </p:nvSpPr>
        <p:spPr>
          <a:xfrm>
            <a:off x="1245394" y="4308797"/>
            <a:ext cx="5841206" cy="300082"/>
          </a:xfrm>
          <a:prstGeom prst="rect">
            <a:avLst/>
          </a:prstGeom>
          <a:noFill/>
        </p:spPr>
        <p:txBody>
          <a:bodyPr wrap="square">
            <a:spAutoFit/>
          </a:bodyPr>
          <a:lstStyle/>
          <a:p>
            <a:pPr eaLnBrk="0" fontAlgn="base" hangingPunct="0">
              <a:spcBef>
                <a:spcPct val="0"/>
              </a:spcBef>
              <a:spcAft>
                <a:spcPct val="0"/>
              </a:spcAft>
            </a:pPr>
            <a:r>
              <a:rPr lang="en-US" dirty="0">
                <a:solidFill>
                  <a:srgbClr val="000000"/>
                </a:solidFill>
                <a:latin typeface="Arial" panose="020B0604020202020204" pitchFamily="34" charset="0"/>
              </a:rPr>
              <a:t>https://opensource.com/resources/what-open-source</a:t>
            </a:r>
          </a:p>
        </p:txBody>
      </p:sp>
    </p:spTree>
    <p:extLst>
      <p:ext uri="{BB962C8B-B14F-4D97-AF65-F5344CB8AC3E}">
        <p14:creationId xmlns:p14="http://schemas.microsoft.com/office/powerpoint/2010/main" val="517279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810562D-A18F-E4EE-8C63-A913FD9B39ED}"/>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77195" y="71286"/>
            <a:ext cx="2306929" cy="50150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4DF5BFED-2D8B-9E19-8AAF-EE6F0C1B0053}"/>
              </a:ext>
            </a:extLst>
          </p:cNvPr>
          <p:cNvSpPr>
            <a:spLocks noGrp="1"/>
          </p:cNvSpPr>
          <p:nvPr>
            <p:ph type="ftr" sz="quarter" idx="11"/>
          </p:nvPr>
        </p:nvSpPr>
        <p:spPr>
          <a:xfrm>
            <a:off x="7010400" y="4914900"/>
            <a:ext cx="2895600" cy="342900"/>
          </a:xfrm>
        </p:spPr>
        <p:txBody>
          <a:bodyPr wrap="square" anchor="t">
            <a:normAutofit/>
          </a:bodyPr>
          <a:lstStyle/>
          <a:p>
            <a:pPr>
              <a:spcAft>
                <a:spcPts val="600"/>
              </a:spcAft>
              <a:defRPr/>
            </a:pPr>
            <a:r>
              <a:rPr lang="en-US" altLang="en-US"/>
              <a:t>© 2006 Mariah Kraus</a:t>
            </a:r>
          </a:p>
        </p:txBody>
      </p:sp>
      <p:pic>
        <p:nvPicPr>
          <p:cNvPr id="1027" name="Picture 3">
            <a:extLst>
              <a:ext uri="{FF2B5EF4-FFF2-40B4-BE49-F238E27FC236}">
                <a16:creationId xmlns:a16="http://schemas.microsoft.com/office/drawing/2014/main" id="{D61D2490-E096-21C9-028C-6805F23DFB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1967" y="71286"/>
            <a:ext cx="3119373" cy="487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0037FC28-1344-AC14-B606-31C35C1D6340}"/>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6192960" y="1020950"/>
            <a:ext cx="2497516" cy="3838682"/>
          </a:xfrm>
          <a:prstGeom prst="rect">
            <a:avLst/>
          </a:prstGeom>
        </p:spPr>
      </p:pic>
      <p:grpSp>
        <p:nvGrpSpPr>
          <p:cNvPr id="5" name="SMARTInkShape-Group1">
            <a:extLst>
              <a:ext uri="{FF2B5EF4-FFF2-40B4-BE49-F238E27FC236}">
                <a16:creationId xmlns:a16="http://schemas.microsoft.com/office/drawing/2014/main" id="{5580B938-0C84-6484-E5F9-77EFDF4FD269}"/>
              </a:ext>
            </a:extLst>
          </p:cNvPr>
          <p:cNvGrpSpPr/>
          <p:nvPr/>
        </p:nvGrpSpPr>
        <p:grpSpPr>
          <a:xfrm>
            <a:off x="7985373" y="4438055"/>
            <a:ext cx="129482" cy="142876"/>
            <a:chOff x="7985373" y="4438055"/>
            <a:chExt cx="129482" cy="142876"/>
          </a:xfrm>
        </p:grpSpPr>
        <p:sp>
          <p:nvSpPr>
            <p:cNvPr id="2" name="SMARTInkShape-1">
              <a:extLst>
                <a:ext uri="{FF2B5EF4-FFF2-40B4-BE49-F238E27FC236}">
                  <a16:creationId xmlns:a16="http://schemas.microsoft.com/office/drawing/2014/main" id="{83B27E4D-E349-2D89-9385-CC8B0F87C7CA}"/>
                </a:ext>
              </a:extLst>
            </p:cNvPr>
            <p:cNvSpPr/>
            <p:nvPr>
              <p:custDataLst>
                <p:tags r:id="rId1"/>
              </p:custDataLst>
            </p:nvPr>
          </p:nvSpPr>
          <p:spPr bwMode="auto">
            <a:xfrm>
              <a:off x="8105924" y="4580930"/>
              <a:ext cx="8931" cy="1"/>
            </a:xfrm>
            <a:custGeom>
              <a:avLst/>
              <a:gdLst/>
              <a:ahLst/>
              <a:cxnLst/>
              <a:rect l="0" t="0" r="0" b="0"/>
              <a:pathLst>
                <a:path w="8931" h="1">
                  <a:moveTo>
                    <a:pt x="0" y="0"/>
                  </a:moveTo>
                  <a:lnTo>
                    <a:pt x="0" y="0"/>
                  </a:lnTo>
                  <a:lnTo>
                    <a:pt x="8930" y="0"/>
                  </a:lnTo>
                </a:path>
              </a:pathLst>
            </a:cu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 name="SMARTInkShape-2">
              <a:extLst>
                <a:ext uri="{FF2B5EF4-FFF2-40B4-BE49-F238E27FC236}">
                  <a16:creationId xmlns:a16="http://schemas.microsoft.com/office/drawing/2014/main" id="{7038C405-3DF8-1E97-AD21-640D063E974D}"/>
                </a:ext>
              </a:extLst>
            </p:cNvPr>
            <p:cNvSpPr/>
            <p:nvPr>
              <p:custDataLst>
                <p:tags r:id="rId2"/>
              </p:custDataLst>
            </p:nvPr>
          </p:nvSpPr>
          <p:spPr bwMode="auto">
            <a:xfrm>
              <a:off x="7985373" y="4438055"/>
              <a:ext cx="22325" cy="49114"/>
            </a:xfrm>
            <a:custGeom>
              <a:avLst/>
              <a:gdLst/>
              <a:ahLst/>
              <a:cxnLst/>
              <a:rect l="0" t="0" r="0" b="0"/>
              <a:pathLst>
                <a:path w="22325" h="49114">
                  <a:moveTo>
                    <a:pt x="22324" y="0"/>
                  </a:moveTo>
                  <a:lnTo>
                    <a:pt x="22324" y="0"/>
                  </a:lnTo>
                  <a:lnTo>
                    <a:pt x="22324" y="10058"/>
                  </a:lnTo>
                  <a:lnTo>
                    <a:pt x="19679" y="14557"/>
                  </a:lnTo>
                  <a:lnTo>
                    <a:pt x="16187" y="19368"/>
                  </a:lnTo>
                  <a:lnTo>
                    <a:pt x="0" y="49113"/>
                  </a:lnTo>
                </a:path>
              </a:pathLst>
            </a:cu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1845766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94ED1C-F502-4C83-8850-66235ABA4FA2}"/>
              </a:ext>
            </a:extLst>
          </p:cNvPr>
          <p:cNvPicPr>
            <a:picLocks noChangeAspect="1"/>
          </p:cNvPicPr>
          <p:nvPr/>
        </p:nvPicPr>
        <p:blipFill>
          <a:blip r:embed="rId2"/>
          <a:stretch>
            <a:fillRect/>
          </a:stretch>
        </p:blipFill>
        <p:spPr>
          <a:xfrm>
            <a:off x="1107281" y="867112"/>
            <a:ext cx="6929437" cy="3752511"/>
          </a:xfrm>
          <a:prstGeom prst="rect">
            <a:avLst/>
          </a:prstGeom>
        </p:spPr>
      </p:pic>
      <p:sp>
        <p:nvSpPr>
          <p:cNvPr id="3" name="Title 2">
            <a:extLst>
              <a:ext uri="{FF2B5EF4-FFF2-40B4-BE49-F238E27FC236}">
                <a16:creationId xmlns:a16="http://schemas.microsoft.com/office/drawing/2014/main" id="{BBD38931-B503-4A1D-B02E-1E4E3B71C919}"/>
              </a:ext>
            </a:extLst>
          </p:cNvPr>
          <p:cNvSpPr>
            <a:spLocks noGrp="1"/>
          </p:cNvSpPr>
          <p:nvPr>
            <p:ph type="title"/>
          </p:nvPr>
        </p:nvSpPr>
        <p:spPr/>
        <p:txBody>
          <a:bodyPr/>
          <a:lstStyle/>
          <a:p>
            <a:r>
              <a:rPr lang="en-US" dirty="0"/>
              <a:t>Artist Steals Instagram Photos and Sells Them for 100K at NYC Gallery</a:t>
            </a:r>
          </a:p>
        </p:txBody>
      </p:sp>
    </p:spTree>
    <p:extLst>
      <p:ext uri="{BB962C8B-B14F-4D97-AF65-F5344CB8AC3E}">
        <p14:creationId xmlns:p14="http://schemas.microsoft.com/office/powerpoint/2010/main" val="3925461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94ED1C-F502-4C83-8850-66235ABA4FA2}"/>
              </a:ext>
            </a:extLst>
          </p:cNvPr>
          <p:cNvPicPr>
            <a:picLocks noChangeAspect="1"/>
          </p:cNvPicPr>
          <p:nvPr/>
        </p:nvPicPr>
        <p:blipFill>
          <a:blip r:embed="rId2"/>
          <a:stretch>
            <a:fillRect/>
          </a:stretch>
        </p:blipFill>
        <p:spPr>
          <a:xfrm>
            <a:off x="4204254" y="1553136"/>
            <a:ext cx="4383794" cy="2373964"/>
          </a:xfrm>
          <a:prstGeom prst="rect">
            <a:avLst/>
          </a:prstGeom>
        </p:spPr>
      </p:pic>
      <p:sp>
        <p:nvSpPr>
          <p:cNvPr id="3" name="Title 2">
            <a:extLst>
              <a:ext uri="{FF2B5EF4-FFF2-40B4-BE49-F238E27FC236}">
                <a16:creationId xmlns:a16="http://schemas.microsoft.com/office/drawing/2014/main" id="{BBD38931-B503-4A1D-B02E-1E4E3B71C919}"/>
              </a:ext>
            </a:extLst>
          </p:cNvPr>
          <p:cNvSpPr>
            <a:spLocks noGrp="1"/>
          </p:cNvSpPr>
          <p:nvPr>
            <p:ph type="title"/>
          </p:nvPr>
        </p:nvSpPr>
        <p:spPr/>
        <p:txBody>
          <a:bodyPr/>
          <a:lstStyle/>
          <a:p>
            <a:r>
              <a:rPr lang="en-US" dirty="0"/>
              <a:t>Richard Prince was sued. Did he win or lose?</a:t>
            </a:r>
          </a:p>
        </p:txBody>
      </p:sp>
      <p:sp>
        <p:nvSpPr>
          <p:cNvPr id="2" name="TextBox 1">
            <a:extLst>
              <a:ext uri="{FF2B5EF4-FFF2-40B4-BE49-F238E27FC236}">
                <a16:creationId xmlns:a16="http://schemas.microsoft.com/office/drawing/2014/main" id="{7C05DD74-FF7C-41F5-96A9-1C3934B2AA8F}"/>
              </a:ext>
            </a:extLst>
          </p:cNvPr>
          <p:cNvSpPr txBox="1"/>
          <p:nvPr/>
        </p:nvSpPr>
        <p:spPr>
          <a:xfrm>
            <a:off x="4081182" y="2131359"/>
            <a:ext cx="914400" cy="914400"/>
          </a:xfrm>
          <a:prstGeom prst="rect">
            <a:avLst/>
          </a:prstGeom>
          <a:noFill/>
        </p:spPr>
        <p:txBody>
          <a:bodyPr wrap="square" rtlCol="0">
            <a:spAutoFit/>
          </a:bodyPr>
          <a:lstStyle/>
          <a:p>
            <a:endParaRPr lang="en-US" sz="1200" dirty="0" err="1">
              <a:latin typeface="Arial" panose="020B0604020202020204" pitchFamily="34" charset="0"/>
            </a:endParaRPr>
          </a:p>
        </p:txBody>
      </p:sp>
      <p:pic>
        <p:nvPicPr>
          <p:cNvPr id="3074" name="Picture 2" descr="undefined">
            <a:extLst>
              <a:ext uri="{FF2B5EF4-FFF2-40B4-BE49-F238E27FC236}">
                <a16:creationId xmlns:a16="http://schemas.microsoft.com/office/drawing/2014/main" id="{EBF7D0C7-7D18-45FB-8FCE-E01F03DD5A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038" y="916079"/>
            <a:ext cx="2540654" cy="3387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795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21CBD9-735F-4E6A-A4AD-ACDF79046115}"/>
              </a:ext>
            </a:extLst>
          </p:cNvPr>
          <p:cNvSpPr>
            <a:spLocks noGrp="1"/>
          </p:cNvSpPr>
          <p:nvPr>
            <p:ph type="title"/>
          </p:nvPr>
        </p:nvSpPr>
        <p:spPr/>
        <p:txBody>
          <a:bodyPr/>
          <a:lstStyle/>
          <a:p>
            <a:r>
              <a:rPr lang="en-US" dirty="0"/>
              <a:t>Dennis Rodman’s Tattoos</a:t>
            </a:r>
          </a:p>
        </p:txBody>
      </p:sp>
      <p:sp>
        <p:nvSpPr>
          <p:cNvPr id="2" name="TextBox 1">
            <a:extLst>
              <a:ext uri="{FF2B5EF4-FFF2-40B4-BE49-F238E27FC236}">
                <a16:creationId xmlns:a16="http://schemas.microsoft.com/office/drawing/2014/main" id="{20CC76A7-2BD3-4216-AF3F-1D54FA51064D}"/>
              </a:ext>
            </a:extLst>
          </p:cNvPr>
          <p:cNvSpPr txBox="1"/>
          <p:nvPr/>
        </p:nvSpPr>
        <p:spPr>
          <a:xfrm>
            <a:off x="0" y="1069043"/>
            <a:ext cx="9144000" cy="461665"/>
          </a:xfrm>
          <a:prstGeom prst="rect">
            <a:avLst/>
          </a:prstGeom>
          <a:noFill/>
        </p:spPr>
        <p:txBody>
          <a:bodyPr wrap="square" rtlCol="0">
            <a:spAutoFit/>
          </a:bodyPr>
          <a:lstStyle/>
          <a:p>
            <a:pPr algn="ctr"/>
            <a:r>
              <a:rPr lang="en-US" sz="2400" dirty="0">
                <a:latin typeface="Arial" panose="020B0604020202020204" pitchFamily="34" charset="0"/>
              </a:rPr>
              <a:t>ARE THEY TRADEMARKS?</a:t>
            </a:r>
          </a:p>
        </p:txBody>
      </p:sp>
      <p:pic>
        <p:nvPicPr>
          <p:cNvPr id="2050" name="Picture 2" descr="Dennis Rodman: Every known tattoo on the Hall of Famer's body">
            <a:extLst>
              <a:ext uri="{FF2B5EF4-FFF2-40B4-BE49-F238E27FC236}">
                <a16:creationId xmlns:a16="http://schemas.microsoft.com/office/drawing/2014/main" id="{B14523A7-2305-40C8-B7C6-7E81E3695C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8764" y="1530708"/>
            <a:ext cx="4995022" cy="2997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190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21CBD9-735F-4E6A-A4AD-ACDF79046115}"/>
              </a:ext>
            </a:extLst>
          </p:cNvPr>
          <p:cNvSpPr>
            <a:spLocks noGrp="1"/>
          </p:cNvSpPr>
          <p:nvPr>
            <p:ph type="title"/>
          </p:nvPr>
        </p:nvSpPr>
        <p:spPr/>
        <p:txBody>
          <a:bodyPr/>
          <a:lstStyle/>
          <a:p>
            <a:r>
              <a:rPr lang="en-US" dirty="0"/>
              <a:t>Dennis Rodman’s Tattoos—ARE THEY TRADEMARKS?</a:t>
            </a:r>
          </a:p>
        </p:txBody>
      </p:sp>
      <p:pic>
        <p:nvPicPr>
          <p:cNvPr id="4" name="Picture 3">
            <a:extLst>
              <a:ext uri="{FF2B5EF4-FFF2-40B4-BE49-F238E27FC236}">
                <a16:creationId xmlns:a16="http://schemas.microsoft.com/office/drawing/2014/main" id="{466984F1-E0F9-460D-999A-21E29DA669AC}"/>
              </a:ext>
            </a:extLst>
          </p:cNvPr>
          <p:cNvPicPr>
            <a:picLocks noChangeAspect="1"/>
          </p:cNvPicPr>
          <p:nvPr/>
        </p:nvPicPr>
        <p:blipFill rotWithShape="1">
          <a:blip r:embed="rId2"/>
          <a:srcRect t="6533"/>
          <a:stretch/>
        </p:blipFill>
        <p:spPr>
          <a:xfrm>
            <a:off x="782922" y="921863"/>
            <a:ext cx="7281582" cy="3727549"/>
          </a:xfrm>
          <a:prstGeom prst="rect">
            <a:avLst/>
          </a:prstGeom>
        </p:spPr>
      </p:pic>
    </p:spTree>
    <p:extLst>
      <p:ext uri="{BB962C8B-B14F-4D97-AF65-F5344CB8AC3E}">
        <p14:creationId xmlns:p14="http://schemas.microsoft.com/office/powerpoint/2010/main" val="923785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C69460-EF95-4B7A-8F92-3805427749B6}"/>
              </a:ext>
            </a:extLst>
          </p:cNvPr>
          <p:cNvSpPr>
            <a:spLocks noGrp="1"/>
          </p:cNvSpPr>
          <p:nvPr>
            <p:ph type="body" sz="quarter" idx="18"/>
          </p:nvPr>
        </p:nvSpPr>
        <p:spPr>
          <a:xfrm>
            <a:off x="685532" y="815615"/>
            <a:ext cx="7746421" cy="3245229"/>
          </a:xfrm>
        </p:spPr>
        <p:txBody>
          <a:bodyPr/>
          <a:lstStyle/>
          <a:p>
            <a:pPr marL="0" indent="0">
              <a:buNone/>
            </a:pPr>
            <a:r>
              <a:rPr lang="en-US" b="1" dirty="0"/>
              <a:t>Queen/David Bowie– Under Pressure (1981)</a:t>
            </a:r>
            <a:endParaRPr lang="en-US" dirty="0"/>
          </a:p>
          <a:p>
            <a:pPr marL="0" indent="0">
              <a:buNone/>
            </a:pPr>
            <a:r>
              <a:rPr lang="en-US" b="1" dirty="0"/>
              <a:t>Vanilla Ice – Ice </a:t>
            </a:r>
            <a:r>
              <a:rPr lang="en-US" b="1" dirty="0" err="1"/>
              <a:t>Ice</a:t>
            </a:r>
            <a:r>
              <a:rPr lang="en-US" b="1" dirty="0"/>
              <a:t> Baby (1989)</a:t>
            </a:r>
          </a:p>
          <a:p>
            <a:pPr marL="0" indent="0">
              <a:buNone/>
            </a:pPr>
            <a:r>
              <a:rPr lang="en-US" b="1" dirty="0"/>
              <a:t>Queen/David Bowie sued Vanilla Ice? Do you think they won or lost?</a:t>
            </a:r>
          </a:p>
          <a:p>
            <a:pPr marL="0" indent="0">
              <a:buNone/>
            </a:pPr>
            <a:endParaRPr lang="en-US" dirty="0"/>
          </a:p>
          <a:p>
            <a:pPr marL="0" indent="0">
              <a:buNone/>
            </a:pPr>
            <a:endParaRPr lang="en-US" dirty="0"/>
          </a:p>
        </p:txBody>
      </p:sp>
      <p:sp>
        <p:nvSpPr>
          <p:cNvPr id="4" name="Title 3">
            <a:extLst>
              <a:ext uri="{FF2B5EF4-FFF2-40B4-BE49-F238E27FC236}">
                <a16:creationId xmlns:a16="http://schemas.microsoft.com/office/drawing/2014/main" id="{EC8BFAC5-5B7E-4FF3-AB0C-9C7966A2F1D6}"/>
              </a:ext>
            </a:extLst>
          </p:cNvPr>
          <p:cNvSpPr>
            <a:spLocks noGrp="1"/>
          </p:cNvSpPr>
          <p:nvPr>
            <p:ph type="title"/>
          </p:nvPr>
        </p:nvSpPr>
        <p:spPr/>
        <p:txBody>
          <a:bodyPr/>
          <a:lstStyle/>
          <a:p>
            <a:r>
              <a:rPr lang="en-US" dirty="0"/>
              <a:t>Songs That Sound Strangely Similar</a:t>
            </a:r>
          </a:p>
        </p:txBody>
      </p:sp>
      <p:pic>
        <p:nvPicPr>
          <p:cNvPr id="5" name="Online Media 4" title="Vanilla Ice - Ice Ice Baby (Official Video)">
            <a:hlinkClick r:id="" action="ppaction://media"/>
            <a:extLst>
              <a:ext uri="{FF2B5EF4-FFF2-40B4-BE49-F238E27FC236}">
                <a16:creationId xmlns:a16="http://schemas.microsoft.com/office/drawing/2014/main" id="{4514EBBD-5B5E-40D0-AE17-5FDAC78767BF}"/>
              </a:ext>
            </a:extLst>
          </p:cNvPr>
          <p:cNvPicPr>
            <a:picLocks noRot="1" noChangeAspect="1"/>
          </p:cNvPicPr>
          <p:nvPr>
            <a:videoFile r:link="rId1"/>
          </p:nvPr>
        </p:nvPicPr>
        <p:blipFill>
          <a:blip r:embed="rId5"/>
          <a:stretch>
            <a:fillRect/>
          </a:stretch>
        </p:blipFill>
        <p:spPr>
          <a:xfrm>
            <a:off x="4641876" y="2029797"/>
            <a:ext cx="2540000" cy="1905000"/>
          </a:xfrm>
          <a:prstGeom prst="rect">
            <a:avLst/>
          </a:prstGeom>
        </p:spPr>
      </p:pic>
      <p:pic>
        <p:nvPicPr>
          <p:cNvPr id="6" name="Online Media 5" title="Queen &amp; David Bowie - Under Pressure (Classic Queen Mix)">
            <a:hlinkClick r:id="" action="ppaction://media"/>
            <a:extLst>
              <a:ext uri="{FF2B5EF4-FFF2-40B4-BE49-F238E27FC236}">
                <a16:creationId xmlns:a16="http://schemas.microsoft.com/office/drawing/2014/main" id="{31F03FF6-6D91-4573-B9CF-88556DC65EA2}"/>
              </a:ext>
            </a:extLst>
          </p:cNvPr>
          <p:cNvPicPr>
            <a:picLocks noRot="1" noChangeAspect="1"/>
          </p:cNvPicPr>
          <p:nvPr>
            <a:videoFile r:link="rId2"/>
          </p:nvPr>
        </p:nvPicPr>
        <p:blipFill>
          <a:blip r:embed="rId6"/>
          <a:stretch>
            <a:fillRect/>
          </a:stretch>
        </p:blipFill>
        <p:spPr>
          <a:xfrm>
            <a:off x="1099976" y="2264747"/>
            <a:ext cx="2540000" cy="1435100"/>
          </a:xfrm>
          <a:prstGeom prst="rect">
            <a:avLst/>
          </a:prstGeom>
        </p:spPr>
      </p:pic>
    </p:spTree>
    <p:extLst>
      <p:ext uri="{BB962C8B-B14F-4D97-AF65-F5344CB8AC3E}">
        <p14:creationId xmlns:p14="http://schemas.microsoft.com/office/powerpoint/2010/main" val="2799366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5"/>
                </p:tgtEl>
              </p:cMediaNode>
            </p:video>
            <p:seq concurrent="1" nextAc="seek">
              <p:cTn id="12" restart="whenNotActive" fill="hold" evtFilter="cancelBubble" nodeType="interactiveSeq">
                <p:stCondLst>
                  <p:cond evt="onClick" delay="0">
                    <p:tgtEl>
                      <p:spTgt spid="5"/>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5"/>
                                        </p:tgtEl>
                                      </p:cBhvr>
                                    </p:cmd>
                                  </p:childTnLst>
                                </p:cTn>
                              </p:par>
                            </p:childTnLst>
                          </p:cTn>
                        </p:par>
                      </p:childTnLst>
                    </p:cTn>
                  </p:par>
                </p:childTnLst>
              </p:cTn>
              <p:nextCondLst>
                <p:cond evt="onClick" delay="0">
                  <p:tgtEl>
                    <p:spTgt spid="5"/>
                  </p:tgtEl>
                </p:cond>
              </p:nextCondLst>
            </p:seq>
            <p:video>
              <p:cMediaNode vol="80000">
                <p:cTn id="17" fill="hold" display="0">
                  <p:stCondLst>
                    <p:cond delay="indefinite"/>
                  </p:stCondLst>
                </p:cTn>
                <p:tgtEl>
                  <p:spTgt spid="6"/>
                </p:tgtEl>
              </p:cMediaNode>
            </p:video>
            <p:seq concurrent="1" nextAc="seek">
              <p:cTn id="18" restart="whenNotActive" fill="hold" evtFilter="cancelBubble" nodeType="interactiveSeq">
                <p:stCondLst>
                  <p:cond evt="onClick" delay="0">
                    <p:tgtEl>
                      <p:spTgt spid="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C69460-EF95-4B7A-8F92-3805427749B6}"/>
              </a:ext>
            </a:extLst>
          </p:cNvPr>
          <p:cNvSpPr>
            <a:spLocks noGrp="1"/>
          </p:cNvSpPr>
          <p:nvPr>
            <p:ph type="body" sz="quarter" idx="18"/>
          </p:nvPr>
        </p:nvSpPr>
        <p:spPr>
          <a:xfrm>
            <a:off x="685532" y="815615"/>
            <a:ext cx="7746421" cy="3245229"/>
          </a:xfrm>
        </p:spPr>
        <p:txBody>
          <a:bodyPr/>
          <a:lstStyle/>
          <a:p>
            <a:pPr marL="0" indent="0">
              <a:buNone/>
            </a:pPr>
            <a:r>
              <a:rPr lang="en-US" b="1" dirty="0"/>
              <a:t>Queen – Under Pressure</a:t>
            </a:r>
            <a:endParaRPr lang="en-US" dirty="0"/>
          </a:p>
          <a:p>
            <a:pPr marL="0" indent="0">
              <a:buNone/>
            </a:pPr>
            <a:r>
              <a:rPr lang="en-US" b="1" dirty="0"/>
              <a:t>Vanilla Ice – Ice </a:t>
            </a:r>
            <a:r>
              <a:rPr lang="en-US" b="1" dirty="0" err="1"/>
              <a:t>Ice</a:t>
            </a:r>
            <a:r>
              <a:rPr lang="en-US" b="1" dirty="0"/>
              <a:t> Baby</a:t>
            </a:r>
            <a:endParaRPr lang="en-US" dirty="0"/>
          </a:p>
          <a:p>
            <a:pPr marL="0" indent="0">
              <a:buNone/>
            </a:pPr>
            <a:r>
              <a:rPr lang="en-US" dirty="0"/>
              <a:t>Vanilla Ice became a household word for a while, not because of his talent, but because of the copyright infringement that </a:t>
            </a:r>
            <a:r>
              <a:rPr lang="en-US" dirty="0" err="1"/>
              <a:t>occured</a:t>
            </a:r>
            <a:r>
              <a:rPr lang="en-US" dirty="0"/>
              <a:t> in 1990 when it came to light that he had sampled Queen and David Bowie’s “Under Pressure” without consent or license. Ice </a:t>
            </a:r>
            <a:r>
              <a:rPr lang="en-US" dirty="0" err="1"/>
              <a:t>Ice</a:t>
            </a:r>
            <a:r>
              <a:rPr lang="en-US" dirty="0"/>
              <a:t> Baby hit number one on the charts in the United States and Vanilla Ice became the one ‘under pressure’. Vanilla Ice altered the rhythm of the baseline thinking he would thereby avoid any question of credit, royalties, license or even permission. This case never went to court as it was clear that Vanilla Ice had stolen the sample without permission. He settled out of court with Queen and David Bowie for an undisclosed but very likely very high amount. Ice </a:t>
            </a:r>
            <a:r>
              <a:rPr lang="en-US" dirty="0" err="1"/>
              <a:t>Ice</a:t>
            </a:r>
            <a:r>
              <a:rPr lang="en-US" dirty="0"/>
              <a:t> Baby has been released in many different versions, since then, with all of the legal procedures followed.</a:t>
            </a:r>
          </a:p>
          <a:p>
            <a:pPr marL="0" indent="0">
              <a:buNone/>
            </a:pPr>
            <a:endParaRPr lang="en-US" dirty="0"/>
          </a:p>
        </p:txBody>
      </p:sp>
      <p:sp>
        <p:nvSpPr>
          <p:cNvPr id="4" name="Title 3">
            <a:extLst>
              <a:ext uri="{FF2B5EF4-FFF2-40B4-BE49-F238E27FC236}">
                <a16:creationId xmlns:a16="http://schemas.microsoft.com/office/drawing/2014/main" id="{EC8BFAC5-5B7E-4FF3-AB0C-9C7966A2F1D6}"/>
              </a:ext>
            </a:extLst>
          </p:cNvPr>
          <p:cNvSpPr>
            <a:spLocks noGrp="1"/>
          </p:cNvSpPr>
          <p:nvPr>
            <p:ph type="title"/>
          </p:nvPr>
        </p:nvSpPr>
        <p:spPr/>
        <p:txBody>
          <a:bodyPr/>
          <a:lstStyle/>
          <a:p>
            <a:r>
              <a:rPr lang="en-US" dirty="0"/>
              <a:t>Songs That Sound Strangely Similar</a:t>
            </a:r>
          </a:p>
        </p:txBody>
      </p:sp>
    </p:spTree>
    <p:extLst>
      <p:ext uri="{BB962C8B-B14F-4D97-AF65-F5344CB8AC3E}">
        <p14:creationId xmlns:p14="http://schemas.microsoft.com/office/powerpoint/2010/main" val="2839774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F0B233-B5E3-4CAC-B96C-5D6A9933AF33}"/>
              </a:ext>
            </a:extLst>
          </p:cNvPr>
          <p:cNvSpPr>
            <a:spLocks noGrp="1"/>
          </p:cNvSpPr>
          <p:nvPr>
            <p:ph type="body" idx="1"/>
          </p:nvPr>
        </p:nvSpPr>
        <p:spPr/>
        <p:txBody>
          <a:bodyPr/>
          <a:lstStyle/>
          <a:p>
            <a:pPr algn="ctr"/>
            <a:r>
              <a:rPr lang="en-US" sz="3600" dirty="0"/>
              <a:t>USE THE FAIR USE GUIDE TO HELP ANSWER THESE QUESTIONS!</a:t>
            </a:r>
          </a:p>
        </p:txBody>
      </p:sp>
      <p:sp>
        <p:nvSpPr>
          <p:cNvPr id="4" name="Footer Placeholder 3">
            <a:extLst>
              <a:ext uri="{FF2B5EF4-FFF2-40B4-BE49-F238E27FC236}">
                <a16:creationId xmlns:a16="http://schemas.microsoft.com/office/drawing/2014/main" id="{6179FDAB-7156-42AB-8F75-8348922DEF53}"/>
              </a:ext>
            </a:extLst>
          </p:cNvPr>
          <p:cNvSpPr>
            <a:spLocks noGrp="1"/>
          </p:cNvSpPr>
          <p:nvPr>
            <p:ph type="ftr" sz="quarter" idx="11"/>
          </p:nvPr>
        </p:nvSpPr>
        <p:spPr/>
        <p:txBody>
          <a:bodyPr/>
          <a:lstStyle/>
          <a:p>
            <a:pPr>
              <a:defRPr/>
            </a:pPr>
            <a:r>
              <a:rPr lang="en-US" altLang="en-US"/>
              <a:t>© 2006 Mariah Kraus</a:t>
            </a:r>
          </a:p>
        </p:txBody>
      </p:sp>
    </p:spTree>
    <p:extLst>
      <p:ext uri="{BB962C8B-B14F-4D97-AF65-F5344CB8AC3E}">
        <p14:creationId xmlns:p14="http://schemas.microsoft.com/office/powerpoint/2010/main" val="12978154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1"/>
            <a:ext cx="7886700" cy="4026932"/>
          </a:xfrm>
        </p:spPr>
        <p:txBody>
          <a:bodyPr>
            <a:normAutofit/>
          </a:bodyPr>
          <a:lstStyle/>
          <a:p>
            <a:pPr marL="0" indent="0">
              <a:buNone/>
            </a:pPr>
            <a:r>
              <a:rPr lang="en-US" sz="2250" dirty="0">
                <a:solidFill>
                  <a:schemeClr val="bg1"/>
                </a:solidFill>
              </a:rPr>
              <a:t>Patents, trademarks, and copyrights are all used to protect an individual or a company’s ______</a:t>
            </a:r>
          </a:p>
          <a:p>
            <a:pPr marL="0" indent="0">
              <a:buNone/>
            </a:pPr>
            <a:r>
              <a:rPr lang="en-US" sz="2250" dirty="0">
                <a:solidFill>
                  <a:schemeClr val="bg1"/>
                </a:solidFill>
              </a:rPr>
              <a:t>	</a:t>
            </a:r>
          </a:p>
          <a:p>
            <a:pPr marL="728663" lvl="1" indent="-385763">
              <a:buFont typeface="+mj-lt"/>
              <a:buAutoNum type="alphaUcPeriod"/>
            </a:pPr>
            <a:r>
              <a:rPr lang="en-US" sz="2250" dirty="0">
                <a:solidFill>
                  <a:schemeClr val="bg1"/>
                </a:solidFill>
              </a:rPr>
              <a:t>financial assets</a:t>
            </a:r>
          </a:p>
          <a:p>
            <a:pPr marL="728663" lvl="1" indent="-385763">
              <a:buFont typeface="+mj-lt"/>
              <a:buAutoNum type="alphaUcPeriod"/>
            </a:pPr>
            <a:r>
              <a:rPr lang="en-US" sz="2250" dirty="0">
                <a:solidFill>
                  <a:schemeClr val="bg1"/>
                </a:solidFill>
              </a:rPr>
              <a:t>tangible assets</a:t>
            </a:r>
          </a:p>
          <a:p>
            <a:pPr marL="728663" lvl="1" indent="-385763">
              <a:buFont typeface="+mj-lt"/>
              <a:buAutoNum type="alphaUcPeriod"/>
            </a:pPr>
            <a:r>
              <a:rPr lang="en-US" sz="2250" dirty="0">
                <a:solidFill>
                  <a:schemeClr val="bg1"/>
                </a:solidFill>
              </a:rPr>
              <a:t>business equipment</a:t>
            </a:r>
          </a:p>
          <a:p>
            <a:pPr marL="728663" lvl="1" indent="-385763">
              <a:buFont typeface="+mj-lt"/>
              <a:buAutoNum type="alphaUcPeriod"/>
            </a:pPr>
            <a:r>
              <a:rPr lang="en-US" sz="2250" dirty="0">
                <a:solidFill>
                  <a:schemeClr val="bg1"/>
                </a:solidFill>
              </a:rPr>
              <a:t>intellectual property </a:t>
            </a:r>
          </a:p>
        </p:txBody>
      </p:sp>
    </p:spTree>
    <p:extLst>
      <p:ext uri="{BB962C8B-B14F-4D97-AF65-F5344CB8AC3E}">
        <p14:creationId xmlns:p14="http://schemas.microsoft.com/office/powerpoint/2010/main" val="4178397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1"/>
            <a:ext cx="7886700" cy="4026932"/>
          </a:xfrm>
        </p:spPr>
        <p:txBody>
          <a:bodyPr>
            <a:normAutofit/>
          </a:bodyPr>
          <a:lstStyle/>
          <a:p>
            <a:pPr marL="0" indent="0">
              <a:buNone/>
            </a:pPr>
            <a:r>
              <a:rPr lang="en-US" sz="2250" dirty="0">
                <a:solidFill>
                  <a:schemeClr val="bg1"/>
                </a:solidFill>
              </a:rPr>
              <a:t>Patents, trademarks, and copyrights are all used to protect an individual or a company’s ______</a:t>
            </a:r>
          </a:p>
          <a:p>
            <a:pPr marL="0" indent="0">
              <a:buNone/>
            </a:pPr>
            <a:r>
              <a:rPr lang="en-US" sz="2250" dirty="0">
                <a:solidFill>
                  <a:schemeClr val="bg1"/>
                </a:solidFill>
              </a:rPr>
              <a:t>	</a:t>
            </a:r>
          </a:p>
          <a:p>
            <a:pPr marL="728663" lvl="1" indent="-385763">
              <a:buFont typeface="+mj-lt"/>
              <a:buAutoNum type="alphaUcPeriod" startAt="4"/>
            </a:pPr>
            <a:r>
              <a:rPr lang="en-US" sz="2250" dirty="0">
                <a:solidFill>
                  <a:schemeClr val="bg1"/>
                </a:solidFill>
              </a:rPr>
              <a:t>intellectual property </a:t>
            </a:r>
            <a:br>
              <a:rPr lang="en-US" sz="2250" dirty="0">
                <a:solidFill>
                  <a:schemeClr val="bg1"/>
                </a:solidFill>
              </a:rPr>
            </a:br>
            <a:br>
              <a:rPr lang="en-US" sz="2250" dirty="0">
                <a:solidFill>
                  <a:schemeClr val="bg1"/>
                </a:solidFill>
              </a:rPr>
            </a:br>
            <a:r>
              <a:rPr lang="en-US" sz="2250" dirty="0">
                <a:solidFill>
                  <a:schemeClr val="bg1"/>
                </a:solidFill>
              </a:rPr>
              <a:t>intellectual property refers to the intangible business assets resulting from thinking processes. The three main types of intellectual property are patents, trademarks, and copyrights. These protect an individual or company’s rights to the intellectual property, but do not protect tangible assets such as business equipment or financial holdings.</a:t>
            </a:r>
          </a:p>
        </p:txBody>
      </p:sp>
    </p:spTree>
    <p:extLst>
      <p:ext uri="{BB962C8B-B14F-4D97-AF65-F5344CB8AC3E}">
        <p14:creationId xmlns:p14="http://schemas.microsoft.com/office/powerpoint/2010/main" val="7558450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A student purchases the Adobe Photoshop computer software and installs it onto her personal computer. She then gives it to her friend to download onto her new laptop.  Is this OK since the student gave her friend permission to download it? </a:t>
            </a:r>
          </a:p>
        </p:txBody>
      </p:sp>
    </p:spTree>
    <p:extLst>
      <p:ext uri="{BB962C8B-B14F-4D97-AF65-F5344CB8AC3E}">
        <p14:creationId xmlns:p14="http://schemas.microsoft.com/office/powerpoint/2010/main" val="1970916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A student purchases the Adobe Photoshop computer software and installs it onto her personal computer. She then gives it to her friend to download onto her new laptop.  Is this OK since the student gave her friend permission to download it? </a:t>
            </a:r>
          </a:p>
          <a:p>
            <a:pPr marL="0" indent="0">
              <a:buNone/>
            </a:pPr>
            <a:endParaRPr lang="en-US" sz="2250" dirty="0">
              <a:solidFill>
                <a:schemeClr val="bg1"/>
              </a:solidFill>
            </a:endParaRPr>
          </a:p>
          <a:p>
            <a:pPr marL="0" indent="0">
              <a:buNone/>
            </a:pPr>
            <a:r>
              <a:rPr lang="en-US" sz="2250" dirty="0">
                <a:solidFill>
                  <a:schemeClr val="bg1"/>
                </a:solidFill>
              </a:rPr>
              <a:t>NO – Installing borrowed software puts a copy of that software on your hard drive – which is an illegal copy, unless the user’s license from the copyright holder gives permission to install the software on multiple users’ computers.</a:t>
            </a:r>
          </a:p>
          <a:p>
            <a:pPr marL="0" indent="0">
              <a:buNone/>
            </a:pPr>
            <a:endParaRPr lang="en-US" dirty="0">
              <a:solidFill>
                <a:schemeClr val="bg1"/>
              </a:solidFill>
            </a:endParaRPr>
          </a:p>
        </p:txBody>
      </p:sp>
    </p:spTree>
    <p:extLst>
      <p:ext uri="{BB962C8B-B14F-4D97-AF65-F5344CB8AC3E}">
        <p14:creationId xmlns:p14="http://schemas.microsoft.com/office/powerpoint/2010/main" val="1021007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A student finds his favorite band’s music on a file-sharing network that offers free music downloads. The student decides to download the music files at no cost rather than purchasing the CD.  Is this copyright infringement?</a:t>
            </a:r>
          </a:p>
          <a:p>
            <a:pPr marL="0" indent="0">
              <a:buNone/>
            </a:pPr>
            <a:endParaRPr lang="en-US" dirty="0">
              <a:solidFill>
                <a:schemeClr val="bg1"/>
              </a:solidFill>
            </a:endParaRPr>
          </a:p>
        </p:txBody>
      </p:sp>
    </p:spTree>
    <p:extLst>
      <p:ext uri="{BB962C8B-B14F-4D97-AF65-F5344CB8AC3E}">
        <p14:creationId xmlns:p14="http://schemas.microsoft.com/office/powerpoint/2010/main" val="2330249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A student finds his favorite band’s music on a file-sharing network that offers free music downloads. The student decides to download the music files at no cost rather than purchasing the CD.  Is this copyright infringement?</a:t>
            </a:r>
          </a:p>
          <a:p>
            <a:pPr marL="0" indent="0">
              <a:buNone/>
            </a:pPr>
            <a:endParaRPr lang="en-US" sz="2250" dirty="0">
              <a:solidFill>
                <a:schemeClr val="bg1"/>
              </a:solidFill>
            </a:endParaRPr>
          </a:p>
          <a:p>
            <a:pPr marL="0" indent="0">
              <a:buNone/>
            </a:pPr>
            <a:r>
              <a:rPr lang="en-US" sz="2250" dirty="0">
                <a:solidFill>
                  <a:schemeClr val="bg1"/>
                </a:solidFill>
              </a:rPr>
              <a:t>YES – The student needs to get permission from the copyright owner before downloading the music.</a:t>
            </a:r>
          </a:p>
          <a:p>
            <a:pPr marL="0" indent="0">
              <a:buNone/>
            </a:pPr>
            <a:endParaRPr lang="en-US" dirty="0">
              <a:solidFill>
                <a:schemeClr val="bg1"/>
              </a:solidFill>
            </a:endParaRPr>
          </a:p>
          <a:p>
            <a:pPr marL="0" indent="0">
              <a:buNone/>
            </a:pPr>
            <a:endParaRPr lang="en-US" dirty="0">
              <a:solidFill>
                <a:schemeClr val="bg1"/>
              </a:solidFill>
            </a:endParaRPr>
          </a:p>
        </p:txBody>
      </p:sp>
    </p:spTree>
    <p:extLst>
      <p:ext uri="{BB962C8B-B14F-4D97-AF65-F5344CB8AC3E}">
        <p14:creationId xmlns:p14="http://schemas.microsoft.com/office/powerpoint/2010/main" val="30160556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Can you use other youtuber’s content?</a:t>
            </a:r>
          </a:p>
          <a:p>
            <a:pPr marL="0" indent="0">
              <a:buNone/>
            </a:pPr>
            <a:endParaRPr lang="en-US" dirty="0">
              <a:solidFill>
                <a:schemeClr val="bg1"/>
              </a:solidFill>
            </a:endParaRPr>
          </a:p>
          <a:p>
            <a:pPr marL="0" indent="0">
              <a:buNone/>
            </a:pPr>
            <a:endParaRPr lang="en-US" dirty="0">
              <a:solidFill>
                <a:schemeClr val="bg1"/>
              </a:solidFill>
            </a:endParaRPr>
          </a:p>
        </p:txBody>
      </p:sp>
    </p:spTree>
    <p:extLst>
      <p:ext uri="{BB962C8B-B14F-4D97-AF65-F5344CB8AC3E}">
        <p14:creationId xmlns:p14="http://schemas.microsoft.com/office/powerpoint/2010/main" val="25354890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Can you use other youtuber’s content?</a:t>
            </a:r>
          </a:p>
          <a:p>
            <a:pPr marL="0" indent="0">
              <a:buNone/>
            </a:pPr>
            <a:endParaRPr lang="en-US" sz="2250" dirty="0">
              <a:solidFill>
                <a:schemeClr val="bg1"/>
              </a:solidFill>
            </a:endParaRPr>
          </a:p>
          <a:p>
            <a:pPr marL="0" indent="0">
              <a:buNone/>
            </a:pPr>
            <a:r>
              <a:rPr lang="en-US" sz="2250" dirty="0">
                <a:solidFill>
                  <a:schemeClr val="bg1"/>
                </a:solidFill>
              </a:rPr>
              <a:t>Only if the other youtuber or YouTube gives you permission.</a:t>
            </a:r>
          </a:p>
          <a:p>
            <a:pPr marL="0" indent="0">
              <a:buNone/>
            </a:pPr>
            <a:endParaRPr lang="en-US" dirty="0">
              <a:solidFill>
                <a:schemeClr val="bg1"/>
              </a:solidFill>
            </a:endParaRPr>
          </a:p>
          <a:p>
            <a:pPr marL="0" indent="0">
              <a:buNone/>
            </a:pPr>
            <a:endParaRPr lang="en-US" dirty="0">
              <a:solidFill>
                <a:schemeClr val="bg1"/>
              </a:solidFill>
            </a:endParaRPr>
          </a:p>
          <a:p>
            <a:pPr marL="0" indent="0">
              <a:buNone/>
            </a:pPr>
            <a:endParaRPr lang="en-US" dirty="0">
              <a:solidFill>
                <a:schemeClr val="bg1"/>
              </a:solidFill>
            </a:endParaRPr>
          </a:p>
        </p:txBody>
      </p:sp>
    </p:spTree>
    <p:extLst>
      <p:ext uri="{BB962C8B-B14F-4D97-AF65-F5344CB8AC3E}">
        <p14:creationId xmlns:p14="http://schemas.microsoft.com/office/powerpoint/2010/main" val="675744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Can a remix or mashup of a song infringe copyright?</a:t>
            </a:r>
          </a:p>
          <a:p>
            <a:pPr marL="0" indent="0">
              <a:buNone/>
            </a:pPr>
            <a:endParaRPr lang="en-US" sz="2250" dirty="0">
              <a:solidFill>
                <a:schemeClr val="bg1"/>
              </a:solidFill>
            </a:endParaRPr>
          </a:p>
        </p:txBody>
      </p:sp>
    </p:spTree>
    <p:extLst>
      <p:ext uri="{BB962C8B-B14F-4D97-AF65-F5344CB8AC3E}">
        <p14:creationId xmlns:p14="http://schemas.microsoft.com/office/powerpoint/2010/main" val="1444609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Can a remix or mashup of a song infringe copyright?</a:t>
            </a:r>
          </a:p>
          <a:p>
            <a:pPr marL="0" indent="0">
              <a:buNone/>
            </a:pPr>
            <a:endParaRPr lang="en-US" sz="2250" dirty="0">
              <a:solidFill>
                <a:schemeClr val="bg1"/>
              </a:solidFill>
            </a:endParaRPr>
          </a:p>
          <a:p>
            <a:pPr marL="0" indent="0">
              <a:buNone/>
            </a:pPr>
            <a:r>
              <a:rPr lang="en-US" sz="2250" dirty="0">
                <a:solidFill>
                  <a:schemeClr val="bg1"/>
                </a:solidFill>
              </a:rPr>
              <a:t>YES</a:t>
            </a:r>
          </a:p>
          <a:p>
            <a:pPr marL="0" indent="0">
              <a:buNone/>
            </a:pPr>
            <a:endParaRPr lang="en-US" sz="2250" dirty="0">
              <a:solidFill>
                <a:schemeClr val="bg1"/>
              </a:solidFill>
            </a:endParaRPr>
          </a:p>
        </p:txBody>
      </p:sp>
    </p:spTree>
    <p:extLst>
      <p:ext uri="{BB962C8B-B14F-4D97-AF65-F5344CB8AC3E}">
        <p14:creationId xmlns:p14="http://schemas.microsoft.com/office/powerpoint/2010/main" val="1090318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Does uploading a video of yourself singing a cover song to YouTube require the permission of the copyright holder?</a:t>
            </a:r>
          </a:p>
          <a:p>
            <a:pPr marL="0" indent="0">
              <a:buNone/>
            </a:pPr>
            <a:endParaRPr lang="en-US" sz="2250" dirty="0">
              <a:solidFill>
                <a:schemeClr val="bg1"/>
              </a:solidFill>
            </a:endParaRPr>
          </a:p>
        </p:txBody>
      </p:sp>
    </p:spTree>
    <p:extLst>
      <p:ext uri="{BB962C8B-B14F-4D97-AF65-F5344CB8AC3E}">
        <p14:creationId xmlns:p14="http://schemas.microsoft.com/office/powerpoint/2010/main" val="29690519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Does uploading a video of yourself singing a cover song to YouTube require the permission of the copyright holder?</a:t>
            </a:r>
          </a:p>
          <a:p>
            <a:pPr marL="0" indent="0">
              <a:buNone/>
            </a:pPr>
            <a:endParaRPr lang="en-US" sz="2250" dirty="0">
              <a:solidFill>
                <a:schemeClr val="bg1"/>
              </a:solidFill>
            </a:endParaRPr>
          </a:p>
          <a:p>
            <a:pPr marL="0" indent="0">
              <a:buNone/>
            </a:pPr>
            <a:r>
              <a:rPr lang="en-US" sz="2250" dirty="0">
                <a:solidFill>
                  <a:schemeClr val="bg1"/>
                </a:solidFill>
              </a:rPr>
              <a:t>YES</a:t>
            </a:r>
          </a:p>
          <a:p>
            <a:pPr marL="0" indent="0">
              <a:buNone/>
            </a:pPr>
            <a:endParaRPr lang="en-US" sz="2250" dirty="0">
              <a:solidFill>
                <a:schemeClr val="bg1"/>
              </a:solidFill>
            </a:endParaRPr>
          </a:p>
        </p:txBody>
      </p:sp>
    </p:spTree>
    <p:extLst>
      <p:ext uri="{BB962C8B-B14F-4D97-AF65-F5344CB8AC3E}">
        <p14:creationId xmlns:p14="http://schemas.microsoft.com/office/powerpoint/2010/main" val="9360924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Are DJ mixes fair use?</a:t>
            </a:r>
          </a:p>
          <a:p>
            <a:pPr marL="0" indent="0">
              <a:buNone/>
            </a:pPr>
            <a:endParaRPr lang="en-US" sz="2250" dirty="0">
              <a:solidFill>
                <a:schemeClr val="bg1"/>
              </a:solidFill>
            </a:endParaRPr>
          </a:p>
        </p:txBody>
      </p:sp>
    </p:spTree>
    <p:extLst>
      <p:ext uri="{BB962C8B-B14F-4D97-AF65-F5344CB8AC3E}">
        <p14:creationId xmlns:p14="http://schemas.microsoft.com/office/powerpoint/2010/main" val="2513825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CA4CF-A53B-45E0-9F94-EB0078CEE6F7}"/>
              </a:ext>
            </a:extLst>
          </p:cNvPr>
          <p:cNvSpPr>
            <a:spLocks noGrp="1"/>
          </p:cNvSpPr>
          <p:nvPr>
            <p:ph idx="1"/>
          </p:nvPr>
        </p:nvSpPr>
        <p:spPr>
          <a:xfrm>
            <a:off x="628650" y="605790"/>
            <a:ext cx="7886700" cy="4184871"/>
          </a:xfrm>
        </p:spPr>
        <p:txBody>
          <a:bodyPr>
            <a:normAutofit/>
          </a:bodyPr>
          <a:lstStyle/>
          <a:p>
            <a:pPr marL="0" indent="0">
              <a:buNone/>
            </a:pPr>
            <a:r>
              <a:rPr lang="en-US" sz="2250" dirty="0">
                <a:solidFill>
                  <a:schemeClr val="bg1"/>
                </a:solidFill>
              </a:rPr>
              <a:t>Are DJ mixes fair use?</a:t>
            </a:r>
          </a:p>
          <a:p>
            <a:pPr marL="0" indent="0">
              <a:buNone/>
            </a:pPr>
            <a:endParaRPr lang="en-US" sz="2250" dirty="0">
              <a:solidFill>
                <a:schemeClr val="bg1"/>
              </a:solidFill>
            </a:endParaRPr>
          </a:p>
          <a:p>
            <a:pPr marL="0" indent="0">
              <a:buNone/>
            </a:pPr>
            <a:r>
              <a:rPr lang="en-US" sz="2250" dirty="0">
                <a:solidFill>
                  <a:schemeClr val="bg1"/>
                </a:solidFill>
              </a:rPr>
              <a:t>NO</a:t>
            </a:r>
          </a:p>
          <a:p>
            <a:pPr marL="0" indent="0">
              <a:buNone/>
            </a:pPr>
            <a:endParaRPr lang="en-US" sz="2250" dirty="0">
              <a:solidFill>
                <a:schemeClr val="bg1"/>
              </a:solidFill>
            </a:endParaRPr>
          </a:p>
        </p:txBody>
      </p:sp>
    </p:spTree>
    <p:extLst>
      <p:ext uri="{BB962C8B-B14F-4D97-AF65-F5344CB8AC3E}">
        <p14:creationId xmlns:p14="http://schemas.microsoft.com/office/powerpoint/2010/main" val="2440322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rmAutofit/>
          </a:bodyPr>
          <a:lstStyle/>
          <a:p>
            <a:pPr marL="0" indent="0">
              <a:buNone/>
            </a:pPr>
            <a:r>
              <a:rPr lang="en-US" sz="2400" dirty="0">
                <a:solidFill>
                  <a:schemeClr val="bg1"/>
                </a:solidFill>
              </a:rPr>
              <a:t>A professor copies one article from a periodical for distribution to the class.</a:t>
            </a:r>
          </a:p>
        </p:txBody>
      </p:sp>
    </p:spTree>
    <p:extLst>
      <p:ext uri="{BB962C8B-B14F-4D97-AF65-F5344CB8AC3E}">
        <p14:creationId xmlns:p14="http://schemas.microsoft.com/office/powerpoint/2010/main" val="15183070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rmAutofit/>
          </a:bodyPr>
          <a:lstStyle/>
          <a:p>
            <a:pPr marL="0" indent="0">
              <a:buNone/>
            </a:pPr>
            <a:r>
              <a:rPr lang="en-US" sz="2400" dirty="0">
                <a:solidFill>
                  <a:schemeClr val="bg1"/>
                </a:solidFill>
              </a:rPr>
              <a:t>A professor copies one article from a periodical for distribution to the class.</a:t>
            </a:r>
          </a:p>
          <a:p>
            <a:pPr marL="0" indent="0">
              <a:buNone/>
            </a:pPr>
            <a:endParaRPr lang="en-US" sz="2700" dirty="0">
              <a:solidFill>
                <a:schemeClr val="bg1"/>
              </a:solidFill>
            </a:endParaRPr>
          </a:p>
          <a:p>
            <a:pPr marL="0" indent="0">
              <a:buNone/>
            </a:pPr>
            <a:r>
              <a:rPr lang="en-US" sz="2400" b="1" dirty="0">
                <a:solidFill>
                  <a:schemeClr val="bg1"/>
                </a:solidFill>
              </a:rPr>
              <a:t>FAIR USE?</a:t>
            </a:r>
            <a:r>
              <a:rPr lang="en-US" sz="2400" dirty="0">
                <a:solidFill>
                  <a:schemeClr val="bg1"/>
                </a:solidFill>
              </a:rPr>
              <a:t> Yes. Distribution of multiple copies for classroom use is fair use. However, the repeated use of a copyrighted work, from term-to-term, requires more scrutiny in a fair use evaluation. Repeated use, as well as a large class size, may weigh against fair use.</a:t>
            </a:r>
            <a:endParaRPr lang="en-US" sz="3300" dirty="0">
              <a:solidFill>
                <a:schemeClr val="bg1"/>
              </a:solidFill>
            </a:endParaRPr>
          </a:p>
        </p:txBody>
      </p:sp>
    </p:spTree>
    <p:extLst>
      <p:ext uri="{BB962C8B-B14F-4D97-AF65-F5344CB8AC3E}">
        <p14:creationId xmlns:p14="http://schemas.microsoft.com/office/powerpoint/2010/main" val="4069195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rmAutofit/>
          </a:bodyPr>
          <a:lstStyle/>
          <a:p>
            <a:pPr marL="0" indent="0">
              <a:buNone/>
            </a:pPr>
            <a:r>
              <a:rPr lang="en-US" sz="2400" dirty="0">
                <a:solidFill>
                  <a:schemeClr val="bg1"/>
                </a:solidFill>
              </a:rPr>
              <a:t>A professor wishes to use a textbook he considers to be too expensive. He makes copies of the book for the class.</a:t>
            </a:r>
            <a:endParaRPr lang="en-US" sz="3000" dirty="0">
              <a:solidFill>
                <a:schemeClr val="bg1"/>
              </a:solidFill>
            </a:endParaRPr>
          </a:p>
        </p:txBody>
      </p:sp>
    </p:spTree>
    <p:extLst>
      <p:ext uri="{BB962C8B-B14F-4D97-AF65-F5344CB8AC3E}">
        <p14:creationId xmlns:p14="http://schemas.microsoft.com/office/powerpoint/2010/main" val="4193541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rmAutofit/>
          </a:bodyPr>
          <a:lstStyle/>
          <a:p>
            <a:pPr marL="0" indent="0">
              <a:buNone/>
            </a:pPr>
            <a:r>
              <a:rPr lang="en-US" sz="2400" dirty="0">
                <a:solidFill>
                  <a:schemeClr val="bg1"/>
                </a:solidFill>
              </a:rPr>
              <a:t>A professor wishes to use a textbook he considers to be too expensive. He makes copies of the book for the class.</a:t>
            </a:r>
          </a:p>
          <a:p>
            <a:pPr marL="0" indent="0">
              <a:buNone/>
            </a:pPr>
            <a:endParaRPr lang="en-US" sz="3000" dirty="0">
              <a:solidFill>
                <a:schemeClr val="bg1"/>
              </a:solidFill>
            </a:endParaRPr>
          </a:p>
          <a:p>
            <a:pPr marL="0" indent="0">
              <a:buNone/>
            </a:pPr>
            <a:r>
              <a:rPr lang="en-US" sz="2400" b="1" dirty="0">
                <a:solidFill>
                  <a:schemeClr val="bg1"/>
                </a:solidFill>
              </a:rPr>
              <a:t>FAIR USE?</a:t>
            </a:r>
            <a:r>
              <a:rPr lang="en-US" sz="2400" dirty="0">
                <a:solidFill>
                  <a:schemeClr val="bg1"/>
                </a:solidFill>
              </a:rPr>
              <a:t> No. Although the use is educational, the professor is using the entire work, and by providing copies of the entire book to his students, he has affected the market. This conduct clearly interferes with the marketing monopoly of the copyright owner. The professor should place a copy on reserve or require the students to purchase the book.</a:t>
            </a:r>
            <a:endParaRPr lang="en-US" sz="3000" dirty="0">
              <a:solidFill>
                <a:schemeClr val="bg1"/>
              </a:solidFill>
            </a:endParaRPr>
          </a:p>
        </p:txBody>
      </p:sp>
    </p:spTree>
    <p:extLst>
      <p:ext uri="{BB962C8B-B14F-4D97-AF65-F5344CB8AC3E}">
        <p14:creationId xmlns:p14="http://schemas.microsoft.com/office/powerpoint/2010/main" val="23046810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Autofit/>
          </a:bodyPr>
          <a:lstStyle/>
          <a:p>
            <a:pPr marL="0" indent="0">
              <a:buNone/>
            </a:pPr>
            <a:r>
              <a:rPr lang="en-US" sz="2400" dirty="0">
                <a:solidFill>
                  <a:schemeClr val="bg1"/>
                </a:solidFill>
              </a:rPr>
              <a:t>A teacher wishes to show a copyrighted motion picture to her class for instructional purposes.</a:t>
            </a:r>
            <a:endParaRPr lang="en-US" sz="2700" dirty="0">
              <a:solidFill>
                <a:schemeClr val="bg1"/>
              </a:solidFill>
            </a:endParaRPr>
          </a:p>
        </p:txBody>
      </p:sp>
    </p:spTree>
    <p:extLst>
      <p:ext uri="{BB962C8B-B14F-4D97-AF65-F5344CB8AC3E}">
        <p14:creationId xmlns:p14="http://schemas.microsoft.com/office/powerpoint/2010/main" val="32765519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Autofit/>
          </a:bodyPr>
          <a:lstStyle/>
          <a:p>
            <a:pPr marL="0" indent="0">
              <a:buNone/>
            </a:pPr>
            <a:r>
              <a:rPr lang="en-US" sz="2400" dirty="0">
                <a:solidFill>
                  <a:schemeClr val="bg1"/>
                </a:solidFill>
              </a:rPr>
              <a:t>A teacher wishes to show a copyrighted motion picture to her class for instructional purposes.</a:t>
            </a:r>
          </a:p>
          <a:p>
            <a:pPr marL="0" indent="0">
              <a:buNone/>
            </a:pPr>
            <a:endParaRPr lang="en-US" sz="2700" dirty="0">
              <a:solidFill>
                <a:schemeClr val="bg1"/>
              </a:solidFill>
            </a:endParaRPr>
          </a:p>
          <a:p>
            <a:pPr marL="0" indent="0">
              <a:buNone/>
            </a:pPr>
            <a:r>
              <a:rPr lang="en-US" sz="2400" b="1" dirty="0">
                <a:solidFill>
                  <a:schemeClr val="bg1"/>
                </a:solidFill>
              </a:rPr>
              <a:t>FAIR USE?</a:t>
            </a:r>
            <a:r>
              <a:rPr lang="en-US" sz="2400" dirty="0">
                <a:solidFill>
                  <a:schemeClr val="bg1"/>
                </a:solidFill>
              </a:rPr>
              <a:t> Yes, since it is for classroom instruction and no admission fee is charged. Tuition and course fees do not constitute admission fees.</a:t>
            </a:r>
            <a:endParaRPr lang="en-US" sz="2700" dirty="0">
              <a:solidFill>
                <a:schemeClr val="bg1"/>
              </a:solidFill>
            </a:endParaRPr>
          </a:p>
        </p:txBody>
      </p:sp>
    </p:spTree>
    <p:extLst>
      <p:ext uri="{BB962C8B-B14F-4D97-AF65-F5344CB8AC3E}">
        <p14:creationId xmlns:p14="http://schemas.microsoft.com/office/powerpoint/2010/main" val="21055782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Autofit/>
          </a:bodyPr>
          <a:lstStyle/>
          <a:p>
            <a:pPr marL="0" indent="0">
              <a:buNone/>
            </a:pPr>
            <a:r>
              <a:rPr lang="en-US" sz="2400" dirty="0">
                <a:solidFill>
                  <a:schemeClr val="bg1"/>
                </a:solidFill>
              </a:rPr>
              <a:t>A teacher or student prepares and gives a presentation that displays photographs. Permission was not obtained to use the photographs.</a:t>
            </a:r>
            <a:endParaRPr lang="en-US" sz="3000" dirty="0">
              <a:solidFill>
                <a:schemeClr val="bg1"/>
              </a:solidFill>
            </a:endParaRPr>
          </a:p>
        </p:txBody>
      </p:sp>
    </p:spTree>
    <p:extLst>
      <p:ext uri="{BB962C8B-B14F-4D97-AF65-F5344CB8AC3E}">
        <p14:creationId xmlns:p14="http://schemas.microsoft.com/office/powerpoint/2010/main" val="8689256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Autofit/>
          </a:bodyPr>
          <a:lstStyle/>
          <a:p>
            <a:pPr marL="0" indent="0">
              <a:buNone/>
            </a:pPr>
            <a:r>
              <a:rPr lang="en-US" sz="2400" dirty="0">
                <a:solidFill>
                  <a:schemeClr val="bg1"/>
                </a:solidFill>
              </a:rPr>
              <a:t>A teacher or student prepares and gives a presentation that displays photographs. Permission was not obtained to use the photographs.</a:t>
            </a:r>
          </a:p>
          <a:p>
            <a:pPr marL="0" indent="0">
              <a:buNone/>
            </a:pPr>
            <a:endParaRPr lang="en-US" sz="3000" dirty="0">
              <a:solidFill>
                <a:schemeClr val="bg1"/>
              </a:solidFill>
            </a:endParaRPr>
          </a:p>
          <a:p>
            <a:pPr marL="0" indent="0">
              <a:buNone/>
            </a:pPr>
            <a:r>
              <a:rPr lang="en-US" sz="2400" b="1" dirty="0">
                <a:solidFill>
                  <a:schemeClr val="bg1"/>
                </a:solidFill>
              </a:rPr>
              <a:t>FAIR USE?</a:t>
            </a:r>
            <a:r>
              <a:rPr lang="en-US" sz="2400" dirty="0">
                <a:solidFill>
                  <a:schemeClr val="bg1"/>
                </a:solidFill>
              </a:rPr>
              <a:t> Yes. The copyright fair use provision explicitly provides for classroom use of copyrighted material. Instructors and students may perform and display their own educational projects or presentations for instruction.</a:t>
            </a:r>
            <a:endParaRPr lang="en-US" sz="3000" dirty="0">
              <a:solidFill>
                <a:schemeClr val="bg1"/>
              </a:solidFill>
            </a:endParaRPr>
          </a:p>
        </p:txBody>
      </p:sp>
    </p:spTree>
    <p:extLst>
      <p:ext uri="{BB962C8B-B14F-4D97-AF65-F5344CB8AC3E}">
        <p14:creationId xmlns:p14="http://schemas.microsoft.com/office/powerpoint/2010/main" val="30681030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Autofit/>
          </a:bodyPr>
          <a:lstStyle/>
          <a:p>
            <a:pPr marL="0" indent="0">
              <a:buNone/>
            </a:pPr>
            <a:r>
              <a:rPr lang="en-US" sz="2400" dirty="0">
                <a:solidFill>
                  <a:schemeClr val="bg1"/>
                </a:solidFill>
              </a:rPr>
              <a:t>A teacher or student creates a presentation and incorporates copyrighted music into the background. Assume that permission was not obtained to use the music for the presentation. Can the music be included in the teacher's or student's initial presentation?</a:t>
            </a:r>
            <a:endParaRPr lang="en-US" sz="3300" dirty="0">
              <a:solidFill>
                <a:schemeClr val="bg1"/>
              </a:solidFill>
            </a:endParaRPr>
          </a:p>
        </p:txBody>
      </p:sp>
    </p:spTree>
    <p:extLst>
      <p:ext uri="{BB962C8B-B14F-4D97-AF65-F5344CB8AC3E}">
        <p14:creationId xmlns:p14="http://schemas.microsoft.com/office/powerpoint/2010/main" val="510026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31F45-EBF5-4E21-9CF7-47E76DF0D9A0}"/>
              </a:ext>
            </a:extLst>
          </p:cNvPr>
          <p:cNvSpPr>
            <a:spLocks noGrp="1"/>
          </p:cNvSpPr>
          <p:nvPr>
            <p:ph idx="1"/>
          </p:nvPr>
        </p:nvSpPr>
        <p:spPr>
          <a:xfrm>
            <a:off x="628650" y="831954"/>
            <a:ext cx="7886700" cy="3767040"/>
          </a:xfrm>
        </p:spPr>
        <p:txBody>
          <a:bodyPr>
            <a:noAutofit/>
          </a:bodyPr>
          <a:lstStyle/>
          <a:p>
            <a:pPr marL="0" indent="0">
              <a:buNone/>
            </a:pPr>
            <a:r>
              <a:rPr lang="en-US" sz="2400" dirty="0">
                <a:solidFill>
                  <a:schemeClr val="bg1"/>
                </a:solidFill>
              </a:rPr>
              <a:t>A teacher or student creates a presentation and incorporates copyrighted music into the background. Assume that permission was not obtained to use the music for the presentation. Can the music be included in the teacher's or student's initial presentation?</a:t>
            </a:r>
          </a:p>
          <a:p>
            <a:pPr marL="0" indent="0">
              <a:buNone/>
            </a:pPr>
            <a:endParaRPr lang="en-US" sz="3300" dirty="0">
              <a:solidFill>
                <a:schemeClr val="bg1"/>
              </a:solidFill>
            </a:endParaRPr>
          </a:p>
          <a:p>
            <a:pPr marL="0" indent="0">
              <a:buNone/>
            </a:pPr>
            <a:r>
              <a:rPr lang="en-US" sz="2400" b="1" dirty="0">
                <a:solidFill>
                  <a:schemeClr val="bg1"/>
                </a:solidFill>
              </a:rPr>
              <a:t>FAIR USE?</a:t>
            </a:r>
            <a:r>
              <a:rPr lang="en-US" sz="2400" dirty="0">
                <a:solidFill>
                  <a:schemeClr val="bg1"/>
                </a:solidFill>
              </a:rPr>
              <a:t> Yes. This is fair use if instruction is occurring.</a:t>
            </a:r>
            <a:endParaRPr lang="en-US" sz="3300" dirty="0">
              <a:solidFill>
                <a:schemeClr val="bg1"/>
              </a:solidFill>
            </a:endParaRPr>
          </a:p>
        </p:txBody>
      </p:sp>
    </p:spTree>
    <p:extLst>
      <p:ext uri="{BB962C8B-B14F-4D97-AF65-F5344CB8AC3E}">
        <p14:creationId xmlns:p14="http://schemas.microsoft.com/office/powerpoint/2010/main" val="5779468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B1D8B6-6289-4B1C-A0F2-8513A1416FC5}"/>
              </a:ext>
            </a:extLst>
          </p:cNvPr>
          <p:cNvSpPr>
            <a:spLocks noGrp="1"/>
          </p:cNvSpPr>
          <p:nvPr>
            <p:ph type="title"/>
          </p:nvPr>
        </p:nvSpPr>
        <p:spPr/>
        <p:txBody>
          <a:bodyPr/>
          <a:lstStyle/>
          <a:p>
            <a:r>
              <a:rPr lang="en-US" dirty="0"/>
              <a:t>The importance of getting an idea patented</a:t>
            </a:r>
          </a:p>
        </p:txBody>
      </p:sp>
      <p:pic>
        <p:nvPicPr>
          <p:cNvPr id="5" name="Picture 4" descr="Text, whiteboard&#10;&#10;Description automatically generated">
            <a:extLst>
              <a:ext uri="{FF2B5EF4-FFF2-40B4-BE49-F238E27FC236}">
                <a16:creationId xmlns:a16="http://schemas.microsoft.com/office/drawing/2014/main" id="{AD0A2924-F5D7-4B34-AA55-DAC02A2E69C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85750" y="802530"/>
            <a:ext cx="8572500" cy="3771900"/>
          </a:xfrm>
          <a:prstGeom prst="rect">
            <a:avLst/>
          </a:prstGeom>
        </p:spPr>
      </p:pic>
    </p:spTree>
    <p:extLst>
      <p:ext uri="{BB962C8B-B14F-4D97-AF65-F5344CB8AC3E}">
        <p14:creationId xmlns:p14="http://schemas.microsoft.com/office/powerpoint/2010/main" val="3819710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ags/tag2.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Main Mast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200" dirty="0" err="1" smtClean="0">
            <a:latin typeface="Arial" panose="020B0604020202020204" pitchFamily="34" charset="0"/>
          </a:defRPr>
        </a:defPPr>
      </a:lstStyle>
    </a:txDef>
  </a:objectDefaults>
  <a:extraClrSchemeLst/>
  <a:extLst>
    <a:ext uri="{05A4C25C-085E-4340-85A3-A5531E510DB2}">
      <thm15:themeFamily xmlns:thm15="http://schemas.microsoft.com/office/thememl/2012/main" name="Seatle Genetics 1" id="{53984AC2-015D-554A-9215-CAF5E42331BB}" vid="{AC78D1C2-67FA-E942-9EA9-D2954BBFA017}"/>
    </a:ext>
  </a:extLst>
</a:theme>
</file>

<file path=ppt/theme/theme2.xml><?xml version="1.0" encoding="utf-8"?>
<a:theme xmlns:a="http://schemas.openxmlformats.org/drawingml/2006/main" name="Blue001 Print PowerPlugs Favorites 2">
  <a:themeElements>
    <a:clrScheme name="">
      <a:dk1>
        <a:srgbClr val="000000"/>
      </a:dk1>
      <a:lt1>
        <a:srgbClr val="B2B2B2"/>
      </a:lt1>
      <a:dk2>
        <a:srgbClr val="FFFFFF"/>
      </a:dk2>
      <a:lt2>
        <a:srgbClr val="000000"/>
      </a:lt2>
      <a:accent1>
        <a:srgbClr val="00CC99"/>
      </a:accent1>
      <a:accent2>
        <a:srgbClr val="3333CC"/>
      </a:accent2>
      <a:accent3>
        <a:srgbClr val="D5D5D5"/>
      </a:accent3>
      <a:accent4>
        <a:srgbClr val="000000"/>
      </a:accent4>
      <a:accent5>
        <a:srgbClr val="AAE2CA"/>
      </a:accent5>
      <a:accent6>
        <a:srgbClr val="2D2DB9"/>
      </a:accent6>
      <a:hlink>
        <a:srgbClr val="CCCCFF"/>
      </a:hlink>
      <a:folHlink>
        <a:srgbClr val="B2B2B2"/>
      </a:folHlink>
    </a:clrScheme>
    <a:fontScheme name="Blue001 Print PowerPlugs Favorites 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lnDef>
  </a:objectDefaults>
  <a:extraClrSchemeLst>
    <a:extraClrScheme>
      <a:clrScheme name="Blue001 Print PowerPlugs Favorites 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ue001 Print PowerPlugs Favorites 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ue001 Print PowerPlugs Favorites 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ue001 Print PowerPlugs Favorites 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ue001 Print PowerPlugs Favorites 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ue001 Print PowerPlugs Favorites 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ue001 Print PowerPlugs Favorites 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B2B2B2"/>
    </a:dk2>
    <a:lt2>
      <a:srgbClr val="FFFFFF"/>
    </a:lt2>
    <a:accent1>
      <a:srgbClr val="00CC99"/>
    </a:accent1>
    <a:accent2>
      <a:srgbClr val="3333CC"/>
    </a:accent2>
    <a:accent3>
      <a:srgbClr val="D5D5D5"/>
    </a:accent3>
    <a:accent4>
      <a:srgbClr val="DADADA"/>
    </a:accent4>
    <a:accent5>
      <a:srgbClr val="AAE2CA"/>
    </a:accent5>
    <a:accent6>
      <a:srgbClr val="2D2DB9"/>
    </a:accent6>
    <a:hlink>
      <a:srgbClr val="CCCCFF"/>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DD89C5D911BC046B277DCAF5366D800" ma:contentTypeVersion="4" ma:contentTypeDescription="Create a new document." ma:contentTypeScope="" ma:versionID="2cc88ace384ab63cdfefd6ba4c9c6e19">
  <xsd:schema xmlns:xsd="http://www.w3.org/2001/XMLSchema" xmlns:xs="http://www.w3.org/2001/XMLSchema" xmlns:p="http://schemas.microsoft.com/office/2006/metadata/properties" xmlns:ns2="8203920f-e80a-4f40-891f-374d92aaa723" xmlns:ns3="94453763-5c73-4bc4-9bc2-0b162bd4cfed" targetNamespace="http://schemas.microsoft.com/office/2006/metadata/properties" ma:root="true" ma:fieldsID="b09e4c8b1d448c696d03e70d112964b5" ns2:_="" ns3:_="">
    <xsd:import namespace="8203920f-e80a-4f40-891f-374d92aaa723"/>
    <xsd:import namespace="94453763-5c73-4bc4-9bc2-0b162bd4cfe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03920f-e80a-4f40-891f-374d92aaa7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453763-5c73-4bc4-9bc2-0b162bd4cfe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A84523-DC6D-4F6B-A4CC-3FF10C5ADA66}">
  <ds:schemaRefs>
    <ds:schemaRef ds:uri="http://schemas.microsoft.com/sharepoint/v3/contenttype/forms"/>
  </ds:schemaRefs>
</ds:datastoreItem>
</file>

<file path=customXml/itemProps2.xml><?xml version="1.0" encoding="utf-8"?>
<ds:datastoreItem xmlns:ds="http://schemas.openxmlformats.org/officeDocument/2006/customXml" ds:itemID="{A41CF28C-A6CA-48EC-A751-93D4F186C8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03920f-e80a-4f40-891f-374d92aaa723"/>
    <ds:schemaRef ds:uri="94453763-5c73-4bc4-9bc2-0b162bd4c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FEFE1D-2A63-4943-A8E9-412AC2E6794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1151</TotalTime>
  <Words>3884</Words>
  <Application>Microsoft Office PowerPoint</Application>
  <PresentationFormat>On-screen Show (16:9)</PresentationFormat>
  <Paragraphs>302</Paragraphs>
  <Slides>54</Slides>
  <Notes>15</Notes>
  <HiddenSlides>0</HiddenSlides>
  <MMClips>2</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54</vt:i4>
      </vt:variant>
    </vt:vector>
  </HeadingPairs>
  <TitlesOfParts>
    <vt:vector size="63" baseType="lpstr">
      <vt:lpstr>-apple-system</vt:lpstr>
      <vt:lpstr>Arial</vt:lpstr>
      <vt:lpstr>Calibri</vt:lpstr>
      <vt:lpstr>Calibri Light</vt:lpstr>
      <vt:lpstr>Courier New</vt:lpstr>
      <vt:lpstr>Times New Roman</vt:lpstr>
      <vt:lpstr>Main Master</vt:lpstr>
      <vt:lpstr>Blue001 Print PowerPlugs Favorites 2</vt:lpstr>
      <vt:lpstr>Office Theme</vt:lpstr>
      <vt:lpstr>Business &amp; Marketing, Digital Marketing &amp; Social Media, &amp; Economics</vt:lpstr>
      <vt:lpstr>PowerPoint Presentation</vt:lpstr>
      <vt:lpstr>Types of Intellectual Property </vt:lpstr>
      <vt:lpstr>Comparison</vt:lpstr>
      <vt:lpstr>Bestselling Cookie Example</vt:lpstr>
      <vt:lpstr>Showcase of Real Items</vt:lpstr>
      <vt:lpstr>What are the primary goals of patent law?</vt:lpstr>
      <vt:lpstr>What is the primary goal of patent law?</vt:lpstr>
      <vt:lpstr>Copyrights</vt:lpstr>
      <vt:lpstr>Documenting Copyright</vt:lpstr>
      <vt:lpstr>Registering Your Work</vt:lpstr>
      <vt:lpstr>Documenting Copyright</vt:lpstr>
      <vt:lpstr>You May Use Someone’s Work If:</vt:lpstr>
      <vt:lpstr>Getting Permission</vt:lpstr>
      <vt:lpstr>Permission</vt:lpstr>
      <vt:lpstr>Fair Use</vt:lpstr>
      <vt:lpstr>Do you need to have all 4 factors?</vt:lpstr>
      <vt:lpstr>Fair Use - Parody</vt:lpstr>
      <vt:lpstr>What Is The Public Domain?</vt:lpstr>
      <vt:lpstr>When Does Material Enter The Public Domain?</vt:lpstr>
      <vt:lpstr>Open Source</vt:lpstr>
      <vt:lpstr>PowerPoint Presentation</vt:lpstr>
      <vt:lpstr>Artist Steals Instagram Photos and Sells Them for 100K at NYC Gallery</vt:lpstr>
      <vt:lpstr>Richard Prince was sued. Did he win or lose?</vt:lpstr>
      <vt:lpstr>Dennis Rodman’s Tattoos</vt:lpstr>
      <vt:lpstr>Dennis Rodman’s Tattoos—ARE THEY TRADEMARKS?</vt:lpstr>
      <vt:lpstr>Songs That Sound Strangely Similar</vt:lpstr>
      <vt:lpstr>Songs That Sound Strangely Similar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importance of getting an idea patented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Sebastian Arias</dc:creator>
  <cp:keywords/>
  <dc:description/>
  <cp:lastModifiedBy>Ryfka Schafer</cp:lastModifiedBy>
  <cp:revision>18</cp:revision>
  <cp:lastPrinted>2018-04-23T17:55:37Z</cp:lastPrinted>
  <dcterms:created xsi:type="dcterms:W3CDTF">2017-07-25T22:09:28Z</dcterms:created>
  <dcterms:modified xsi:type="dcterms:W3CDTF">2026-03-31T16:53:11Z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0x0101009DD89C5D911BC046B277DCAF5366D800</vt:lpwstr>
  </property>
  <property fmtid="{D5CDD505-2E9C-101B-9397-08002B2CF9AE}" pid="3" name="Document Retention Period">
    <vt:lpwstr>2;#3 Yr|c8cd55a2-159d-41a5-94cb-7dd28dd1c861</vt:lpwstr>
  </property>
  <property fmtid="{D5CDD505-2E9C-101B-9397-08002B2CF9AE}" pid="4" name="_dlc_DocIdItemGuid">
    <vt:lpwstr>e1d96100-0888-476a-a9ce-609654440f9d</vt:lpwstr>
  </property>
</Properties>
</file>