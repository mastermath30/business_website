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4"/>
  </p:sldMasterIdLst>
  <p:notesMasterIdLst>
    <p:notesMasterId r:id="rId15"/>
  </p:notesMasterIdLst>
  <p:handoutMasterIdLst>
    <p:handoutMasterId r:id="rId16"/>
  </p:handoutMasterIdLst>
  <p:sldIdLst>
    <p:sldId id="420" r:id="rId5"/>
    <p:sldId id="421" r:id="rId6"/>
    <p:sldId id="422" r:id="rId7"/>
    <p:sldId id="423" r:id="rId8"/>
    <p:sldId id="426" r:id="rId9"/>
    <p:sldId id="424" r:id="rId10"/>
    <p:sldId id="425" r:id="rId11"/>
    <p:sldId id="429" r:id="rId12"/>
    <p:sldId id="427" r:id="rId13"/>
    <p:sldId id="428" r:id="rId14"/>
  </p:sldIdLst>
  <p:sldSz cx="9144000" cy="5143500" type="screen16x9"/>
  <p:notesSz cx="7010400" cy="92964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3" pos="2232" userDrawn="1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24"/>
    <a:srgbClr val="E89024"/>
    <a:srgbClr val="414042"/>
    <a:srgbClr val="595959"/>
    <a:srgbClr val="E2F0D0"/>
    <a:srgbClr val="91CAAA"/>
    <a:srgbClr val="DBDADC"/>
    <a:srgbClr val="2597CB"/>
    <a:srgbClr val="2370AF"/>
    <a:srgbClr val="4EA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922" autoAdjust="0"/>
  </p:normalViewPr>
  <p:slideViewPr>
    <p:cSldViewPr snapToGrid="0">
      <p:cViewPr varScale="1">
        <p:scale>
          <a:sx n="59" d="100"/>
          <a:sy n="59" d="100"/>
        </p:scale>
        <p:origin x="1428" y="28"/>
      </p:cViewPr>
      <p:guideLst>
        <p:guide pos="2880"/>
        <p:guide pos="2232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fka Schafer" userId="318b1ac2-30d3-4beb-81ce-7e66308a1db1" providerId="ADAL" clId="{6ADB8242-FC07-4006-B08C-E5283FADA5DD}"/>
    <pc:docChg chg="modSld">
      <pc:chgData name="Ryfka Schafer" userId="318b1ac2-30d3-4beb-81ce-7e66308a1db1" providerId="ADAL" clId="{6ADB8242-FC07-4006-B08C-E5283FADA5DD}" dt="2026-05-01T16:10:16.561" v="58" actId="20577"/>
      <pc:docMkLst>
        <pc:docMk/>
      </pc:docMkLst>
      <pc:sldChg chg="modSp mod">
        <pc:chgData name="Ryfka Schafer" userId="318b1ac2-30d3-4beb-81ce-7e66308a1db1" providerId="ADAL" clId="{6ADB8242-FC07-4006-B08C-E5283FADA5DD}" dt="2026-05-01T16:09:53.289" v="35" actId="20577"/>
        <pc:sldMkLst>
          <pc:docMk/>
          <pc:sldMk cId="3406123295" sldId="422"/>
        </pc:sldMkLst>
        <pc:spChg chg="mod">
          <ac:chgData name="Ryfka Schafer" userId="318b1ac2-30d3-4beb-81ce-7e66308a1db1" providerId="ADAL" clId="{6ADB8242-FC07-4006-B08C-E5283FADA5DD}" dt="2026-05-01T16:09:53.289" v="35" actId="20577"/>
          <ac:spMkLst>
            <pc:docMk/>
            <pc:sldMk cId="3406123295" sldId="422"/>
            <ac:spMk id="2" creationId="{DEB0E8C1-CD44-4406-8EB4-FEFEA9C94133}"/>
          </ac:spMkLst>
        </pc:spChg>
      </pc:sldChg>
      <pc:sldChg chg="modSp mod">
        <pc:chgData name="Ryfka Schafer" userId="318b1ac2-30d3-4beb-81ce-7e66308a1db1" providerId="ADAL" clId="{6ADB8242-FC07-4006-B08C-E5283FADA5DD}" dt="2026-05-01T16:10:16.561" v="58" actId="20577"/>
        <pc:sldMkLst>
          <pc:docMk/>
          <pc:sldMk cId="3430820727" sldId="423"/>
        </pc:sldMkLst>
        <pc:spChg chg="mod">
          <ac:chgData name="Ryfka Schafer" userId="318b1ac2-30d3-4beb-81ce-7e66308a1db1" providerId="ADAL" clId="{6ADB8242-FC07-4006-B08C-E5283FADA5DD}" dt="2026-05-01T16:10:16.561" v="58" actId="20577"/>
          <ac:spMkLst>
            <pc:docMk/>
            <pc:sldMk cId="3430820727" sldId="423"/>
            <ac:spMk id="2" creationId="{1698B38A-5E41-49A5-A97E-FC2BC30702A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4888D498-CA9B-8D40-B07D-EB92BE597C17}" type="datetimeFigureOut">
              <a:rPr lang="en-US" smtClean="0"/>
              <a:t>5/1/2026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13AAC0AE-F2B6-6846-ABA1-89ECC7B4183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72" tIns="46586" rIns="93172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200"/>
            </a:lvl1pPr>
          </a:lstStyle>
          <a:p>
            <a:fld id="{75EC4D74-3CE0-A14E-94A9-E88D6AC0C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96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3295142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728216" y="2230871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6022" y="424100"/>
            <a:ext cx="1071956" cy="1374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9701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4008736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947379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8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7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2793883" y="8682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793883" y="10206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509695" y="2243735"/>
            <a:ext cx="209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2597CB"/>
                </a:solidFill>
              </a:rPr>
              <a:t>AGENDA</a:t>
            </a:r>
            <a:endParaRPr lang="en-US" sz="3200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233738" y="1075638"/>
            <a:ext cx="5203825" cy="3162035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9158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865565"/>
            <a:ext cx="7746421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2306" y="866121"/>
            <a:ext cx="7765894" cy="237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1207501"/>
            <a:ext cx="7746421" cy="324522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41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7" y="865565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2151" y="857250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703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38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4827579"/>
            <a:ext cx="9144000" cy="323236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944" y="164592"/>
            <a:ext cx="7735824" cy="384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685800" y="865565"/>
            <a:ext cx="7759699" cy="37667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8360163" y="4923587"/>
            <a:ext cx="496793" cy="110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700" smtClean="0">
                <a:solidFill>
                  <a:srgbClr val="414042"/>
                </a:solidFill>
              </a:rPr>
              <a:t>‹#›</a:t>
            </a:fld>
            <a:endParaRPr lang="en-US" sz="700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194553" y="4260715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694944" y="4866086"/>
            <a:ext cx="3384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7774169" y="4855795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0075" y="4500484"/>
            <a:ext cx="416155" cy="5337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538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46" r:id="rId2"/>
    <p:sldLayoutId id="2147483847" r:id="rId3"/>
    <p:sldLayoutId id="2147483844" r:id="rId4"/>
    <p:sldLayoutId id="2147483845" r:id="rId5"/>
    <p:sldLayoutId id="2147483834" r:id="rId6"/>
    <p:sldLayoutId id="2147483836" r:id="rId7"/>
    <p:sldLayoutId id="2147483839" r:id="rId8"/>
    <p:sldLayoutId id="2147483782" r:id="rId9"/>
    <p:sldLayoutId id="2147483848" r:id="rId10"/>
    <p:sldLayoutId id="21474838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597CB"/>
        </a:buClr>
        <a:buSzPct val="140000"/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687388" indent="-234950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Courier New" charset="0"/>
        <a:buChar char="o"/>
        <a:defRPr sz="14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1414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Arial"/>
        <a:buChar char="•"/>
        <a:defRPr sz="12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160178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SzPct val="60000"/>
        <a:buFont typeface="Courier New" charset="0"/>
        <a:buChar char="o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58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Font typeface="Arial"/>
        <a:buChar char="•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 userDrawn="1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orient="horz" pos="17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47777-deodorant-picture-free-png-hq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fruitsflowersclouds.blogspot.be/2015/01/making-perfect-button-up-shirt-1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sa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gsarap.net/2014/04/28/malaysian-style-steamed-fish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nd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pedestrianrex/2992233289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arpersonreadingthis.blogspot.com/2015_09_01_archive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hyperlink" Target="https://pixnio.com/cs/objekty/pocitac/nabytek-stul-kryty-stul-laptop-floor-pocitac-dreven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icserver.org/highway-signs2/d/dating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amatuerphotographer/29251312710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F389E-DF5C-41EB-9EED-BCA8E7DFEF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Mrs. </a:t>
            </a:r>
            <a:r>
              <a:rPr lang="en-US"/>
              <a:t>Schafer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BA2A26-3540-40B1-B7BC-75863235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&amp; Marketing, Digital Marketing &amp; Social Media, &amp; Economics</a:t>
            </a:r>
          </a:p>
        </p:txBody>
      </p:sp>
    </p:spTree>
    <p:extLst>
      <p:ext uri="{BB962C8B-B14F-4D97-AF65-F5344CB8AC3E}">
        <p14:creationId xmlns:p14="http://schemas.microsoft.com/office/powerpoint/2010/main" val="314979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ADD7-387E-4013-8C84-380563E1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3738" y="1672462"/>
            <a:ext cx="5203825" cy="1496112"/>
          </a:xfrm>
        </p:spPr>
        <p:txBody>
          <a:bodyPr/>
          <a:lstStyle/>
          <a:p>
            <a:r>
              <a:rPr lang="en-US" dirty="0"/>
              <a:t>Workplace Etiquette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B0E8C1-CD44-4406-8EB4-FEFEA9C941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Shower once a day</a:t>
            </a:r>
          </a:p>
          <a:p>
            <a:r>
              <a:rPr lang="en-US" dirty="0"/>
              <a:t>Wash hair so that it doesn’t look greasy or smell bad</a:t>
            </a:r>
          </a:p>
          <a:p>
            <a:r>
              <a:rPr lang="en-US" dirty="0"/>
              <a:t>Wear deodorant, possibly with antiperspirant</a:t>
            </a:r>
          </a:p>
          <a:p>
            <a:r>
              <a:rPr lang="en-US" dirty="0"/>
              <a:t>Brush and floss</a:t>
            </a:r>
          </a:p>
          <a:p>
            <a:r>
              <a:rPr lang="en-US" dirty="0"/>
              <a:t>Mouthwash</a:t>
            </a:r>
          </a:p>
          <a:p>
            <a:r>
              <a:rPr lang="en-US" dirty="0"/>
              <a:t>Tongue scraper</a:t>
            </a:r>
          </a:p>
          <a:p>
            <a:r>
              <a:rPr lang="en-US" dirty="0"/>
              <a:t>Beard maintenance, no food caught in there</a:t>
            </a:r>
          </a:p>
          <a:p>
            <a:r>
              <a:rPr lang="en-US" dirty="0"/>
              <a:t>Brush hair, look at the back of it in a mirror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170C47-3DE6-4855-BAFA-EBBCF8724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Hygiene at work</a:t>
            </a:r>
          </a:p>
        </p:txBody>
      </p:sp>
      <p:pic>
        <p:nvPicPr>
          <p:cNvPr id="5" name="Picture 4" descr="A picture containing text, plastic bottle, bottle, blue&#10;&#10;Description automatically generated">
            <a:extLst>
              <a:ext uri="{FF2B5EF4-FFF2-40B4-BE49-F238E27FC236}">
                <a16:creationId xmlns:a16="http://schemas.microsoft.com/office/drawing/2014/main" id="{3E328165-1696-4899-9B46-9C6379BEB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89284" y="865565"/>
            <a:ext cx="3623036" cy="3623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69B3AF-16D6-4BB2-8FDF-2A662926349C}"/>
              </a:ext>
            </a:extLst>
          </p:cNvPr>
          <p:cNvSpPr txBox="1"/>
          <p:nvPr/>
        </p:nvSpPr>
        <p:spPr>
          <a:xfrm>
            <a:off x="3520714" y="5217710"/>
            <a:ext cx="36230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freepngimg.com/png/47777-deodorant-picture-free-png-hq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/3.0/"/>
              </a:rPr>
              <a:t>CC BY-NC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0612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98B38A-5E41-49A5-A97E-FC2BC30702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7" y="865565"/>
            <a:ext cx="5073342" cy="3554299"/>
          </a:xfrm>
        </p:spPr>
        <p:txBody>
          <a:bodyPr/>
          <a:lstStyle/>
          <a:p>
            <a:r>
              <a:rPr lang="en-US" dirty="0"/>
              <a:t>No gaps between front buttons of shirt (no bras showing through, no chest hair, etc.) Wear a white </a:t>
            </a:r>
            <a:r>
              <a:rPr lang="en-US" dirty="0" err="1"/>
              <a:t>tshirt</a:t>
            </a:r>
            <a:r>
              <a:rPr lang="en-US" dirty="0"/>
              <a:t> or tank top underneath if there are gaps</a:t>
            </a:r>
          </a:p>
          <a:p>
            <a:r>
              <a:rPr lang="en-US" dirty="0"/>
              <a:t>No skin (stomach, pecs, biceps) showing at work. Thus, no crop tops or men’s </a:t>
            </a:r>
            <a:r>
              <a:rPr lang="en-US" dirty="0" err="1"/>
              <a:t>tanktops</a:t>
            </a:r>
            <a:endParaRPr lang="en-US" dirty="0"/>
          </a:p>
          <a:p>
            <a:r>
              <a:rPr lang="en-US" dirty="0"/>
              <a:t>Not too tight of clothes (don’t want to see the outline of anything in the front or back!) </a:t>
            </a:r>
          </a:p>
          <a:p>
            <a:r>
              <a:rPr lang="en-US" dirty="0"/>
              <a:t>Not too low cut of shirts</a:t>
            </a:r>
          </a:p>
          <a:p>
            <a:r>
              <a:rPr lang="en-US" dirty="0"/>
              <a:t>No socks in crocks (no crocks at all)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C26832-6868-4BF7-9776-0A5B92F2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Clothing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5E7C0-4AF9-442C-B14C-CFAC7D94A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84079" y="826793"/>
            <a:ext cx="2573188" cy="3856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1DD410-A1E4-403A-B0E2-8144B68898B6}"/>
              </a:ext>
            </a:extLst>
          </p:cNvPr>
          <p:cNvSpPr txBox="1"/>
          <p:nvPr/>
        </p:nvSpPr>
        <p:spPr>
          <a:xfrm>
            <a:off x="3909471" y="5201246"/>
            <a:ext cx="2378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fruitsflowersclouds.blogspot.be/2015/01/making-perfect-button-up-shirt-1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30820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6EB91-A7DA-4E04-94D9-B2B9510B78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No microwaving fish in the workplace kitchen/lounge</a:t>
            </a:r>
          </a:p>
          <a:p>
            <a:r>
              <a:rPr lang="en-US" dirty="0"/>
              <a:t>No microwaving popcorn…unless you’re prepared to share it with everyone who can smell it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BB2AF8-8E52-44CD-8AD6-A84C727B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</a:t>
            </a:r>
          </a:p>
        </p:txBody>
      </p:sp>
      <p:pic>
        <p:nvPicPr>
          <p:cNvPr id="5" name="Picture 4" descr="A picture containing food, meat, cuisine, seafood&#10;&#10;Description automatically generated">
            <a:extLst>
              <a:ext uri="{FF2B5EF4-FFF2-40B4-BE49-F238E27FC236}">
                <a16:creationId xmlns:a16="http://schemas.microsoft.com/office/drawing/2014/main" id="{06B1524C-ADB7-48D9-ADA4-6C51B0CF1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07743" y="1699327"/>
            <a:ext cx="4328514" cy="2885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30C53-5462-4B5B-9370-F146FD67BADC}"/>
              </a:ext>
            </a:extLst>
          </p:cNvPr>
          <p:cNvSpPr txBox="1"/>
          <p:nvPr/>
        </p:nvSpPr>
        <p:spPr>
          <a:xfrm>
            <a:off x="3389303" y="5249654"/>
            <a:ext cx="50403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angsarap.net/2014/04/28/malaysian-style-steamed-fish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132588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04E0FA-F63C-4C10-BD46-FC31F0FA79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No touching except shaking hands</a:t>
            </a:r>
          </a:p>
          <a:p>
            <a:r>
              <a:rPr lang="en-US" dirty="0"/>
              <a:t>No massaging shoulders, sniffing hair, no patting someone on the top of the 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A985FD-51D4-482E-AD1B-C489BF96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Touching</a:t>
            </a:r>
          </a:p>
        </p:txBody>
      </p:sp>
      <p:pic>
        <p:nvPicPr>
          <p:cNvPr id="5" name="Picture 4" descr="A picture containing clothing, person, dance, sport&#10;&#10;Description automatically generated">
            <a:extLst>
              <a:ext uri="{FF2B5EF4-FFF2-40B4-BE49-F238E27FC236}">
                <a16:creationId xmlns:a16="http://schemas.microsoft.com/office/drawing/2014/main" id="{94D7C80F-499F-4B8A-86AD-B3897D67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90464" y="1605218"/>
            <a:ext cx="4563071" cy="3108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3B8F01-C14A-4FFD-A99C-C82D233C8153}"/>
              </a:ext>
            </a:extLst>
          </p:cNvPr>
          <p:cNvSpPr txBox="1"/>
          <p:nvPr/>
        </p:nvSpPr>
        <p:spPr>
          <a:xfrm>
            <a:off x="797394" y="5143500"/>
            <a:ext cx="75492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www.flickr.com/photos/pedestrianrex/2992233289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021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E2DB18-E798-46BD-B284-D906937E4E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6" y="865565"/>
            <a:ext cx="4202745" cy="3554299"/>
          </a:xfrm>
        </p:spPr>
        <p:txBody>
          <a:bodyPr/>
          <a:lstStyle/>
          <a:p>
            <a:r>
              <a:rPr lang="en-US" dirty="0"/>
              <a:t>No commenting on whether a woman is pregnant or asking how far along she is. Can’t say anything about it until she’s made an open announcement or told you personally that she’s pregnant.</a:t>
            </a:r>
          </a:p>
          <a:p>
            <a:pPr lvl="1"/>
            <a:r>
              <a:rPr lang="en-US" dirty="0"/>
              <a:t>It could just be a sandwich</a:t>
            </a:r>
          </a:p>
          <a:p>
            <a:r>
              <a:rPr lang="en-US" dirty="0"/>
              <a:t>No commenting on any part of a person’s body. No complimenting body features</a:t>
            </a:r>
          </a:p>
          <a:p>
            <a:r>
              <a:rPr lang="en-US" dirty="0"/>
              <a:t>Can say: nice haircut, nice necklace, nice earrings, etc.</a:t>
            </a:r>
          </a:p>
          <a:p>
            <a:r>
              <a:rPr lang="en-US" dirty="0"/>
              <a:t>No calling coworkers any cutesy names like Peaches, Sugar, Dear, or Darling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317FBA-AAF2-4EBD-8067-542CB42ED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pic>
        <p:nvPicPr>
          <p:cNvPr id="5" name="Picture 4" descr="A picture containing preserved food, mason jar, food storage containers, canning&#10;&#10;Description automatically generated">
            <a:extLst>
              <a:ext uri="{FF2B5EF4-FFF2-40B4-BE49-F238E27FC236}">
                <a16:creationId xmlns:a16="http://schemas.microsoft.com/office/drawing/2014/main" id="{0BA8D7C5-DEC9-4E04-9BBA-664025C57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85574" y="1630821"/>
            <a:ext cx="3751951" cy="2178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D051A4-9D1B-4A8D-840F-DB47421D3969}"/>
              </a:ext>
            </a:extLst>
          </p:cNvPr>
          <p:cNvSpPr txBox="1"/>
          <p:nvPr/>
        </p:nvSpPr>
        <p:spPr>
          <a:xfrm>
            <a:off x="4183242" y="4957218"/>
            <a:ext cx="4325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dearpersonreadingthis.blogspot.com/2015_09_01_archive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0858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41B4-0341-674A-056B-B0E99C69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4DD640-0BD3-4158-89AB-532C3836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164592"/>
            <a:ext cx="7735824" cy="384048"/>
          </a:xfrm>
        </p:spPr>
        <p:txBody>
          <a:bodyPr anchor="ctr">
            <a:normAutofit/>
          </a:bodyPr>
          <a:lstStyle/>
          <a:p>
            <a:r>
              <a:rPr lang="en-US" dirty="0"/>
              <a:t>Be respectful of others’ space, belongings, and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2C6AE5-483F-7FDF-CAEA-042759F42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12528" b="-1"/>
          <a:stretch/>
        </p:blipFill>
        <p:spPr>
          <a:xfrm>
            <a:off x="437337" y="1655445"/>
            <a:ext cx="2064467" cy="183261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601B70-FF76-1BD1-253A-36511B4E75A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00756" y="1001758"/>
            <a:ext cx="5448300" cy="1271479"/>
          </a:xfrm>
        </p:spPr>
        <p:txBody>
          <a:bodyPr anchor="t">
            <a:normAutofit/>
          </a:bodyPr>
          <a:lstStyle/>
          <a:p>
            <a:pPr marL="0" defTabSz="685800"/>
            <a:r>
              <a:rPr lang="en-US" kern="1200" dirty="0"/>
              <a:t>Can you walk into someone’s office if the door is </a:t>
            </a:r>
            <a:r>
              <a:rPr lang="en-US" dirty="0"/>
              <a:t>closed</a:t>
            </a:r>
            <a:r>
              <a:rPr lang="en-US" kern="1200" dirty="0"/>
              <a:t> but the person isn’t </a:t>
            </a:r>
            <a:r>
              <a:rPr lang="en-US" dirty="0"/>
              <a:t>in</a:t>
            </a:r>
            <a:r>
              <a:rPr lang="en-US" kern="1200" dirty="0"/>
              <a:t> there? How about if it’s open?</a:t>
            </a:r>
          </a:p>
          <a:p>
            <a:pPr marL="0" defTabSz="685800"/>
            <a:r>
              <a:rPr lang="en-US" dirty="0"/>
              <a:t>Be mindful of noise levels, especially in open office environments (assume everyone is listening…)</a:t>
            </a:r>
          </a:p>
          <a:p>
            <a:pPr marL="0" indent="0" defTabSz="685800">
              <a:buNone/>
            </a:pPr>
            <a:endParaRPr lang="en-US" kern="1200" dirty="0"/>
          </a:p>
          <a:p>
            <a:pPr marL="0" defTabSz="685800"/>
            <a:endParaRPr lang="en-US" kern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EB9377-B746-1292-86DC-34B1B712B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3650" y="2273237"/>
            <a:ext cx="5835950" cy="242582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3562EA-EF54-C581-E9AD-E55B955A2350}"/>
              </a:ext>
            </a:extLst>
          </p:cNvPr>
          <p:cNvSpPr/>
          <p:nvPr/>
        </p:nvSpPr>
        <p:spPr>
          <a:xfrm>
            <a:off x="7097486" y="2993571"/>
            <a:ext cx="576943" cy="14151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23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E4EF7C-591C-4B2F-9F1E-5B7E0C0D6B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If you’re the boss can you date anyone who works for you?</a:t>
            </a:r>
          </a:p>
          <a:p>
            <a:r>
              <a:rPr lang="en-US" dirty="0"/>
              <a:t>Can you date a coworker if neither of you work for the other person?</a:t>
            </a:r>
          </a:p>
          <a:p>
            <a:r>
              <a:rPr lang="en-US" dirty="0"/>
              <a:t>Create a record with Human Resources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5D0E58-17C2-4E15-A5AA-5F134FE7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D0058-2812-4302-B68B-715242842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551559" y="1880017"/>
            <a:ext cx="4147824" cy="276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3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5B7D-19AA-BCBE-6421-C8CE7B77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1: In groups of 3, research one person in history who was fired for inappropriate conduct at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39005-4ED8-4A17-C991-B4551B7F41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7" y="865565"/>
            <a:ext cx="7673364" cy="3554299"/>
          </a:xfrm>
        </p:spPr>
        <p:txBody>
          <a:bodyPr/>
          <a:lstStyle/>
          <a:p>
            <a:r>
              <a:rPr lang="en-US" dirty="0"/>
              <a:t>Who is the person?</a:t>
            </a:r>
          </a:p>
          <a:p>
            <a:r>
              <a:rPr lang="en-US" dirty="0"/>
              <a:t>What company did they work for?</a:t>
            </a:r>
          </a:p>
          <a:p>
            <a:r>
              <a:rPr lang="en-US" dirty="0"/>
              <a:t>What did they do?</a:t>
            </a:r>
          </a:p>
          <a:p>
            <a:r>
              <a:rPr lang="en-US" dirty="0"/>
              <a:t>How did they get found out?</a:t>
            </a:r>
          </a:p>
          <a:p>
            <a:r>
              <a:rPr lang="en-US" dirty="0"/>
              <a:t>What happened to them?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Summarize this into ONE slide.</a:t>
            </a:r>
          </a:p>
        </p:txBody>
      </p:sp>
      <p:pic>
        <p:nvPicPr>
          <p:cNvPr id="6" name="Picture 5" descr="A person in a suit and tie&#10;&#10;Description automatically generated">
            <a:extLst>
              <a:ext uri="{FF2B5EF4-FFF2-40B4-BE49-F238E27FC236}">
                <a16:creationId xmlns:a16="http://schemas.microsoft.com/office/drawing/2014/main" id="{76E9ACBA-4459-036C-A4A2-5636AC3A3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61026" y="2087335"/>
            <a:ext cx="47529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00091"/>
      </p:ext>
    </p:extLst>
  </p:cSld>
  <p:clrMapOvr>
    <a:masterClrMapping/>
  </p:clrMapOvr>
</p:sld>
</file>

<file path=ppt/theme/theme1.xml><?xml version="1.0" encoding="utf-8"?>
<a:theme xmlns:a="http://schemas.openxmlformats.org/drawingml/2006/main" name="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D89C5D911BC046B277DCAF5366D800" ma:contentTypeVersion="4" ma:contentTypeDescription="Create a new document." ma:contentTypeScope="" ma:versionID="2cc88ace384ab63cdfefd6ba4c9c6e19">
  <xsd:schema xmlns:xsd="http://www.w3.org/2001/XMLSchema" xmlns:xs="http://www.w3.org/2001/XMLSchema" xmlns:p="http://schemas.microsoft.com/office/2006/metadata/properties" xmlns:ns2="8203920f-e80a-4f40-891f-374d92aaa723" xmlns:ns3="94453763-5c73-4bc4-9bc2-0b162bd4cfed" targetNamespace="http://schemas.microsoft.com/office/2006/metadata/properties" ma:root="true" ma:fieldsID="b09e4c8b1d448c696d03e70d112964b5" ns2:_="" ns3:_="">
    <xsd:import namespace="8203920f-e80a-4f40-891f-374d92aaa723"/>
    <xsd:import namespace="94453763-5c73-4bc4-9bc2-0b162bd4c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3920f-e80a-4f40-891f-374d92aaa7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53763-5c73-4bc4-9bc2-0b162bd4c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1CF28C-A6CA-48EC-A751-93D4F186C8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03920f-e80a-4f40-891f-374d92aaa723"/>
    <ds:schemaRef ds:uri="94453763-5c73-4bc4-9bc2-0b162bd4c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A84523-DC6D-4F6B-A4CC-3FF10C5ADA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FEFE1D-2A63-4943-A8E9-412AC2E6794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484</Words>
  <Application>Microsoft Office PowerPoint</Application>
  <PresentationFormat>On-screen Show (16:9)</PresentationFormat>
  <Paragraphs>54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Main Master</vt:lpstr>
      <vt:lpstr>Business &amp; Marketing, Digital Marketing &amp; Social Media, &amp; Economics</vt:lpstr>
      <vt:lpstr>PowerPoint Presentation</vt:lpstr>
      <vt:lpstr>Hygiene at work</vt:lpstr>
      <vt:lpstr>Clothing</vt:lpstr>
      <vt:lpstr>Food</vt:lpstr>
      <vt:lpstr>Touching</vt:lpstr>
      <vt:lpstr>Comments</vt:lpstr>
      <vt:lpstr>Be respectful of others’ space, belongings, and time</vt:lpstr>
      <vt:lpstr>Dating</vt:lpstr>
      <vt:lpstr>Activity 1: In groups of 3, research one person in history who was fired for inappropriate conduct at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Sebastian Arias</dc:creator>
  <cp:keywords/>
  <dc:description/>
  <cp:lastModifiedBy>Ryfka Schafer</cp:lastModifiedBy>
  <cp:revision>17</cp:revision>
  <cp:lastPrinted>2018-04-23T17:55:37Z</cp:lastPrinted>
  <dcterms:created xsi:type="dcterms:W3CDTF">2017-07-25T22:09:28Z</dcterms:created>
  <dcterms:modified xsi:type="dcterms:W3CDTF">2026-05-01T16:10:20Z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0x0101009DD89C5D911BC046B277DCAF5366D800</vt:lpwstr>
  </property>
  <property fmtid="{D5CDD505-2E9C-101B-9397-08002B2CF9AE}" pid="3" name="Document Retention Period">
    <vt:lpwstr>2;#3 Yr|c8cd55a2-159d-41a5-94cb-7dd28dd1c861</vt:lpwstr>
  </property>
  <property fmtid="{D5CDD505-2E9C-101B-9397-08002B2CF9AE}" pid="4" name="_dlc_DocIdItemGuid">
    <vt:lpwstr>e1d96100-0888-476a-a9ce-609654440f9d</vt:lpwstr>
  </property>
</Properties>
</file>