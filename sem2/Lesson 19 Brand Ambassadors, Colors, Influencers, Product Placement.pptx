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</p:sldMasterIdLst>
  <p:notesMasterIdLst>
    <p:notesMasterId r:id="rId44"/>
  </p:notesMasterIdLst>
  <p:sldIdLst>
    <p:sldId id="420" r:id="rId6"/>
    <p:sldId id="421" r:id="rId7"/>
    <p:sldId id="425" r:id="rId8"/>
    <p:sldId id="426" r:id="rId9"/>
    <p:sldId id="431" r:id="rId10"/>
    <p:sldId id="442" r:id="rId11"/>
    <p:sldId id="429" r:id="rId12"/>
    <p:sldId id="430" r:id="rId13"/>
    <p:sldId id="439" r:id="rId14"/>
    <p:sldId id="258" r:id="rId15"/>
    <p:sldId id="277" r:id="rId16"/>
    <p:sldId id="273" r:id="rId17"/>
    <p:sldId id="274" r:id="rId18"/>
    <p:sldId id="275" r:id="rId19"/>
    <p:sldId id="260" r:id="rId20"/>
    <p:sldId id="261" r:id="rId21"/>
    <p:sldId id="262" r:id="rId22"/>
    <p:sldId id="263" r:id="rId23"/>
    <p:sldId id="264" r:id="rId24"/>
    <p:sldId id="276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59" r:id="rId33"/>
    <p:sldId id="424" r:id="rId34"/>
    <p:sldId id="423" r:id="rId35"/>
    <p:sldId id="440" r:id="rId36"/>
    <p:sldId id="432" r:id="rId37"/>
    <p:sldId id="433" r:id="rId38"/>
    <p:sldId id="441" r:id="rId39"/>
    <p:sldId id="444" r:id="rId40"/>
    <p:sldId id="435" r:id="rId41"/>
    <p:sldId id="436" r:id="rId42"/>
    <p:sldId id="443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676E19-B865-47CF-99A9-0198F2021EE3}" v="8" dt="2026-03-04T16:54:51.6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65181" autoAdjust="0"/>
  </p:normalViewPr>
  <p:slideViewPr>
    <p:cSldViewPr snapToGrid="0">
      <p:cViewPr varScale="1">
        <p:scale>
          <a:sx n="45" d="100"/>
          <a:sy n="45" d="100"/>
        </p:scale>
        <p:origin x="138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tableStyles" Target="tableStyles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fka Schafer" userId="318b1ac2-30d3-4beb-81ce-7e66308a1db1" providerId="ADAL" clId="{6ADB8242-FC07-4006-B08C-E5283FADA5DD}"/>
    <pc:docChg chg="custSel modSld">
      <pc:chgData name="Ryfka Schafer" userId="318b1ac2-30d3-4beb-81ce-7e66308a1db1" providerId="ADAL" clId="{6ADB8242-FC07-4006-B08C-E5283FADA5DD}" dt="2026-03-04T16:54:51.677" v="13"/>
      <pc:docMkLst>
        <pc:docMk/>
      </pc:docMkLst>
      <pc:sldChg chg="addSp modSp mod">
        <pc:chgData name="Ryfka Schafer" userId="318b1ac2-30d3-4beb-81ce-7e66308a1db1" providerId="ADAL" clId="{6ADB8242-FC07-4006-B08C-E5283FADA5DD}" dt="2026-03-04T16:54:51.677" v="13"/>
        <pc:sldMkLst>
          <pc:docMk/>
          <pc:sldMk cId="0" sldId="260"/>
        </pc:sldMkLst>
        <pc:spChg chg="add mod">
          <ac:chgData name="Ryfka Schafer" userId="318b1ac2-30d3-4beb-81ce-7e66308a1db1" providerId="ADAL" clId="{6ADB8242-FC07-4006-B08C-E5283FADA5DD}" dt="2026-03-04T16:54:51.667" v="8"/>
          <ac:spMkLst>
            <pc:docMk/>
            <pc:sldMk cId="0" sldId="260"/>
            <ac:spMk id="2" creationId="{7C87004C-F8F3-D447-C22F-062A44F8FC28}"/>
          </ac:spMkLst>
        </pc:spChg>
        <pc:spChg chg="add mod">
          <ac:chgData name="Ryfka Schafer" userId="318b1ac2-30d3-4beb-81ce-7e66308a1db1" providerId="ADAL" clId="{6ADB8242-FC07-4006-B08C-E5283FADA5DD}" dt="2026-03-04T16:54:51.667" v="8"/>
          <ac:spMkLst>
            <pc:docMk/>
            <pc:sldMk cId="0" sldId="260"/>
            <ac:spMk id="5" creationId="{3A80FF30-E9A8-ADF3-D95F-94306E7B6A1F}"/>
          </ac:spMkLst>
        </pc:spChg>
        <pc:spChg chg="add mod">
          <ac:chgData name="Ryfka Schafer" userId="318b1ac2-30d3-4beb-81ce-7e66308a1db1" providerId="ADAL" clId="{6ADB8242-FC07-4006-B08C-E5283FADA5DD}" dt="2026-03-04T16:54:51.677" v="13"/>
          <ac:spMkLst>
            <pc:docMk/>
            <pc:sldMk cId="0" sldId="260"/>
            <ac:spMk id="7" creationId="{BDCFBC89-EB1A-701E-15C3-F6463ED5CD0F}"/>
          </ac:spMkLst>
        </pc:spChg>
        <pc:grpChg chg="add mod">
          <ac:chgData name="Ryfka Schafer" userId="318b1ac2-30d3-4beb-81ce-7e66308a1db1" providerId="ADAL" clId="{6ADB8242-FC07-4006-B08C-E5283FADA5DD}" dt="2026-03-04T16:54:51.675" v="9"/>
          <ac:grpSpMkLst>
            <pc:docMk/>
            <pc:sldMk cId="0" sldId="260"/>
            <ac:grpSpMk id="6" creationId="{6AF29E0C-2813-13D7-2125-1897C69ECA8F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49D7C-4952-4DAD-B242-8E692654BF8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6F3EE-A8D0-4DE8-8543-748DE6B3E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89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ng.com/search?q=lincoln+towncar+parody+commercials+jim+carrey&amp;form=ANNH01&amp;refig=05c58dd161514e69af1cbda7fe4530a9&amp;pc=U531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snl+chanel+parody+brad+pitt&amp;sxsrf=AJOqlzWZ-Bd7iDR92Z-CmyjYQMCZ5rArMg%3A1678297096985&amp;source=hp&amp;ei=CMgIZJioOeKjkPIPmtG50As&amp;iflsig=AK50M_UAAAAAZAjWGCaNAH8m9em_lnD2xWziEEKclQzn&amp;oq=snl&amp;gs_lcp=Cgdnd3Mtd2l6EAEYADIECCMQJzIECCMQJzIHCC4QsQMQQzIHCAAQsQMQQzIECC4QQzIECAAQQzIECAAQQzIECAAQQzIICAAQgAQQsQMyBAgAEAM6BwgjEOoCECc6BQgAEJECOgUIABCABDoKCAAQgAQQFBCHAlDXAljTBWCqF2gBcAB4AIAB5QGIAZkFkgEDMi0zmAEAoAEBsAEK&amp;sclient=gws-wiz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7z7uhxLxrY&amp;t=2s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https://www.youtube.com/watch?v=8QEAA94FjHc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6F3EE-A8D0-4DE8-8543-748DE6B3E4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7740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https://www.youtube.com/watch?v=RzCh6eoLEgY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6F3EE-A8D0-4DE8-8543-748DE6B3E4D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611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hlinkClick r:id="rId3"/>
              </a:rPr>
              <a:t>lincoln</a:t>
            </a:r>
            <a:r>
              <a:rPr lang="en-US" dirty="0">
                <a:hlinkClick r:id="rId3"/>
              </a:rPr>
              <a:t> </a:t>
            </a:r>
            <a:r>
              <a:rPr lang="en-US" dirty="0" err="1">
                <a:hlinkClick r:id="rId3"/>
              </a:rPr>
              <a:t>towncar</a:t>
            </a:r>
            <a:r>
              <a:rPr lang="en-US" dirty="0">
                <a:hlinkClick r:id="rId3"/>
              </a:rPr>
              <a:t> parody commercials </a:t>
            </a:r>
            <a:r>
              <a:rPr lang="en-US" dirty="0" err="1">
                <a:hlinkClick r:id="rId3"/>
              </a:rPr>
              <a:t>jim</a:t>
            </a:r>
            <a:r>
              <a:rPr lang="en-US" dirty="0">
                <a:hlinkClick r:id="rId3"/>
              </a:rPr>
              <a:t> </a:t>
            </a:r>
            <a:r>
              <a:rPr lang="en-US" dirty="0" err="1">
                <a:hlinkClick r:id="rId3"/>
              </a:rPr>
              <a:t>carrey</a:t>
            </a:r>
            <a:r>
              <a:rPr lang="en-US" dirty="0">
                <a:hlinkClick r:id="rId3"/>
              </a:rPr>
              <a:t> - Search (bing.com)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6F3EE-A8D0-4DE8-8543-748DE6B3E4D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9609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https://www.youtube.com/watch?v=mGs4CjeJiJQ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6F3EE-A8D0-4DE8-8543-748DE6B3E4D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0856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hlinkClick r:id="rId3"/>
              </a:rPr>
              <a:t>snl</a:t>
            </a:r>
            <a:r>
              <a:rPr lang="en-US" dirty="0">
                <a:hlinkClick r:id="rId3"/>
              </a:rPr>
              <a:t> </a:t>
            </a:r>
            <a:r>
              <a:rPr lang="en-US" dirty="0" err="1">
                <a:hlinkClick r:id="rId3"/>
              </a:rPr>
              <a:t>chanel</a:t>
            </a:r>
            <a:r>
              <a:rPr lang="en-US" dirty="0">
                <a:hlinkClick r:id="rId3"/>
              </a:rPr>
              <a:t> parody brad </a:t>
            </a:r>
            <a:r>
              <a:rPr lang="en-US" dirty="0" err="1">
                <a:hlinkClick r:id="rId3"/>
              </a:rPr>
              <a:t>pitt</a:t>
            </a:r>
            <a:r>
              <a:rPr lang="en-US">
                <a:hlinkClick r:id="rId3"/>
              </a:rPr>
              <a:t> - Google Search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6F3EE-A8D0-4DE8-8543-748DE6B3E4D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537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(2) The Psychology Of Color In Marketing And Branding – YouTube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6F3EE-A8D0-4DE8-8543-748DE6B3E4D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2565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https://www.youtube.com/watch?v=j7z7uhxLxrY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Psychology of color questions: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kind of shapes are used with orange logos?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color appears closer to you than other colors?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color is for the “creatives”?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would a petroleum company use green?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color has less company names actually written into the logo?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Don’t use more than what number of colors in your logo?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would you use multiple colors in your logo?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C4D74-3CE0-A14E-94A9-E88D6AC0C89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6276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https://www.youtube.com/watch?v=6FrBS2pPcak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6F3EE-A8D0-4DE8-8543-748DE6B3E4D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2391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https://www.youtube.com/watch?v=OKD2kzXSX-k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6F3EE-A8D0-4DE8-8543-748DE6B3E4D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1652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https://www.youtube.com/watch?v=0h0TKE88nvc</a:t>
            </a:r>
          </a:p>
          <a:p>
            <a:endParaRPr lang="en-US" dirty="0"/>
          </a:p>
          <a:p>
            <a:r>
              <a:rPr lang="en-US" dirty="0"/>
              <a:t>https://www.youtube.com/watch?v=ZqP8G4L6_Gw – Top Gun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6F3EE-A8D0-4DE8-8543-748DE6B3E4D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007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https://www.youtube.com/watch?v=w31dKJMdqh4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6F3EE-A8D0-4DE8-8543-748DE6B3E4D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1103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6F3EE-A8D0-4DE8-8543-748DE6B3E4D8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55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E9E2BFF-0B83-4EEC-B349-6032F0DFE8E4}"/>
              </a:ext>
            </a:extLst>
          </p:cNvPr>
          <p:cNvSpPr/>
          <p:nvPr userDrawn="1"/>
        </p:nvSpPr>
        <p:spPr>
          <a:xfrm rot="10800000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</a:schemeClr>
              </a:gs>
              <a:gs pos="62000">
                <a:srgbClr val="4EABD5">
                  <a:tint val="44500"/>
                  <a:satMod val="1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2304288" y="4393523"/>
            <a:ext cx="7583424" cy="469547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>
                <a:solidFill>
                  <a:schemeClr val="bg1"/>
                </a:solidFill>
              </a:defRPr>
            </a:lvl1pPr>
            <a:lvl3pPr marL="914377" indent="0" algn="l">
              <a:buNone/>
              <a:defRPr/>
            </a:lvl3pPr>
          </a:lstStyle>
          <a:p>
            <a:pPr lvl="0"/>
            <a:r>
              <a:rPr lang="en-US"/>
              <a:t>Click to edit optional sub-header</a:t>
            </a:r>
            <a:br>
              <a:rPr lang="en-US"/>
            </a:br>
            <a:r>
              <a:rPr lang="en-US"/>
              <a:t>Arial, 12pt, sentence case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04288" y="2974495"/>
            <a:ext cx="7583424" cy="1269693"/>
          </a:xfrm>
          <a:prstGeom prst="rect">
            <a:avLst/>
          </a:prstGeom>
        </p:spPr>
        <p:txBody>
          <a:bodyPr anchor="b"/>
          <a:lstStyle>
            <a:lvl1pPr algn="ctr">
              <a:defRPr sz="2667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TITLE, ARIAL, 20PT, UPPERCASE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68CD39B6-2E49-4642-967A-D62CD650C9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81363" y="565467"/>
            <a:ext cx="1429275" cy="18331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13449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-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099198-7553-4076-AA94-8DECF542D0DE}"/>
              </a:ext>
            </a:extLst>
          </p:cNvPr>
          <p:cNvSpPr/>
          <p:nvPr userDrawn="1"/>
        </p:nvSpPr>
        <p:spPr>
          <a:xfrm rot="10800000">
            <a:off x="0" y="2216726"/>
            <a:ext cx="12192000" cy="228726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</a:schemeClr>
              </a:gs>
              <a:gs pos="85000">
                <a:srgbClr val="4EABD5">
                  <a:tint val="44500"/>
                  <a:satMod val="1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AD8FF8E8-9462-4ED7-B962-440BDD8B85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4288" y="3829076"/>
            <a:ext cx="7583424" cy="469547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>
                <a:solidFill>
                  <a:schemeClr val="bg1"/>
                </a:solidFill>
              </a:defRPr>
            </a:lvl1pPr>
            <a:lvl3pPr marL="914377" indent="0" algn="l">
              <a:buNone/>
              <a:defRPr/>
            </a:lvl3pPr>
          </a:lstStyle>
          <a:p>
            <a:pPr lvl="0"/>
            <a:r>
              <a:rPr lang="en-US" dirty="0"/>
              <a:t>Click to edit optional sub-header</a:t>
            </a:r>
            <a:br>
              <a:rPr lang="en-US" dirty="0"/>
            </a:br>
            <a:r>
              <a:rPr lang="en-US" dirty="0"/>
              <a:t>Arial, 12pt, sentence case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CFDA11-F9FA-4132-89E4-A1DFC25738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04288" y="2410048"/>
            <a:ext cx="7583424" cy="1269693"/>
          </a:xfrm>
          <a:prstGeom prst="rect">
            <a:avLst/>
          </a:prstGeom>
        </p:spPr>
        <p:txBody>
          <a:bodyPr anchor="b"/>
          <a:lstStyle>
            <a:lvl1pPr algn="ctr">
              <a:defRPr sz="2667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TITLE, ARIAL, 20PT, UPPERCASE</a:t>
            </a:r>
          </a:p>
        </p:txBody>
      </p:sp>
    </p:spTree>
    <p:extLst>
      <p:ext uri="{BB962C8B-B14F-4D97-AF65-F5344CB8AC3E}">
        <p14:creationId xmlns:p14="http://schemas.microsoft.com/office/powerpoint/2010/main" val="879203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-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099198-7553-4076-AA94-8DECF542D0DE}"/>
              </a:ext>
            </a:extLst>
          </p:cNvPr>
          <p:cNvSpPr/>
          <p:nvPr userDrawn="1"/>
        </p:nvSpPr>
        <p:spPr>
          <a:xfrm rot="10800000">
            <a:off x="0" y="2216726"/>
            <a:ext cx="12192000" cy="2287260"/>
          </a:xfrm>
          <a:prstGeom prst="rect">
            <a:avLst/>
          </a:prstGeom>
          <a:gradFill flip="none" rotWithShape="1">
            <a:gsLst>
              <a:gs pos="1000">
                <a:schemeClr val="tx1">
                  <a:lumMod val="50000"/>
                  <a:lumOff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AD8FF8E8-9462-4ED7-B962-440BDD8B85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4288" y="3829076"/>
            <a:ext cx="7583424" cy="469547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>
                <a:solidFill>
                  <a:schemeClr val="bg1"/>
                </a:solidFill>
              </a:defRPr>
            </a:lvl1pPr>
            <a:lvl3pPr marL="914377" indent="0" algn="l">
              <a:buNone/>
              <a:defRPr/>
            </a:lvl3pPr>
          </a:lstStyle>
          <a:p>
            <a:pPr lvl="0"/>
            <a:r>
              <a:rPr lang="en-US" dirty="0"/>
              <a:t>Click to edit optional sub-header</a:t>
            </a:r>
            <a:br>
              <a:rPr lang="en-US" dirty="0"/>
            </a:br>
            <a:r>
              <a:rPr lang="en-US" dirty="0"/>
              <a:t>Arial, 12pt, sentence case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CFDA11-F9FA-4132-89E4-A1DFC25738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04288" y="2410048"/>
            <a:ext cx="7583424" cy="1269693"/>
          </a:xfrm>
          <a:prstGeom prst="rect">
            <a:avLst/>
          </a:prstGeom>
        </p:spPr>
        <p:txBody>
          <a:bodyPr anchor="b"/>
          <a:lstStyle>
            <a:lvl1pPr algn="ctr">
              <a:defRPr sz="2667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TITLE, ARIAL, 20PT, UPPERCASE</a:t>
            </a:r>
          </a:p>
        </p:txBody>
      </p:sp>
    </p:spTree>
    <p:extLst>
      <p:ext uri="{BB962C8B-B14F-4D97-AF65-F5344CB8AC3E}">
        <p14:creationId xmlns:p14="http://schemas.microsoft.com/office/powerpoint/2010/main" val="23361392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099198-7553-4076-AA94-8DECF542D0DE}"/>
              </a:ext>
            </a:extLst>
          </p:cNvPr>
          <p:cNvSpPr/>
          <p:nvPr userDrawn="1"/>
        </p:nvSpPr>
        <p:spPr>
          <a:xfrm rot="10800000">
            <a:off x="0" y="2216726"/>
            <a:ext cx="12192000" cy="228726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</a:schemeClr>
              </a:gs>
              <a:gs pos="85000">
                <a:srgbClr val="4EABD5">
                  <a:tint val="44500"/>
                  <a:satMod val="1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AD8FF8E8-9462-4ED7-B962-440BDD8B85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4288" y="3829076"/>
            <a:ext cx="7583424" cy="469547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>
                <a:solidFill>
                  <a:schemeClr val="bg1"/>
                </a:solidFill>
              </a:defRPr>
            </a:lvl1pPr>
            <a:lvl3pPr marL="914377" indent="0" algn="l">
              <a:buNone/>
              <a:defRPr/>
            </a:lvl3pPr>
          </a:lstStyle>
          <a:p>
            <a:pPr lvl="0"/>
            <a:r>
              <a:rPr lang="en-US" dirty="0"/>
              <a:t>Click to edit optional sub-header</a:t>
            </a:r>
            <a:br>
              <a:rPr lang="en-US" dirty="0"/>
            </a:br>
            <a:r>
              <a:rPr lang="en-US" dirty="0"/>
              <a:t>Arial, 12pt, sentence case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CFDA11-F9FA-4132-89E4-A1DFC25738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04288" y="2410048"/>
            <a:ext cx="7583424" cy="1269693"/>
          </a:xfrm>
          <a:prstGeom prst="rect">
            <a:avLst/>
          </a:prstGeom>
        </p:spPr>
        <p:txBody>
          <a:bodyPr anchor="b"/>
          <a:lstStyle>
            <a:lvl1pPr algn="ctr">
              <a:defRPr sz="2667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TITLE, ARIAL, 20PT, UPPERCASE</a:t>
            </a:r>
          </a:p>
        </p:txBody>
      </p:sp>
      <p:pic>
        <p:nvPicPr>
          <p:cNvPr id="3" name="Picture 2" descr="A large building&#10;&#10;Description automatically generated">
            <a:extLst>
              <a:ext uri="{FF2B5EF4-FFF2-40B4-BE49-F238E27FC236}">
                <a16:creationId xmlns:a16="http://schemas.microsoft.com/office/drawing/2014/main" id="{0F5107FE-B099-49F5-9A06-956B062761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1348921" y="403959"/>
            <a:ext cx="9494159" cy="568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8075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099198-7553-4076-AA94-8DECF542D0DE}"/>
              </a:ext>
            </a:extLst>
          </p:cNvPr>
          <p:cNvSpPr/>
          <p:nvPr userDrawn="1"/>
        </p:nvSpPr>
        <p:spPr>
          <a:xfrm rot="10800000">
            <a:off x="0" y="2216726"/>
            <a:ext cx="12192000" cy="2287260"/>
          </a:xfrm>
          <a:prstGeom prst="rect">
            <a:avLst/>
          </a:prstGeom>
          <a:gradFill flip="none" rotWithShape="1">
            <a:gsLst>
              <a:gs pos="1000">
                <a:schemeClr val="tx1">
                  <a:lumMod val="50000"/>
                  <a:lumOff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AD8FF8E8-9462-4ED7-B962-440BDD8B85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4288" y="3829076"/>
            <a:ext cx="7583424" cy="469547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>
                <a:solidFill>
                  <a:schemeClr val="bg1"/>
                </a:solidFill>
              </a:defRPr>
            </a:lvl1pPr>
            <a:lvl3pPr marL="914377" indent="0" algn="l">
              <a:buNone/>
              <a:defRPr/>
            </a:lvl3pPr>
          </a:lstStyle>
          <a:p>
            <a:pPr lvl="0"/>
            <a:r>
              <a:rPr lang="en-US" dirty="0"/>
              <a:t>Click to edit optional sub-header</a:t>
            </a:r>
            <a:br>
              <a:rPr lang="en-US" dirty="0"/>
            </a:br>
            <a:r>
              <a:rPr lang="en-US" dirty="0"/>
              <a:t>Arial, 12pt, sentence case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CFDA11-F9FA-4132-89E4-A1DFC25738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04288" y="2410048"/>
            <a:ext cx="7583424" cy="1269693"/>
          </a:xfrm>
          <a:prstGeom prst="rect">
            <a:avLst/>
          </a:prstGeom>
        </p:spPr>
        <p:txBody>
          <a:bodyPr anchor="b"/>
          <a:lstStyle>
            <a:lvl1pPr algn="ctr">
              <a:defRPr sz="2667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TITLE, ARIAL, 20PT, UPPERCASE</a:t>
            </a:r>
          </a:p>
        </p:txBody>
      </p:sp>
      <p:pic>
        <p:nvPicPr>
          <p:cNvPr id="2" name="Picture 1" descr="A large building&#10;&#10;Description automatically generated">
            <a:extLst>
              <a:ext uri="{FF2B5EF4-FFF2-40B4-BE49-F238E27FC236}">
                <a16:creationId xmlns:a16="http://schemas.microsoft.com/office/drawing/2014/main" id="{E1234ECC-ADCC-46AC-9691-CE80D2E9AC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1348921" y="403959"/>
            <a:ext cx="9494159" cy="568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2464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/>
          <p:cNvCxnSpPr/>
          <p:nvPr userDrawn="1"/>
        </p:nvCxnSpPr>
        <p:spPr>
          <a:xfrm>
            <a:off x="3725177" y="1157729"/>
            <a:ext cx="0" cy="4289303"/>
          </a:xfrm>
          <a:prstGeom prst="line">
            <a:avLst/>
          </a:prstGeom>
          <a:ln w="19050">
            <a:solidFill>
              <a:srgbClr val="CDCD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3725177" y="1360929"/>
            <a:ext cx="0" cy="4289303"/>
          </a:xfrm>
          <a:prstGeom prst="line">
            <a:avLst/>
          </a:prstGeom>
          <a:ln w="19050">
            <a:solidFill>
              <a:srgbClr val="CDCD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 userDrawn="1"/>
        </p:nvSpPr>
        <p:spPr>
          <a:xfrm>
            <a:off x="679594" y="2991647"/>
            <a:ext cx="2798585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>
                <a:solidFill>
                  <a:srgbClr val="2597CB"/>
                </a:solidFill>
              </a:rPr>
              <a:t>AGENDA</a:t>
            </a:r>
            <a:endParaRPr lang="en-US" sz="4267">
              <a:solidFill>
                <a:srgbClr val="2597CB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311652" y="1434185"/>
            <a:ext cx="6938433" cy="4216047"/>
          </a:xfrm>
        </p:spPr>
        <p:txBody>
          <a:bodyPr/>
          <a:lstStyle>
            <a:lvl1pPr>
              <a:buClr>
                <a:srgbClr val="2597CB"/>
              </a:buClr>
              <a:defRPr>
                <a:solidFill>
                  <a:srgbClr val="414042"/>
                </a:solidFill>
              </a:defRPr>
            </a:lvl1pPr>
            <a:lvl2pPr>
              <a:buClr>
                <a:srgbClr val="2597CB"/>
              </a:buClr>
              <a:defRPr>
                <a:solidFill>
                  <a:srgbClr val="414042"/>
                </a:solidFill>
              </a:defRPr>
            </a:lvl2pPr>
            <a:lvl3pPr>
              <a:buClr>
                <a:srgbClr val="2597CB"/>
              </a:buClr>
              <a:defRPr>
                <a:solidFill>
                  <a:srgbClr val="414042"/>
                </a:solidFill>
              </a:defRPr>
            </a:lvl3pPr>
            <a:lvl4pPr>
              <a:buClr>
                <a:srgbClr val="2597CB"/>
              </a:buClr>
              <a:defRPr/>
            </a:lvl4pPr>
            <a:lvl5pPr>
              <a:buClr>
                <a:srgbClr val="2597CB"/>
              </a:buCl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35108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923076" y="1154087"/>
            <a:ext cx="10328561" cy="4739065"/>
          </a:xfrm>
          <a:prstGeom prst="rect">
            <a:avLst/>
          </a:prstGeom>
        </p:spPr>
        <p:txBody>
          <a:bodyPr lIns="0" tIns="0" rIns="0" bIns="0"/>
          <a:lstStyle>
            <a:lvl1pPr marL="304792" marR="0" indent="-304792" algn="l" defTabSz="1219170" rtl="0" eaLnBrk="1" fontAlgn="auto" latinLnBrk="0" hangingPunct="1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3"/>
              </a:buClr>
              <a:buSzPct val="140000"/>
              <a:buFont typeface="Arial"/>
              <a:buChar char="•"/>
              <a:tabLst/>
              <a:defRPr baseline="0"/>
            </a:lvl1pPr>
            <a:lvl2pPr marL="914377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Tx/>
              <a:buFont typeface="Courier New" charset="0"/>
              <a:buChar char="o"/>
              <a:tabLst/>
              <a:defRPr baseline="0"/>
            </a:lvl2pPr>
            <a:lvl3pPr marL="1523962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3pPr>
            <a:lvl4pPr marL="2133547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charset="0"/>
              <a:buChar char="o"/>
              <a:tabLst/>
              <a:defRPr baseline="0"/>
            </a:lvl4pPr>
            <a:lvl5pPr marL="2743131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itle 9"/>
          <p:cNvSpPr>
            <a:spLocks noGrp="1"/>
          </p:cNvSpPr>
          <p:nvPr>
            <p:ph type="title" hasCustomPrompt="1"/>
          </p:nvPr>
        </p:nvSpPr>
        <p:spPr>
          <a:xfrm>
            <a:off x="923076" y="185506"/>
            <a:ext cx="10319529" cy="509597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2667" baseline="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Add Title – Use Title Case, No More than Two Lines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5853EB-037E-4664-B8C6-47A825981E1A}"/>
              </a:ext>
            </a:extLst>
          </p:cNvPr>
          <p:cNvCxnSpPr>
            <a:cxnSpLocks/>
          </p:cNvCxnSpPr>
          <p:nvPr userDrawn="1"/>
        </p:nvCxnSpPr>
        <p:spPr>
          <a:xfrm>
            <a:off x="927778" y="912743"/>
            <a:ext cx="10336444" cy="0"/>
          </a:xfrm>
          <a:prstGeom prst="line">
            <a:avLst/>
          </a:prstGeom>
          <a:ln w="28575">
            <a:solidFill>
              <a:srgbClr val="91C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06322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lu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23075" y="1154828"/>
            <a:ext cx="10354525" cy="31729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133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Click to enter subtitle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C134C1F-53DF-43C2-AF4D-EE37600EC2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3076" y="1610002"/>
            <a:ext cx="10328561" cy="4326972"/>
          </a:xfrm>
          <a:prstGeom prst="rect">
            <a:avLst/>
          </a:prstGeom>
        </p:spPr>
        <p:txBody>
          <a:bodyPr lIns="0" tIns="0" rIns="0" bIns="0"/>
          <a:lstStyle>
            <a:lvl1pPr marL="304792" marR="0" indent="-304792" algn="l" defTabSz="1219170" rtl="0" eaLnBrk="1" fontAlgn="auto" latinLnBrk="0" hangingPunct="1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3"/>
              </a:buClr>
              <a:buSzPct val="140000"/>
              <a:buFont typeface="Arial"/>
              <a:buChar char="•"/>
              <a:tabLst/>
              <a:defRPr baseline="0"/>
            </a:lvl1pPr>
            <a:lvl2pPr marL="914377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Tx/>
              <a:buFont typeface="Courier New" charset="0"/>
              <a:buChar char="o"/>
              <a:tabLst/>
              <a:defRPr baseline="0"/>
            </a:lvl2pPr>
            <a:lvl3pPr marL="1523962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3pPr>
            <a:lvl4pPr marL="2133547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charset="0"/>
              <a:buChar char="o"/>
              <a:tabLst/>
              <a:defRPr baseline="0"/>
            </a:lvl4pPr>
            <a:lvl5pPr marL="2743131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5pPr>
          </a:lstStyle>
          <a:p>
            <a:pPr lvl="0"/>
            <a:r>
              <a:rPr lang="en-US"/>
              <a:t>Select &amp; type to begin bullet list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itle 9"/>
          <p:cNvSpPr>
            <a:spLocks noGrp="1"/>
          </p:cNvSpPr>
          <p:nvPr>
            <p:ph type="title" hasCustomPrompt="1"/>
          </p:nvPr>
        </p:nvSpPr>
        <p:spPr>
          <a:xfrm>
            <a:off x="923076" y="185506"/>
            <a:ext cx="10319529" cy="509597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2667" baseline="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Add Title – Use Title Case, No More than Two Lines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DCBBB4-8E3B-4C61-976E-98D52FE44A29}"/>
              </a:ext>
            </a:extLst>
          </p:cNvPr>
          <p:cNvCxnSpPr>
            <a:cxnSpLocks/>
          </p:cNvCxnSpPr>
          <p:nvPr userDrawn="1"/>
        </p:nvCxnSpPr>
        <p:spPr>
          <a:xfrm>
            <a:off x="927778" y="912743"/>
            <a:ext cx="10336444" cy="0"/>
          </a:xfrm>
          <a:prstGeom prst="line">
            <a:avLst/>
          </a:prstGeom>
          <a:ln w="28575">
            <a:solidFill>
              <a:srgbClr val="91C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7875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9"/>
          <p:cNvSpPr>
            <a:spLocks noGrp="1"/>
          </p:cNvSpPr>
          <p:nvPr>
            <p:ph type="title" hasCustomPrompt="1"/>
          </p:nvPr>
        </p:nvSpPr>
        <p:spPr>
          <a:xfrm>
            <a:off x="923076" y="185506"/>
            <a:ext cx="10319529" cy="509597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2667" baseline="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Add Title – Use Title Case, No More than Two Lines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AC10F0B-0123-4229-8555-D91EFBF822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3076" y="1154087"/>
            <a:ext cx="5059680" cy="4739065"/>
          </a:xfrm>
          <a:prstGeom prst="rect">
            <a:avLst/>
          </a:prstGeom>
        </p:spPr>
        <p:txBody>
          <a:bodyPr lIns="0" tIns="0" rIns="0" bIns="0"/>
          <a:lstStyle>
            <a:lvl1pPr marL="304792" marR="0" indent="-304792" algn="l" defTabSz="1219170" rtl="0" eaLnBrk="1" fontAlgn="auto" latinLnBrk="0" hangingPunct="1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3"/>
              </a:buClr>
              <a:buSzPct val="140000"/>
              <a:buFont typeface="Arial"/>
              <a:buChar char="•"/>
              <a:tabLst/>
              <a:defRPr baseline="0"/>
            </a:lvl1pPr>
            <a:lvl2pPr marL="914377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Tx/>
              <a:buFont typeface="Courier New" charset="0"/>
              <a:buChar char="o"/>
              <a:tabLst/>
              <a:defRPr baseline="0"/>
            </a:lvl2pPr>
            <a:lvl3pPr marL="1523962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3pPr>
            <a:lvl4pPr marL="2133547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charset="0"/>
              <a:buChar char="o"/>
              <a:tabLst/>
              <a:defRPr baseline="0"/>
            </a:lvl4pPr>
            <a:lvl5pPr marL="2743131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0598F9A-D406-4367-9FD6-44DB1EEC849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02868" y="1143001"/>
            <a:ext cx="5059680" cy="4739065"/>
          </a:xfrm>
          <a:prstGeom prst="rect">
            <a:avLst/>
          </a:prstGeom>
        </p:spPr>
        <p:txBody>
          <a:bodyPr lIns="0" tIns="0" rIns="0" bIns="0"/>
          <a:lstStyle>
            <a:lvl1pPr marL="304792" marR="0" indent="-304792" algn="l" defTabSz="1219170" rtl="0" eaLnBrk="1" fontAlgn="auto" latinLnBrk="0" hangingPunct="1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3"/>
              </a:buClr>
              <a:buSzPct val="140000"/>
              <a:buFont typeface="Arial"/>
              <a:buChar char="•"/>
              <a:tabLst/>
              <a:defRPr baseline="0"/>
            </a:lvl1pPr>
            <a:lvl2pPr marL="914377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Tx/>
              <a:buFont typeface="Courier New" charset="0"/>
              <a:buChar char="o"/>
              <a:tabLst/>
              <a:defRPr baseline="0"/>
            </a:lvl2pPr>
            <a:lvl3pPr marL="1523962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3pPr>
            <a:lvl4pPr marL="2133547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charset="0"/>
              <a:buChar char="o"/>
              <a:tabLst/>
              <a:defRPr baseline="0"/>
            </a:lvl4pPr>
            <a:lvl5pPr marL="2743131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B59BEE1-BB1C-456A-8CAB-34661D039C71}"/>
              </a:ext>
            </a:extLst>
          </p:cNvPr>
          <p:cNvCxnSpPr>
            <a:cxnSpLocks/>
          </p:cNvCxnSpPr>
          <p:nvPr userDrawn="1"/>
        </p:nvCxnSpPr>
        <p:spPr>
          <a:xfrm>
            <a:off x="927778" y="912743"/>
            <a:ext cx="10336444" cy="0"/>
          </a:xfrm>
          <a:prstGeom prst="line">
            <a:avLst/>
          </a:prstGeom>
          <a:ln w="28575">
            <a:solidFill>
              <a:srgbClr val="91C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62947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-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9"/>
          <p:cNvSpPr>
            <a:spLocks noGrp="1"/>
          </p:cNvSpPr>
          <p:nvPr>
            <p:ph type="title" hasCustomPrompt="1"/>
          </p:nvPr>
        </p:nvSpPr>
        <p:spPr>
          <a:xfrm>
            <a:off x="923076" y="185506"/>
            <a:ext cx="10319529" cy="509597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2667" baseline="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Add Title – Use Title Case, No More than Two Lines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B59BEE1-BB1C-456A-8CAB-34661D039C71}"/>
              </a:ext>
            </a:extLst>
          </p:cNvPr>
          <p:cNvCxnSpPr>
            <a:cxnSpLocks/>
          </p:cNvCxnSpPr>
          <p:nvPr userDrawn="1"/>
        </p:nvCxnSpPr>
        <p:spPr>
          <a:xfrm>
            <a:off x="927778" y="912743"/>
            <a:ext cx="10336444" cy="0"/>
          </a:xfrm>
          <a:prstGeom prst="line">
            <a:avLst/>
          </a:prstGeom>
          <a:ln w="28575">
            <a:solidFill>
              <a:srgbClr val="91C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18661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1986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1"/>
          </a:p>
        </p:txBody>
      </p:sp>
      <p:sp>
        <p:nvSpPr>
          <p:cNvPr id="10" name="Rectangle 9"/>
          <p:cNvSpPr/>
          <p:nvPr/>
        </p:nvSpPr>
        <p:spPr>
          <a:xfrm>
            <a:off x="-12192" y="6053328"/>
            <a:ext cx="2999232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1"/>
          </a:p>
        </p:txBody>
      </p:sp>
      <p:sp>
        <p:nvSpPr>
          <p:cNvPr id="11" name="Rectangle 10"/>
          <p:cNvSpPr/>
          <p:nvPr/>
        </p:nvSpPr>
        <p:spPr>
          <a:xfrm>
            <a:off x="3145536" y="6044184"/>
            <a:ext cx="90464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1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149600" y="4038600"/>
            <a:ext cx="8636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9408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189" indent="0" algn="ctr">
              <a:buNone/>
            </a:lvl2pPr>
            <a:lvl3pPr marL="914377" indent="0" algn="ctr">
              <a:buNone/>
            </a:lvl3pPr>
            <a:lvl4pPr marL="1371566" indent="0" algn="ctr">
              <a:buNone/>
            </a:lvl4pPr>
            <a:lvl5pPr marL="1828754" indent="0" algn="ctr">
              <a:buNone/>
            </a:lvl5pPr>
            <a:lvl6pPr marL="2285943" indent="0" algn="ctr">
              <a:buNone/>
            </a:lvl6pPr>
            <a:lvl7pPr marL="2743131" indent="0" algn="ctr">
              <a:buNone/>
            </a:lvl7pPr>
            <a:lvl8pPr marL="3200320" indent="0" algn="ctr">
              <a:buNone/>
            </a:lvl8pPr>
            <a:lvl9pPr marL="3657509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01600" y="6068699"/>
            <a:ext cx="27432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F672A744-570F-42EA-9509-0252B5C6A6AE}" type="datetime1">
              <a:rPr lang="en-US" smtClean="0"/>
              <a:t>3/4/2026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80524" y="236539"/>
            <a:ext cx="78232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Created by Nicole Nitschke    2016</a:t>
            </a: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3B8A5C5-B04B-42A3-8CBD-491ED6776E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2479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864" y="228600"/>
            <a:ext cx="108712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4E481-E3F4-42CD-AD48-33460FBAE9B1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Created by Nicole Nitschke    2016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3B8A5C5-B04B-42A3-8CBD-491ED6776E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1417283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2" y="2743201"/>
            <a:ext cx="9497484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1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1"/>
          </a:p>
        </p:txBody>
      </p:sp>
      <p:sp>
        <p:nvSpPr>
          <p:cNvPr id="9" name="Rectangle 8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D6C6D-34E5-4406-9161-C093DFA0A28A}" type="datetime1">
              <a:rPr lang="en-US" smtClean="0"/>
              <a:t>3/4/2026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1"/>
            <a:ext cx="17272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83B8A5C5-B04B-42A3-8CBD-491ED6776E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Created by Nicole Nitschke    2016</a:t>
            </a:r>
          </a:p>
        </p:txBody>
      </p:sp>
    </p:spTree>
    <p:extLst>
      <p:ext uri="{BB962C8B-B14F-4D97-AF65-F5344CB8AC3E}">
        <p14:creationId xmlns:p14="http://schemas.microsoft.com/office/powerpoint/2010/main" val="19159628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0FE694CE-512B-4ED6-9257-DB6C79C47800}" type="datetime1">
              <a:rPr lang="en-US" smtClean="0"/>
              <a:t>3/4/2026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83B8A5C5-B04B-42A3-8CBD-491ED6776E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en-US"/>
              <a:t>Created by Nicole Nitschke    2016</a:t>
            </a:r>
          </a:p>
        </p:txBody>
      </p:sp>
    </p:spTree>
    <p:extLst>
      <p:ext uri="{BB962C8B-B14F-4D97-AF65-F5344CB8AC3E}">
        <p14:creationId xmlns:p14="http://schemas.microsoft.com/office/powerpoint/2010/main" val="41813813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1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812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400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A69D9AA6-3972-4BAF-AA25-530739E538D5}" type="datetime1">
              <a:rPr lang="en-US" smtClean="0"/>
              <a:t>3/4/2026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83B8A5C5-B04B-42A3-8CBD-491ED6776E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en-US"/>
              <a:t>Created by Nicole Nitschke    2016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812800" y="1752600"/>
            <a:ext cx="51816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6400800" y="1752600"/>
            <a:ext cx="51816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495390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58F05-AEBB-4102-916D-7D56F8311D55}" type="datetime1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Created by Nicole Nitschke    2016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3B8A5C5-B04B-42A3-8CBD-491ED6776E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769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1FD7-A553-434E-8402-DAE182F0BC47}" type="datetime1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Created by Nicole Nitschke    2016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3B8A5C5-B04B-42A3-8CBD-491ED6776E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9087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1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8DDD5-A147-401B-8FF6-43609A75501D}" type="datetime1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Created by Nicole Nitschke    2016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3B8A5C5-B04B-42A3-8CBD-491ED6776E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12800" y="1752600"/>
            <a:ext cx="21336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851585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12192" y="4572000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1"/>
          </a:p>
        </p:txBody>
      </p:sp>
      <p:sp>
        <p:nvSpPr>
          <p:cNvPr id="9" name="Rectangle 8"/>
          <p:cNvSpPr/>
          <p:nvPr/>
        </p:nvSpPr>
        <p:spPr>
          <a:xfrm>
            <a:off x="-12192" y="4663440"/>
            <a:ext cx="195072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1"/>
          </a:p>
        </p:txBody>
      </p:sp>
      <p:sp>
        <p:nvSpPr>
          <p:cNvPr id="10" name="Rectangle 9"/>
          <p:cNvSpPr/>
          <p:nvPr/>
        </p:nvSpPr>
        <p:spPr>
          <a:xfrm>
            <a:off x="2060448" y="4654296"/>
            <a:ext cx="10131552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930400" y="0"/>
            <a:ext cx="134112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1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31200" y="6248400"/>
            <a:ext cx="3556000" cy="365125"/>
          </a:xfrm>
        </p:spPr>
        <p:txBody>
          <a:bodyPr rtlCol="0"/>
          <a:lstStyle/>
          <a:p>
            <a:fld id="{FC59BFF2-DF25-4FA8-B494-3D8A2AF24D67}" type="datetime1">
              <a:rPr lang="en-US" smtClean="0"/>
              <a:t>3/4/2026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930400" cy="663579"/>
          </a:xfrm>
        </p:spPr>
        <p:txBody>
          <a:bodyPr rtlCol="0"/>
          <a:lstStyle>
            <a:lvl1pPr>
              <a:defRPr sz="2800"/>
            </a:lvl1pPr>
          </a:lstStyle>
          <a:p>
            <a:fld id="{83B8A5C5-B04B-42A3-8CBD-491ED6776E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2133600" y="6248207"/>
            <a:ext cx="6096000" cy="365125"/>
          </a:xfrm>
        </p:spPr>
        <p:txBody>
          <a:bodyPr rtlCol="0"/>
          <a:lstStyle/>
          <a:p>
            <a:r>
              <a:rPr lang="en-US"/>
              <a:t>Created by Nicole Nitschke    2016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469204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4398-34FB-428A-9EFF-86E13E824C78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Created by Nicole Nitschke    2016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8A5C5-B04B-42A3-8CBD-491ED6776E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188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01"/>
            <a:ext cx="27432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1"/>
            <a:ext cx="74168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03"/>
            <a:ext cx="2946400" cy="365125"/>
          </a:xfrm>
        </p:spPr>
        <p:txBody>
          <a:bodyPr/>
          <a:lstStyle/>
          <a:p>
            <a:fld id="{EA3C07A9-28DF-46AB-956D-542F2B4989B5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3" y="6248208"/>
            <a:ext cx="7431311" cy="365125"/>
          </a:xfrm>
        </p:spPr>
        <p:txBody>
          <a:bodyPr/>
          <a:lstStyle/>
          <a:p>
            <a:r>
              <a:rPr lang="en-US"/>
              <a:t>Created by Nicole Nitschke    2016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8128424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351"/>
          </a:p>
        </p:txBody>
      </p:sp>
      <p:sp>
        <p:nvSpPr>
          <p:cNvPr id="8" name="Rectangle 7"/>
          <p:cNvSpPr/>
          <p:nvPr/>
        </p:nvSpPr>
        <p:spPr>
          <a:xfrm>
            <a:off x="8189384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351"/>
          </a:p>
        </p:txBody>
      </p:sp>
      <p:sp>
        <p:nvSpPr>
          <p:cNvPr id="9" name="Rectangle 8"/>
          <p:cNvSpPr/>
          <p:nvPr/>
        </p:nvSpPr>
        <p:spPr>
          <a:xfrm>
            <a:off x="8189384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35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83B8A5C5-B04B-42A3-8CBD-491ED6776E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3965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col blu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23075" y="1154828"/>
            <a:ext cx="10354525" cy="31729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133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Click to enter subtitle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C134C1F-53DF-43C2-AF4D-EE37600EC2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3076" y="1610002"/>
            <a:ext cx="10328561" cy="4326972"/>
          </a:xfrm>
          <a:prstGeom prst="rect">
            <a:avLst/>
          </a:prstGeom>
        </p:spPr>
        <p:txBody>
          <a:bodyPr lIns="0" tIns="0" rIns="0" bIns="0"/>
          <a:lstStyle>
            <a:lvl1pPr marL="304792" marR="0" indent="-304792" algn="l" defTabSz="1219170" rtl="0" eaLnBrk="1" fontAlgn="auto" latinLnBrk="0" hangingPunct="1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3"/>
              </a:buClr>
              <a:buSzPct val="140000"/>
              <a:buFont typeface="Arial"/>
              <a:buChar char="•"/>
              <a:tabLst/>
              <a:defRPr baseline="0"/>
            </a:lvl1pPr>
            <a:lvl2pPr marL="914377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Tx/>
              <a:buFont typeface="Courier New" charset="0"/>
              <a:buChar char="o"/>
              <a:tabLst/>
              <a:defRPr baseline="0"/>
            </a:lvl2pPr>
            <a:lvl3pPr marL="1523962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3pPr>
            <a:lvl4pPr marL="2133547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charset="0"/>
              <a:buChar char="o"/>
              <a:tabLst/>
              <a:defRPr baseline="0"/>
            </a:lvl4pPr>
            <a:lvl5pPr marL="2743131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5pPr>
          </a:lstStyle>
          <a:p>
            <a:pPr lvl="0"/>
            <a:r>
              <a:rPr lang="en-US"/>
              <a:t>Select &amp; type to begin bullet list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itle 9"/>
          <p:cNvSpPr>
            <a:spLocks noGrp="1"/>
          </p:cNvSpPr>
          <p:nvPr>
            <p:ph type="title" hasCustomPrompt="1"/>
          </p:nvPr>
        </p:nvSpPr>
        <p:spPr>
          <a:xfrm>
            <a:off x="923076" y="185506"/>
            <a:ext cx="10319529" cy="509597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2667" baseline="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Add Title – Use Title Case, No More than Two Lines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DCBBB4-8E3B-4C61-976E-98D52FE44A29}"/>
              </a:ext>
            </a:extLst>
          </p:cNvPr>
          <p:cNvCxnSpPr>
            <a:cxnSpLocks/>
          </p:cNvCxnSpPr>
          <p:nvPr userDrawn="1"/>
        </p:nvCxnSpPr>
        <p:spPr>
          <a:xfrm>
            <a:off x="927778" y="912743"/>
            <a:ext cx="10336444" cy="0"/>
          </a:xfrm>
          <a:prstGeom prst="line">
            <a:avLst/>
          </a:prstGeom>
          <a:ln w="28575">
            <a:solidFill>
              <a:srgbClr val="91C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1200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col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923076" y="1154087"/>
            <a:ext cx="10328561" cy="4739065"/>
          </a:xfrm>
          <a:prstGeom prst="rect">
            <a:avLst/>
          </a:prstGeom>
        </p:spPr>
        <p:txBody>
          <a:bodyPr lIns="0" tIns="0" rIns="0" bIns="0"/>
          <a:lstStyle>
            <a:lvl1pPr marL="304792" marR="0" indent="-304792" algn="l" defTabSz="1219170" rtl="0" eaLnBrk="1" fontAlgn="auto" latinLnBrk="0" hangingPunct="1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3"/>
              </a:buClr>
              <a:buSzPct val="140000"/>
              <a:buFont typeface="Arial"/>
              <a:buChar char="•"/>
              <a:tabLst/>
              <a:defRPr baseline="0"/>
            </a:lvl1pPr>
            <a:lvl2pPr marL="914377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Tx/>
              <a:buFont typeface="Courier New" charset="0"/>
              <a:buChar char="o"/>
              <a:tabLst/>
              <a:defRPr baseline="0"/>
            </a:lvl2pPr>
            <a:lvl3pPr marL="1523962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3pPr>
            <a:lvl4pPr marL="2133547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charset="0"/>
              <a:buChar char="o"/>
              <a:tabLst/>
              <a:defRPr baseline="0"/>
            </a:lvl4pPr>
            <a:lvl5pPr marL="2743131" marR="0" indent="-304792" algn="l" defTabSz="121917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itle 9"/>
          <p:cNvSpPr>
            <a:spLocks noGrp="1"/>
          </p:cNvSpPr>
          <p:nvPr>
            <p:ph type="title" hasCustomPrompt="1"/>
          </p:nvPr>
        </p:nvSpPr>
        <p:spPr>
          <a:xfrm>
            <a:off x="923076" y="185506"/>
            <a:ext cx="10319529" cy="509597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2667" baseline="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Add Title – Use Title Case, No More than Two Lines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5853EB-037E-4664-B8C6-47A825981E1A}"/>
              </a:ext>
            </a:extLst>
          </p:cNvPr>
          <p:cNvCxnSpPr>
            <a:cxnSpLocks/>
          </p:cNvCxnSpPr>
          <p:nvPr userDrawn="1"/>
        </p:nvCxnSpPr>
        <p:spPr>
          <a:xfrm>
            <a:off x="927778" y="912743"/>
            <a:ext cx="10336444" cy="0"/>
          </a:xfrm>
          <a:prstGeom prst="line">
            <a:avLst/>
          </a:prstGeom>
          <a:ln w="28575">
            <a:solidFill>
              <a:srgbClr val="91C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99613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BDFE816-852F-4EC5-8BA8-2C49BCA56D83}"/>
              </a:ext>
            </a:extLst>
          </p:cNvPr>
          <p:cNvSpPr/>
          <p:nvPr userDrawn="1"/>
        </p:nvSpPr>
        <p:spPr>
          <a:xfrm>
            <a:off x="0" y="6436772"/>
            <a:ext cx="12192000" cy="430981"/>
          </a:xfrm>
          <a:prstGeom prst="rect">
            <a:avLst/>
          </a:prstGeom>
          <a:solidFill>
            <a:srgbClr val="DBD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92" y="219456"/>
            <a:ext cx="10314432" cy="51206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style42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1"/>
          </p:nvPr>
        </p:nvSpPr>
        <p:spPr>
          <a:xfrm>
            <a:off x="914401" y="1154087"/>
            <a:ext cx="10346265" cy="502234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50B3E-7DA0-47E4-9748-B24A0208F1CA}"/>
              </a:ext>
            </a:extLst>
          </p:cNvPr>
          <p:cNvSpPr txBox="1"/>
          <p:nvPr userDrawn="1"/>
        </p:nvSpPr>
        <p:spPr>
          <a:xfrm>
            <a:off x="11146885" y="6564783"/>
            <a:ext cx="662391" cy="1435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198DCDC1-55DC-4367-A313-31C40E88617A}" type="slidenum">
              <a:rPr lang="en-US" sz="933" smtClean="0">
                <a:solidFill>
                  <a:srgbClr val="414042"/>
                </a:solidFill>
              </a:rPr>
              <a:t>‹#›</a:t>
            </a:fld>
            <a:endParaRPr lang="en-US" sz="933" dirty="0">
              <a:solidFill>
                <a:srgbClr val="41404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E7DAE6-672D-4E30-B617-4C20C7FB20BD}"/>
              </a:ext>
            </a:extLst>
          </p:cNvPr>
          <p:cNvSpPr txBox="1"/>
          <p:nvPr userDrawn="1"/>
        </p:nvSpPr>
        <p:spPr>
          <a:xfrm>
            <a:off x="259405" y="5680954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 err="1"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686789-9FDA-46BC-9875-217FC8534140}"/>
              </a:ext>
            </a:extLst>
          </p:cNvPr>
          <p:cNvSpPr txBox="1"/>
          <p:nvPr userDrawn="1"/>
        </p:nvSpPr>
        <p:spPr>
          <a:xfrm>
            <a:off x="926592" y="6488115"/>
            <a:ext cx="4467890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33" dirty="0">
                <a:solidFill>
                  <a:srgbClr val="414042"/>
                </a:solidFill>
                <a:latin typeface="Arial" panose="020B0604020202020204" pitchFamily="34" charset="0"/>
              </a:rPr>
              <a:t>Business &amp; Marketing, Economics, and Digital Marketing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B75B59-9310-4D12-B8AB-3D539D27C359}"/>
              </a:ext>
            </a:extLst>
          </p:cNvPr>
          <p:cNvSpPr txBox="1"/>
          <p:nvPr userDrawn="1"/>
        </p:nvSpPr>
        <p:spPr>
          <a:xfrm>
            <a:off x="10365559" y="6474394"/>
            <a:ext cx="989373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33" dirty="0">
                <a:solidFill>
                  <a:srgbClr val="414042"/>
                </a:solidFill>
                <a:latin typeface="Arial" panose="020B0604020202020204" pitchFamily="34" charset="0"/>
              </a:rPr>
              <a:t>2020/2021</a:t>
            </a:r>
          </a:p>
        </p:txBody>
      </p:sp>
      <p:pic>
        <p:nvPicPr>
          <p:cNvPr id="21" name="Picture 20" descr="A picture containing drawing&#10;&#10;Description automatically generated">
            <a:extLst>
              <a:ext uri="{FF2B5EF4-FFF2-40B4-BE49-F238E27FC236}">
                <a16:creationId xmlns:a16="http://schemas.microsoft.com/office/drawing/2014/main" id="{F4D7F0F3-F14F-4231-B370-8C5A4CDF590F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73434" y="6000645"/>
            <a:ext cx="554873" cy="71165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29375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2667" kern="1200">
          <a:solidFill>
            <a:schemeClr val="bg1"/>
          </a:solidFill>
          <a:latin typeface="Arial" charset="0"/>
          <a:ea typeface="Arial" charset="0"/>
          <a:cs typeface="Arial" charset="0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Clr>
          <a:srgbClr val="2597CB"/>
        </a:buClr>
        <a:buSzPct val="140000"/>
        <a:buFont typeface="Arial"/>
        <a:buChar char="•"/>
        <a:defRPr sz="2133" kern="1200">
          <a:solidFill>
            <a:srgbClr val="414042"/>
          </a:solidFill>
          <a:latin typeface="Arial" charset="0"/>
          <a:ea typeface="Arial" charset="0"/>
          <a:cs typeface="Arial" charset="0"/>
        </a:defRPr>
      </a:lvl1pPr>
      <a:lvl2pPr marL="916494" indent="-313259" algn="l" defTabSz="1219170" rtl="0" eaLnBrk="1" latinLnBrk="0" hangingPunct="1">
        <a:lnSpc>
          <a:spcPct val="90000"/>
        </a:lnSpc>
        <a:spcBef>
          <a:spcPts val="667"/>
        </a:spcBef>
        <a:buClr>
          <a:srgbClr val="2597CB"/>
        </a:buClr>
        <a:buFont typeface="Courier New" charset="0"/>
        <a:buChar char="o"/>
        <a:defRPr sz="1867" kern="1200">
          <a:solidFill>
            <a:srgbClr val="414042"/>
          </a:solidFill>
          <a:latin typeface="Arial" charset="0"/>
          <a:ea typeface="Arial" charset="0"/>
          <a:cs typeface="Arial" charset="0"/>
        </a:defRPr>
      </a:lvl2pPr>
      <a:lvl3pPr marL="1521846" indent="-306910" algn="l" defTabSz="1219170" rtl="0" eaLnBrk="1" latinLnBrk="0" hangingPunct="1">
        <a:lnSpc>
          <a:spcPct val="90000"/>
        </a:lnSpc>
        <a:spcBef>
          <a:spcPts val="667"/>
        </a:spcBef>
        <a:buClr>
          <a:srgbClr val="2597CB"/>
        </a:buClr>
        <a:buFont typeface="Arial"/>
        <a:buChar char="•"/>
        <a:defRPr sz="1600" kern="1200">
          <a:solidFill>
            <a:srgbClr val="414042"/>
          </a:solidFill>
          <a:latin typeface="Arial" charset="0"/>
          <a:ea typeface="Arial" charset="0"/>
          <a:cs typeface="Arial" charset="0"/>
        </a:defRPr>
      </a:lvl3pPr>
      <a:lvl4pPr marL="2135664" indent="-304792" algn="l" defTabSz="1219170" rtl="0" eaLnBrk="1" latinLnBrk="0" hangingPunct="1">
        <a:lnSpc>
          <a:spcPct val="90000"/>
        </a:lnSpc>
        <a:spcBef>
          <a:spcPts val="667"/>
        </a:spcBef>
        <a:buClr>
          <a:srgbClr val="703F85"/>
        </a:buClr>
        <a:buSzPct val="60000"/>
        <a:buFont typeface="Courier New" charset="0"/>
        <a:buChar char="o"/>
        <a:defRPr sz="1467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741015" indent="-306910" algn="l" defTabSz="1219170" rtl="0" eaLnBrk="1" latinLnBrk="0" hangingPunct="1">
        <a:lnSpc>
          <a:spcPct val="90000"/>
        </a:lnSpc>
        <a:spcBef>
          <a:spcPts val="667"/>
        </a:spcBef>
        <a:buClr>
          <a:srgbClr val="703F85"/>
        </a:buClr>
        <a:buFont typeface="Arial"/>
        <a:buChar char="•"/>
        <a:defRPr sz="1467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2">
          <p15:clr>
            <a:srgbClr val="F26B43"/>
          </p15:clr>
        </p15:guide>
        <p15:guide id="2" pos="5328">
          <p15:clr>
            <a:srgbClr val="F26B43"/>
          </p15:clr>
        </p15:guide>
        <p15:guide id="4" orient="horz" pos="540">
          <p15:clr>
            <a:srgbClr val="F26B43"/>
          </p15:clr>
        </p15:guide>
        <p15:guide id="5" orient="horz" pos="3156">
          <p15:clr>
            <a:srgbClr val="F26B43"/>
          </p15:clr>
        </p15:guide>
        <p15:guide id="6" pos="2880">
          <p15:clr>
            <a:srgbClr val="F26B43"/>
          </p15:clr>
        </p15:guide>
        <p15:guide id="7" orient="horz" pos="171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812800" y="228600"/>
            <a:ext cx="108712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816864" y="1600200"/>
            <a:ext cx="108712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128000" y="6248400"/>
            <a:ext cx="3556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43B5B43-B6CD-4ABB-AD49-5A42858BD640}" type="datetime1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812802" y="6248207"/>
            <a:ext cx="7228111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Created by Nicole Nitschke    2016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12192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1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1"/>
          </a:p>
        </p:txBody>
      </p:sp>
      <p:sp>
        <p:nvSpPr>
          <p:cNvPr id="9" name="Rectangle 8"/>
          <p:cNvSpPr/>
          <p:nvPr/>
        </p:nvSpPr>
        <p:spPr>
          <a:xfrm>
            <a:off x="787400" y="1280160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1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3"/>
            <a:ext cx="7112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83B8A5C5-B04B-42A3-8CBD-491ED6776E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613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sldNum="0" hd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32" indent="-320032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64" indent="-274313" algn="l" rtl="0" eaLnBrk="1" latinLnBrk="0" hangingPunct="1">
        <a:spcBef>
          <a:spcPts val="551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indent="-228594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indent="-228594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indent="-228594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067" indent="-228594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381" indent="-228594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694" indent="-228594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07" indent="-228594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9.xml"/><Relationship Id="rId1" Type="http://schemas.openxmlformats.org/officeDocument/2006/relationships/video" Target="https://www.youtube.com/embed/FoGGDKV88Fg?feature=oembed" TargetMode="Externa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RzCh6eoLEgY?feature=oembed" TargetMode="Externa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mGs4CjeJiJQ?feature=oembed" TargetMode="Externa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pd_BOTXkr18?feature=oembed" TargetMode="Externa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factmonster.com/quizzes/psychcolors/1.html" TargetMode="Externa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19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6.jpeg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0.jpeg"/><Relationship Id="rId4" Type="http://schemas.openxmlformats.org/officeDocument/2006/relationships/image" Target="../media/image39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4.jpeg"/><Relationship Id="rId4" Type="http://schemas.openxmlformats.org/officeDocument/2006/relationships/image" Target="../media/image4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7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2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5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4.xml"/><Relationship Id="rId1" Type="http://schemas.openxmlformats.org/officeDocument/2006/relationships/video" Target="https://www.youtube.com/embed/j7z7uhxLxrY?feature=oembed" TargetMode="External"/><Relationship Id="rId4" Type="http://schemas.openxmlformats.org/officeDocument/2006/relationships/image" Target="../media/image57.jpe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6FrBS2pPcak?feature=oembed" TargetMode="External"/><Relationship Id="rId4" Type="http://schemas.openxmlformats.org/officeDocument/2006/relationships/image" Target="../media/image58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OKD2kzXSX-k?feature=oembed" TargetMode="External"/><Relationship Id="rId4" Type="http://schemas.openxmlformats.org/officeDocument/2006/relationships/image" Target="../media/image59.jpe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wBuUrJBLZV8?feature=oembed" TargetMode="External"/><Relationship Id="rId4" Type="http://schemas.openxmlformats.org/officeDocument/2006/relationships/image" Target="../media/image60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w31dKJMdqh4?feature=oembed" TargetMode="External"/><Relationship Id="rId4" Type="http://schemas.openxmlformats.org/officeDocument/2006/relationships/image" Target="../media/image61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18jl1Wr5TRw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BA2A26-3540-40B1-B7BC-75863235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6949" y="3478076"/>
            <a:ext cx="8353777" cy="1269693"/>
          </a:xfrm>
        </p:spPr>
        <p:txBody>
          <a:bodyPr/>
          <a:lstStyle/>
          <a:p>
            <a:r>
              <a:rPr lang="en-US" dirty="0"/>
              <a:t>Business, Marketing, Entrepreneurship, Digital Marketing, and Econ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Mrs. Schafer</a:t>
            </a:r>
            <a:br>
              <a:rPr lang="en-US" dirty="0"/>
            </a:br>
            <a:r>
              <a:rPr lang="en-US" dirty="0"/>
              <a:t>Class </a:t>
            </a:r>
          </a:p>
        </p:txBody>
      </p:sp>
    </p:spTree>
    <p:extLst>
      <p:ext uri="{BB962C8B-B14F-4D97-AF65-F5344CB8AC3E}">
        <p14:creationId xmlns:p14="http://schemas.microsoft.com/office/powerpoint/2010/main" val="3149790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4AADD7-387E-4013-8C84-380563E114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17584" y="989305"/>
            <a:ext cx="6938433" cy="2135752"/>
          </a:xfrm>
        </p:spPr>
        <p:txBody>
          <a:bodyPr/>
          <a:lstStyle/>
          <a:p>
            <a:r>
              <a:rPr lang="en-US" dirty="0"/>
              <a:t>The psychology of selling:</a:t>
            </a:r>
          </a:p>
          <a:p>
            <a:pPr lvl="1"/>
            <a:r>
              <a:rPr lang="en-US" dirty="0"/>
              <a:t>Brand Ambassadors</a:t>
            </a:r>
          </a:p>
          <a:p>
            <a:pPr lvl="1"/>
            <a:r>
              <a:rPr lang="en-US" dirty="0"/>
              <a:t>Marketing colors</a:t>
            </a:r>
          </a:p>
          <a:p>
            <a:pPr lvl="1"/>
            <a:r>
              <a:rPr lang="en-US" dirty="0"/>
              <a:t>Influencers</a:t>
            </a:r>
          </a:p>
          <a:p>
            <a:pPr lvl="1"/>
            <a:r>
              <a:rPr lang="en-US" dirty="0"/>
              <a:t>Product Placement</a:t>
            </a:r>
          </a:p>
          <a:p>
            <a:pPr marL="603236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443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8F3AE-0489-4BF7-94F0-C18EE2B49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Brand Ambassador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2D0E5-3A0E-4C72-9622-F1367F39547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Who is it?</a:t>
            </a:r>
          </a:p>
          <a:p>
            <a:pPr lvl="1"/>
            <a:r>
              <a:rPr lang="en-US" dirty="0"/>
              <a:t>a person, especially a celebrity, who is paid to endorse or promote a particular company's products or services.</a:t>
            </a:r>
          </a:p>
          <a:p>
            <a:r>
              <a:rPr lang="en-US" dirty="0"/>
              <a:t>What can you expect from a brand ambassador?</a:t>
            </a:r>
          </a:p>
          <a:p>
            <a:pPr lvl="1"/>
            <a:r>
              <a:rPr lang="en-US" dirty="0"/>
              <a:t>positively representing the brand in a myriad of settings though action and demeanor. </a:t>
            </a:r>
          </a:p>
          <a:p>
            <a:pPr lvl="1"/>
            <a:r>
              <a:rPr lang="en-US" dirty="0"/>
              <a:t>Cooperating and assisting in content creation (blogs, posts, reviews, product promotion) </a:t>
            </a:r>
          </a:p>
          <a:p>
            <a:pPr lvl="1"/>
            <a:r>
              <a:rPr lang="en-US" dirty="0"/>
              <a:t>Utilizing word of mouth marketing to help naturally generate brand awareness. </a:t>
            </a:r>
          </a:p>
          <a:p>
            <a:pPr lvl="1"/>
            <a:r>
              <a:rPr lang="en-US" dirty="0"/>
              <a:t>Promoting the brand on social media platforms.</a:t>
            </a:r>
          </a:p>
        </p:txBody>
      </p:sp>
      <p:pic>
        <p:nvPicPr>
          <p:cNvPr id="1026" name="Picture 2" descr="Brad Pitt's Chanel No. 5 Ads: Crazy or Genius? - Baer Performance Marketing">
            <a:extLst>
              <a:ext uri="{FF2B5EF4-FFF2-40B4-BE49-F238E27FC236}">
                <a16:creationId xmlns:a16="http://schemas.microsoft.com/office/drawing/2014/main" id="{E855EE97-D0E8-4811-ABB9-64208EE8E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7638" y="1154087"/>
            <a:ext cx="2826989" cy="1850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hanel Coco Mademoiselle Ad Ad 2017 - Keira Knightley shot by Mario Testino  | Chanel fragrance, Chanel beauty, Keira knightley chanel">
            <a:extLst>
              <a:ext uri="{FF2B5EF4-FFF2-40B4-BE49-F238E27FC236}">
                <a16:creationId xmlns:a16="http://schemas.microsoft.com/office/drawing/2014/main" id="{42E05851-2851-4285-A964-25153BF1D4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9247" y="1154087"/>
            <a:ext cx="2501900" cy="325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ull&quot; Matthew McConaughey and the MKC: Official Commercial | Lincoln -  YouTube">
            <a:extLst>
              <a:ext uri="{FF2B5EF4-FFF2-40B4-BE49-F238E27FC236}">
                <a16:creationId xmlns:a16="http://schemas.microsoft.com/office/drawing/2014/main" id="{79BD03C6-C68D-4EAC-AC2B-21BB963A5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7209" y="4490911"/>
            <a:ext cx="3249129" cy="1819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2639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746D9-C5F1-4059-82C8-20077C0B6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Brand Ambassador</a:t>
            </a:r>
          </a:p>
        </p:txBody>
      </p:sp>
      <p:pic>
        <p:nvPicPr>
          <p:cNvPr id="5" name="Online Media 4" title="&quot;Bull&quot; Matthew McConaughey and the MKC: Official Commercial | Lincoln">
            <a:hlinkClick r:id="" action="ppaction://media"/>
            <a:extLst>
              <a:ext uri="{FF2B5EF4-FFF2-40B4-BE49-F238E27FC236}">
                <a16:creationId xmlns:a16="http://schemas.microsoft.com/office/drawing/2014/main" id="{3884CFDA-448E-458F-BD46-C9AC85E0B9D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341790" y="1214180"/>
            <a:ext cx="7874917" cy="4429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802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8872D99-9B69-4056-808F-F6A3361B6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Brand Ambassadors Do More Promotion and Affect Sales</a:t>
            </a:r>
          </a:p>
        </p:txBody>
      </p:sp>
      <p:pic>
        <p:nvPicPr>
          <p:cNvPr id="4" name="Online Media 3" title="Matthew McConaughey Watches Ellen's Lincoln Commercial">
            <a:hlinkClick r:id="" action="ppaction://media"/>
            <a:extLst>
              <a:ext uri="{FF2B5EF4-FFF2-40B4-BE49-F238E27FC236}">
                <a16:creationId xmlns:a16="http://schemas.microsoft.com/office/drawing/2014/main" id="{73A59BFD-BE1D-4F43-91B4-D4CDF7609B4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032000" y="1143000"/>
            <a:ext cx="812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73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AD2BDC-E6FF-4E38-958E-9431F778C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701" y="1031347"/>
            <a:ext cx="9840277" cy="549169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1BB78AC-CD16-43BA-926F-73EC68EC2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Parodies Help the Brand!</a:t>
            </a:r>
          </a:p>
        </p:txBody>
      </p:sp>
    </p:spTree>
    <p:extLst>
      <p:ext uri="{BB962C8B-B14F-4D97-AF65-F5344CB8AC3E}">
        <p14:creationId xmlns:p14="http://schemas.microsoft.com/office/powerpoint/2010/main" val="4135757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FF9E74A-9B3A-4AC5-984A-9A64D54C2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Brad Pitt – Chanel Brand Ambassador</a:t>
            </a:r>
          </a:p>
        </p:txBody>
      </p:sp>
      <p:pic>
        <p:nvPicPr>
          <p:cNvPr id="4" name="Online Media 3" title="There you are - CHANEL Nￂﾰ5 Part 1">
            <a:hlinkClick r:id="" action="ppaction://media"/>
            <a:extLst>
              <a:ext uri="{FF2B5EF4-FFF2-40B4-BE49-F238E27FC236}">
                <a16:creationId xmlns:a16="http://schemas.microsoft.com/office/drawing/2014/main" id="{CEA40B6C-8E68-4A27-8813-6A59EFE8E4F7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032000" y="1143000"/>
            <a:ext cx="812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313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FF9E74A-9B3A-4AC5-984A-9A64D54C2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Brad Pitt – Chanel Brand Ambassador Parody</a:t>
            </a:r>
          </a:p>
        </p:txBody>
      </p:sp>
      <p:pic>
        <p:nvPicPr>
          <p:cNvPr id="5" name="Online Media 4" title="Brad Pitt Ad I - Saturday Night Live">
            <a:hlinkClick r:id="" action="ppaction://media"/>
            <a:extLst>
              <a:ext uri="{FF2B5EF4-FFF2-40B4-BE49-F238E27FC236}">
                <a16:creationId xmlns:a16="http://schemas.microsoft.com/office/drawing/2014/main" id="{990896FF-6732-4D73-BEC0-88834D30F85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032000" y="1143000"/>
            <a:ext cx="812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075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2600" y="1981200"/>
            <a:ext cx="8610600" cy="1828800"/>
          </a:xfrm>
        </p:spPr>
        <p:txBody>
          <a:bodyPr>
            <a:noAutofit/>
          </a:bodyPr>
          <a:lstStyle/>
          <a:p>
            <a:r>
              <a:rPr lang="en-US" sz="8000" dirty="0">
                <a:latin typeface="Oswald Regular" pitchFamily="2" charset="0"/>
              </a:rPr>
              <a:t>Use of colors in marketing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The Psychology of Color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6000" b="1" dirty="0">
                <a:solidFill>
                  <a:schemeClr val="accent2">
                    <a:lumMod val="75000"/>
                  </a:schemeClr>
                </a:solidFill>
                <a:latin typeface="Oswald" pitchFamily="2" charset="0"/>
              </a:rPr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133600" y="2438400"/>
            <a:ext cx="7848600" cy="1524000"/>
          </a:xfrm>
          <a:solidFill>
            <a:schemeClr val="tx2"/>
          </a:solidFill>
        </p:spPr>
        <p:txBody>
          <a:bodyPr/>
          <a:lstStyle/>
          <a:p>
            <a:pPr lvl="0">
              <a:buNone/>
            </a:pPr>
            <a:r>
              <a:rPr lang="en-US" sz="4000" dirty="0">
                <a:solidFill>
                  <a:schemeClr val="bg1"/>
                </a:solidFill>
                <a:latin typeface="Oswald Regular" pitchFamily="2" charset="0"/>
              </a:rPr>
              <a:t>To learn how colors play a </a:t>
            </a:r>
          </a:p>
          <a:p>
            <a:pPr lvl="0">
              <a:buNone/>
            </a:pPr>
            <a:r>
              <a:rPr lang="en-US" sz="4000" dirty="0">
                <a:solidFill>
                  <a:schemeClr val="bg1"/>
                </a:solidFill>
                <a:latin typeface="Oswald Regular" pitchFamily="2" charset="0"/>
              </a:rPr>
              <a:t>	role in determining what we buy.</a:t>
            </a:r>
          </a:p>
          <a:p>
            <a:endParaRPr lang="en-US" sz="3600" dirty="0">
              <a:latin typeface="Oswald Regular" pitchFamily="2" charset="0"/>
            </a:endParaRPr>
          </a:p>
          <a:p>
            <a:endParaRPr lang="en-US" sz="3600" dirty="0">
              <a:latin typeface="Oswald Regular" pitchFamily="2" charset="0"/>
            </a:endParaRPr>
          </a:p>
          <a:p>
            <a:pPr>
              <a:buNone/>
            </a:pPr>
            <a:endParaRPr lang="en-US" sz="3600" dirty="0">
              <a:latin typeface="Oswald Regular" pitchFamily="2" charset="0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6000" b="1" dirty="0">
                <a:solidFill>
                  <a:srgbClr val="FF0000"/>
                </a:solidFill>
                <a:latin typeface="Oswald" pitchFamily="2" charset="0"/>
              </a:rPr>
              <a:t>C</a:t>
            </a:r>
            <a:r>
              <a:rPr lang="en-US" sz="6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Oswald" pitchFamily="2" charset="0"/>
              </a:rPr>
              <a:t>O</a:t>
            </a:r>
            <a:r>
              <a:rPr lang="en-US" sz="6000" b="1" dirty="0">
                <a:solidFill>
                  <a:schemeClr val="accent4">
                    <a:lumMod val="75000"/>
                  </a:schemeClr>
                </a:solidFill>
                <a:latin typeface="Oswald" pitchFamily="2" charset="0"/>
              </a:rPr>
              <a:t>L</a:t>
            </a:r>
            <a:r>
              <a:rPr lang="en-US" sz="6000" b="1" dirty="0">
                <a:solidFill>
                  <a:schemeClr val="accent6">
                    <a:lumMod val="75000"/>
                  </a:schemeClr>
                </a:solidFill>
                <a:latin typeface="Oswald" pitchFamily="2" charset="0"/>
              </a:rPr>
              <a:t>O</a:t>
            </a:r>
            <a:r>
              <a:rPr lang="en-US" sz="6000" b="1" dirty="0">
                <a:solidFill>
                  <a:schemeClr val="accent3">
                    <a:lumMod val="75000"/>
                  </a:schemeClr>
                </a:solidFill>
                <a:latin typeface="Oswald" pitchFamily="2" charset="0"/>
              </a:rPr>
              <a:t>R</a:t>
            </a:r>
            <a:r>
              <a:rPr lang="en-US" sz="6000" b="1" dirty="0">
                <a:solidFill>
                  <a:schemeClr val="accent2">
                    <a:lumMod val="75000"/>
                  </a:schemeClr>
                </a:solidFill>
                <a:latin typeface="Oswald" pitchFamily="2" charset="0"/>
              </a:rPr>
              <a:t>S</a:t>
            </a:r>
            <a:endParaRPr lang="en-US" sz="6000" b="1" dirty="0">
              <a:solidFill>
                <a:srgbClr val="FF0000"/>
              </a:solidFill>
              <a:latin typeface="Oswald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136648" y="1828800"/>
            <a:ext cx="8153400" cy="4267200"/>
          </a:xfrm>
        </p:spPr>
        <p:txBody>
          <a:bodyPr/>
          <a:lstStyle/>
          <a:p>
            <a:pPr lvl="0"/>
            <a:r>
              <a:rPr lang="en-US" sz="3600" dirty="0">
                <a:latin typeface="Oswald Regular" pitchFamily="2" charset="0"/>
              </a:rPr>
              <a:t>Our brains are hard-wired to notice color.  </a:t>
            </a:r>
          </a:p>
          <a:p>
            <a:pPr lvl="0"/>
            <a:r>
              <a:rPr lang="en-US" sz="3600" dirty="0">
                <a:latin typeface="Oswald Regular" pitchFamily="2" charset="0"/>
              </a:rPr>
              <a:t>Although a person’s opinion about colors can be personal and unique, certain colors invoke specific attitudes and feelings in all of us.</a:t>
            </a:r>
          </a:p>
          <a:p>
            <a:pPr lvl="0"/>
            <a:r>
              <a:rPr lang="en-US" sz="3600" dirty="0">
                <a:latin typeface="Oswald Regular" pitchFamily="2" charset="0"/>
              </a:rPr>
              <a:t>Color can even influence us to buy things. 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6000" b="1" dirty="0">
                <a:solidFill>
                  <a:srgbClr val="FF0000"/>
                </a:solidFill>
                <a:latin typeface="Oswald" pitchFamily="2" charset="0"/>
              </a:rPr>
              <a:t>C</a:t>
            </a:r>
            <a:r>
              <a:rPr lang="en-US" sz="6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Oswald" pitchFamily="2" charset="0"/>
              </a:rPr>
              <a:t>O</a:t>
            </a:r>
            <a:r>
              <a:rPr lang="en-US" sz="6000" b="1" dirty="0">
                <a:solidFill>
                  <a:schemeClr val="accent4">
                    <a:lumMod val="75000"/>
                  </a:schemeClr>
                </a:solidFill>
                <a:latin typeface="Oswald" pitchFamily="2" charset="0"/>
              </a:rPr>
              <a:t>L</a:t>
            </a:r>
            <a:r>
              <a:rPr lang="en-US" sz="6000" b="1" dirty="0">
                <a:solidFill>
                  <a:schemeClr val="accent6">
                    <a:lumMod val="75000"/>
                  </a:schemeClr>
                </a:solidFill>
                <a:latin typeface="Oswald" pitchFamily="2" charset="0"/>
              </a:rPr>
              <a:t>O</a:t>
            </a:r>
            <a:r>
              <a:rPr lang="en-US" sz="6000" b="1" dirty="0">
                <a:solidFill>
                  <a:schemeClr val="accent3">
                    <a:lumMod val="75000"/>
                  </a:schemeClr>
                </a:solidFill>
                <a:latin typeface="Oswald" pitchFamily="2" charset="0"/>
              </a:rPr>
              <a:t>R</a:t>
            </a:r>
            <a:r>
              <a:rPr lang="en-US" sz="6000" b="1" dirty="0">
                <a:solidFill>
                  <a:schemeClr val="accent2">
                    <a:lumMod val="75000"/>
                  </a:schemeClr>
                </a:solidFill>
                <a:latin typeface="Oswald" pitchFamily="2" charset="0"/>
              </a:rPr>
              <a:t>S</a:t>
            </a:r>
            <a:endParaRPr lang="en-US" sz="6000" b="1" dirty="0">
              <a:solidFill>
                <a:srgbClr val="FF0000"/>
              </a:solidFill>
              <a:latin typeface="Oswald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136648" y="1981200"/>
            <a:ext cx="8153400" cy="4114800"/>
          </a:xfrm>
        </p:spPr>
        <p:txBody>
          <a:bodyPr>
            <a:normAutofit lnSpcReduction="10000"/>
          </a:bodyPr>
          <a:lstStyle/>
          <a:p>
            <a:pPr lvl="0" algn="ctr">
              <a:buNone/>
            </a:pPr>
            <a:r>
              <a:rPr lang="en-US" sz="4800" dirty="0">
                <a:latin typeface="Oswald Regular" pitchFamily="2" charset="0"/>
              </a:rPr>
              <a:t>HOW DOES </a:t>
            </a:r>
            <a:r>
              <a:rPr lang="en-US" sz="4800" dirty="0">
                <a:solidFill>
                  <a:schemeClr val="accent5">
                    <a:lumMod val="75000"/>
                  </a:schemeClr>
                </a:solidFill>
                <a:latin typeface="Oswald Regular" pitchFamily="2" charset="0"/>
              </a:rPr>
              <a:t>COLOR</a:t>
            </a:r>
            <a:r>
              <a:rPr lang="en-US" sz="4800" dirty="0">
                <a:latin typeface="Oswald Regular" pitchFamily="2" charset="0"/>
              </a:rPr>
              <a:t> AFFECT YOU?</a:t>
            </a:r>
          </a:p>
          <a:p>
            <a:pPr lvl="0" algn="ctr">
              <a:buNone/>
            </a:pPr>
            <a:endParaRPr lang="en-US" sz="3600" dirty="0">
              <a:latin typeface="Oswald Regular" pitchFamily="2" charset="0"/>
            </a:endParaRPr>
          </a:p>
          <a:p>
            <a:pPr lvl="0" algn="ctr">
              <a:buNone/>
            </a:pPr>
            <a:r>
              <a:rPr lang="en-US" sz="6000" dirty="0">
                <a:latin typeface="Oswald Regular" pitchFamily="2" charset="0"/>
              </a:rPr>
              <a:t>Let’s find out!  </a:t>
            </a:r>
          </a:p>
          <a:p>
            <a:pPr lvl="0" algn="ctr">
              <a:buNone/>
            </a:pPr>
            <a:r>
              <a:rPr lang="en-US" sz="3600" dirty="0">
                <a:latin typeface="Oswald Regular" pitchFamily="2" charset="0"/>
              </a:rPr>
              <a:t>Take the quiz found here:</a:t>
            </a:r>
          </a:p>
          <a:p>
            <a:pPr lvl="0" algn="ctr">
              <a:buNone/>
            </a:pPr>
            <a:r>
              <a:rPr lang="en-US" sz="2800" dirty="0">
                <a:latin typeface="Oswald Regular" pitchFamily="2" charset="0"/>
                <a:hlinkClick r:id="rId2"/>
              </a:rPr>
              <a:t>http://www.factmonster.com/quizzes/psychcolors/1.html</a:t>
            </a:r>
            <a:r>
              <a:rPr lang="en-US" sz="2800" dirty="0">
                <a:latin typeface="Oswald Regular" pitchFamily="2" charset="0"/>
              </a:rPr>
              <a:t>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686800" cy="99060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  <a:latin typeface="Oswald" pitchFamily="2" charset="0"/>
              </a:rPr>
              <a:t>The use of specific colors in marketing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136648" y="1981200"/>
            <a:ext cx="8153400" cy="4114800"/>
          </a:xfrm>
        </p:spPr>
        <p:txBody>
          <a:bodyPr/>
          <a:lstStyle/>
          <a:p>
            <a:pPr lvl="0" algn="ctr">
              <a:buNone/>
            </a:pPr>
            <a:r>
              <a:rPr lang="en-US" sz="4800" dirty="0">
                <a:latin typeface="Oswald Regular" pitchFamily="2" charset="0"/>
              </a:rPr>
              <a:t>The following slides will explain how different colors can make a person feel about specific products.</a:t>
            </a:r>
            <a:endParaRPr lang="en-US" sz="3600" dirty="0">
              <a:latin typeface="Oswald Regular" pitchFamily="2" charset="0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828800" y="1676401"/>
            <a:ext cx="4191000" cy="4485167"/>
          </a:xfrm>
        </p:spPr>
        <p:txBody>
          <a:bodyPr>
            <a:normAutofit/>
          </a:bodyPr>
          <a:lstStyle/>
          <a:p>
            <a:pPr lvl="1"/>
            <a:r>
              <a:rPr lang="en-US" sz="2800" dirty="0">
                <a:latin typeface="Oswald Regular" pitchFamily="2" charset="0"/>
              </a:rPr>
              <a:t>White can be associated with innocence, purity, peace and contentment. </a:t>
            </a:r>
          </a:p>
          <a:p>
            <a:pPr lvl="1"/>
            <a:r>
              <a:rPr lang="en-US" sz="2800" dirty="0">
                <a:latin typeface="Oswald Regular" pitchFamily="2" charset="0"/>
              </a:rPr>
              <a:t>It can also be considered clean and sterile. </a:t>
            </a:r>
          </a:p>
          <a:p>
            <a:pPr lvl="1"/>
            <a:r>
              <a:rPr lang="en-US" sz="2800" dirty="0">
                <a:latin typeface="Oswald Regular" pitchFamily="2" charset="0"/>
              </a:rPr>
              <a:t>White can have a calming, stabilizing influence on people.</a:t>
            </a:r>
          </a:p>
          <a:p>
            <a:pPr lvl="1"/>
            <a:endParaRPr lang="en-US" sz="2800" dirty="0"/>
          </a:p>
          <a:p>
            <a:pPr lvl="1"/>
            <a:endParaRPr lang="en-US" sz="2800" dirty="0"/>
          </a:p>
          <a:p>
            <a:pPr lvl="1"/>
            <a:endParaRPr lang="en-US" sz="2800" dirty="0"/>
          </a:p>
          <a:p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2"/>
          </p:nvPr>
        </p:nvSpPr>
        <p:spPr/>
        <p:txBody>
          <a:bodyPr>
            <a:normAutofit/>
          </a:bodyPr>
          <a:lstStyle/>
          <a:p>
            <a:pPr marL="320032" lvl="1" indent="-320032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US" sz="2800" dirty="0">
                <a:latin typeface="Oswald Regular" pitchFamily="2" charset="0"/>
              </a:rPr>
              <a:t>Here are examples of popular brand with white packages:</a:t>
            </a:r>
            <a:endParaRPr lang="en-US" sz="3600" dirty="0">
              <a:latin typeface="Oswald Regular" pitchFamily="2" charset="0"/>
            </a:endParaRPr>
          </a:p>
          <a:p>
            <a:pPr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311502" y="228600"/>
            <a:ext cx="2453557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914377"/>
            <a:r>
              <a:rPr lang="en-US" sz="6600" b="1" spc="51" dirty="0">
                <a:ln w="12700" cmpd="sng">
                  <a:solidFill>
                    <a:srgbClr val="4F81BD"/>
                  </a:solidFill>
                  <a:prstDash val="solid"/>
                </a:ln>
                <a:solidFill>
                  <a:srgbClr val="F79646">
                    <a:tint val="1000"/>
                  </a:srgbClr>
                </a:solidFill>
                <a:effectLst>
                  <a:glow rad="53100">
                    <a:srgbClr val="F79646">
                      <a:satMod val="180000"/>
                      <a:alpha val="30000"/>
                    </a:srgbClr>
                  </a:glow>
                </a:effectLst>
                <a:latin typeface="Oswald" pitchFamily="2" charset="0"/>
              </a:rPr>
              <a:t>WHITE</a:t>
            </a:r>
          </a:p>
        </p:txBody>
      </p:sp>
      <p:pic>
        <p:nvPicPr>
          <p:cNvPr id="6" name="Picture 5" descr="premiumcrackers.jpg"/>
          <p:cNvPicPr>
            <a:picLocks noChangeAspect="1"/>
          </p:cNvPicPr>
          <p:nvPr/>
        </p:nvPicPr>
        <p:blipFill>
          <a:blip r:embed="rId3" cstate="print"/>
          <a:srcRect l="21333" r="17333"/>
          <a:stretch>
            <a:fillRect/>
          </a:stretch>
        </p:blipFill>
        <p:spPr>
          <a:xfrm>
            <a:off x="8610600" y="3048000"/>
            <a:ext cx="1752600" cy="1905000"/>
          </a:xfrm>
          <a:prstGeom prst="rect">
            <a:avLst/>
          </a:prstGeom>
        </p:spPr>
      </p:pic>
      <p:pic>
        <p:nvPicPr>
          <p:cNvPr id="7" name="Picture 6" descr="specialK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858002" y="4876801"/>
            <a:ext cx="2847975" cy="1657351"/>
          </a:xfrm>
          <a:prstGeom prst="rect">
            <a:avLst/>
          </a:prstGeom>
        </p:spPr>
      </p:pic>
      <p:pic>
        <p:nvPicPr>
          <p:cNvPr id="8" name="Picture 7" descr="bleach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553200" y="3276601"/>
            <a:ext cx="1924051" cy="16125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828800" y="1981201"/>
            <a:ext cx="4191000" cy="4180367"/>
          </a:xfrm>
        </p:spPr>
        <p:txBody>
          <a:bodyPr>
            <a:normAutofit/>
          </a:bodyPr>
          <a:lstStyle/>
          <a:p>
            <a:pPr lvl="1"/>
            <a:r>
              <a:rPr lang="en-US" sz="3000" dirty="0">
                <a:latin typeface="Oswald Regular" pitchFamily="2" charset="0"/>
              </a:rPr>
              <a:t>HOWEVER, white can also make people think of GENERIC BRANDS, which can also make people think the item is of a lower quality.</a:t>
            </a:r>
          </a:p>
          <a:p>
            <a:pPr lvl="1"/>
            <a:endParaRPr lang="en-US" sz="2800" dirty="0"/>
          </a:p>
          <a:p>
            <a:pPr lvl="1"/>
            <a:endParaRPr lang="en-US" sz="2800" dirty="0"/>
          </a:p>
          <a:p>
            <a:pPr lvl="1"/>
            <a:endParaRPr lang="en-US" sz="2800" dirty="0"/>
          </a:p>
          <a:p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2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Oswald Regular" pitchFamily="2" charset="0"/>
              </a:rPr>
              <a:t>Examples: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311502" y="228600"/>
            <a:ext cx="2453557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914377"/>
            <a:r>
              <a:rPr lang="en-US" sz="6600" b="1" spc="51" dirty="0">
                <a:ln w="12700" cmpd="sng">
                  <a:solidFill>
                    <a:srgbClr val="4F81BD"/>
                  </a:solidFill>
                  <a:prstDash val="solid"/>
                </a:ln>
                <a:solidFill>
                  <a:srgbClr val="F79646">
                    <a:tint val="1000"/>
                  </a:srgbClr>
                </a:solidFill>
                <a:effectLst>
                  <a:glow rad="53100">
                    <a:srgbClr val="F79646">
                      <a:satMod val="180000"/>
                      <a:alpha val="30000"/>
                    </a:srgbClr>
                  </a:glow>
                </a:effectLst>
                <a:latin typeface="Oswald" pitchFamily="2" charset="0"/>
              </a:rPr>
              <a:t>WHITE</a:t>
            </a:r>
          </a:p>
        </p:txBody>
      </p:sp>
      <p:pic>
        <p:nvPicPr>
          <p:cNvPr id="15" name="Picture 14" descr="equatewhite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629400" y="2895601"/>
            <a:ext cx="1076325" cy="1915116"/>
          </a:xfrm>
          <a:prstGeom prst="rect">
            <a:avLst/>
          </a:prstGeom>
        </p:spPr>
      </p:pic>
      <p:pic>
        <p:nvPicPr>
          <p:cNvPr id="16" name="Picture 15" descr="greatvalue1.jpg"/>
          <p:cNvPicPr>
            <a:picLocks noChangeAspect="1"/>
          </p:cNvPicPr>
          <p:nvPr/>
        </p:nvPicPr>
        <p:blipFill>
          <a:blip r:embed="rId6" cstate="print"/>
          <a:srcRect l="26667"/>
          <a:stretch>
            <a:fillRect/>
          </a:stretch>
        </p:blipFill>
        <p:spPr>
          <a:xfrm>
            <a:off x="7848600" y="4267201"/>
            <a:ext cx="1981200" cy="2026227"/>
          </a:xfrm>
          <a:prstGeom prst="rect">
            <a:avLst/>
          </a:prstGeom>
        </p:spPr>
      </p:pic>
      <p:pic>
        <p:nvPicPr>
          <p:cNvPr id="18" name="Picture 17" descr="greatvalue3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8077201" y="2590801"/>
            <a:ext cx="1514475" cy="1514475"/>
          </a:xfrm>
          <a:prstGeom prst="rect">
            <a:avLst/>
          </a:prstGeom>
        </p:spPr>
      </p:pic>
      <p:grpSp>
        <p:nvGrpSpPr>
          <p:cNvPr id="6" name="SMARTInkShape-Group1">
            <a:extLst>
              <a:ext uri="{FF2B5EF4-FFF2-40B4-BE49-F238E27FC236}">
                <a16:creationId xmlns:a16="http://schemas.microsoft.com/office/drawing/2014/main" id="{6AF29E0C-2813-13D7-2125-1897C69ECA8F}"/>
              </a:ext>
            </a:extLst>
          </p:cNvPr>
          <p:cNvGrpSpPr/>
          <p:nvPr/>
        </p:nvGrpSpPr>
        <p:grpSpPr>
          <a:xfrm>
            <a:off x="11141273" y="5488781"/>
            <a:ext cx="176891" cy="101192"/>
            <a:chOff x="11141273" y="5488781"/>
            <a:chExt cx="176891" cy="101192"/>
          </a:xfrm>
        </p:grpSpPr>
        <p:sp>
          <p:nvSpPr>
            <p:cNvPr id="2" name="SMARTInkShape-1">
              <a:extLst>
                <a:ext uri="{FF2B5EF4-FFF2-40B4-BE49-F238E27FC236}">
                  <a16:creationId xmlns:a16="http://schemas.microsoft.com/office/drawing/2014/main" id="{7C87004C-F8F3-D447-C22F-062A44F8FC28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1141273" y="5560219"/>
              <a:ext cx="53580" cy="29754"/>
            </a:xfrm>
            <a:custGeom>
              <a:avLst/>
              <a:gdLst/>
              <a:ahLst/>
              <a:cxnLst/>
              <a:rect l="0" t="0" r="0" b="0"/>
              <a:pathLst>
                <a:path w="53580" h="29754">
                  <a:moveTo>
                    <a:pt x="53579" y="11906"/>
                  </a:moveTo>
                  <a:lnTo>
                    <a:pt x="53579" y="11906"/>
                  </a:lnTo>
                  <a:lnTo>
                    <a:pt x="41685" y="17853"/>
                  </a:lnTo>
                  <a:lnTo>
                    <a:pt x="35725" y="29753"/>
                  </a:lnTo>
                  <a:lnTo>
                    <a:pt x="35721" y="23441"/>
                  </a:lnTo>
                  <a:lnTo>
                    <a:pt x="34398" y="21581"/>
                  </a:lnTo>
                  <a:lnTo>
                    <a:pt x="32192" y="20340"/>
                  </a:lnTo>
                  <a:lnTo>
                    <a:pt x="24303" y="18004"/>
                  </a:lnTo>
                  <a:lnTo>
                    <a:pt x="6105" y="17859"/>
                  </a:lnTo>
                  <a:lnTo>
                    <a:pt x="5957" y="12151"/>
                  </a:lnTo>
                  <a:lnTo>
                    <a:pt x="828" y="11928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SMARTInkShape-2">
              <a:extLst>
                <a:ext uri="{FF2B5EF4-FFF2-40B4-BE49-F238E27FC236}">
                  <a16:creationId xmlns:a16="http://schemas.microsoft.com/office/drawing/2014/main" id="{3A80FF30-E9A8-ADF3-D95F-94306E7B6A1F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1200805" y="5488781"/>
              <a:ext cx="117359" cy="71396"/>
            </a:xfrm>
            <a:custGeom>
              <a:avLst/>
              <a:gdLst/>
              <a:ahLst/>
              <a:cxnLst/>
              <a:rect l="0" t="0" r="0" b="0"/>
              <a:pathLst>
                <a:path w="117359" h="71396">
                  <a:moveTo>
                    <a:pt x="0" y="0"/>
                  </a:moveTo>
                  <a:lnTo>
                    <a:pt x="0" y="0"/>
                  </a:lnTo>
                  <a:lnTo>
                    <a:pt x="14258" y="10829"/>
                  </a:lnTo>
                  <a:lnTo>
                    <a:pt x="56013" y="46782"/>
                  </a:lnTo>
                  <a:lnTo>
                    <a:pt x="88833" y="65921"/>
                  </a:lnTo>
                  <a:lnTo>
                    <a:pt x="106589" y="71294"/>
                  </a:lnTo>
                  <a:lnTo>
                    <a:pt x="113308" y="71395"/>
                  </a:lnTo>
                  <a:lnTo>
                    <a:pt x="115227" y="70748"/>
                  </a:lnTo>
                  <a:lnTo>
                    <a:pt x="116505" y="69655"/>
                  </a:lnTo>
                  <a:lnTo>
                    <a:pt x="117358" y="68265"/>
                  </a:lnTo>
                  <a:lnTo>
                    <a:pt x="116603" y="67338"/>
                  </a:lnTo>
                  <a:lnTo>
                    <a:pt x="112236" y="66309"/>
                  </a:lnTo>
                  <a:lnTo>
                    <a:pt x="110543" y="64711"/>
                  </a:lnTo>
                  <a:lnTo>
                    <a:pt x="106792" y="54068"/>
                  </a:lnTo>
                  <a:lnTo>
                    <a:pt x="91893" y="36567"/>
                  </a:lnTo>
                  <a:lnTo>
                    <a:pt x="91027" y="34300"/>
                  </a:lnTo>
                  <a:lnTo>
                    <a:pt x="88466" y="32789"/>
                  </a:lnTo>
                  <a:lnTo>
                    <a:pt x="76704" y="29338"/>
                  </a:lnTo>
                  <a:lnTo>
                    <a:pt x="67779" y="21849"/>
                  </a:lnTo>
                  <a:lnTo>
                    <a:pt x="57712" y="19041"/>
                  </a:lnTo>
                  <a:lnTo>
                    <a:pt x="52548" y="18385"/>
                  </a:lnTo>
                  <a:lnTo>
                    <a:pt x="46285" y="21621"/>
                  </a:lnTo>
                  <a:lnTo>
                    <a:pt x="42763" y="24336"/>
                  </a:lnTo>
                  <a:lnTo>
                    <a:pt x="41738" y="26146"/>
                  </a:lnTo>
                  <a:lnTo>
                    <a:pt x="42377" y="27353"/>
                  </a:lnTo>
                  <a:lnTo>
                    <a:pt x="47533" y="29724"/>
                  </a:lnTo>
                  <a:lnTo>
                    <a:pt x="35718" y="29766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SMARTInkShape-3">
            <a:extLst>
              <a:ext uri="{FF2B5EF4-FFF2-40B4-BE49-F238E27FC236}">
                <a16:creationId xmlns:a16="http://schemas.microsoft.com/office/drawing/2014/main" id="{BDCFBC89-EB1A-701E-15C3-F6463ED5CD0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0337602" y="5447109"/>
            <a:ext cx="160735" cy="53536"/>
          </a:xfrm>
          <a:custGeom>
            <a:avLst/>
            <a:gdLst/>
            <a:ahLst/>
            <a:cxnLst/>
            <a:rect l="0" t="0" r="0" b="0"/>
            <a:pathLst>
              <a:path w="160735" h="53536">
                <a:moveTo>
                  <a:pt x="160734" y="35719"/>
                </a:moveTo>
                <a:lnTo>
                  <a:pt x="160734" y="35719"/>
                </a:lnTo>
                <a:lnTo>
                  <a:pt x="120748" y="41427"/>
                </a:lnTo>
                <a:lnTo>
                  <a:pt x="118202" y="42832"/>
                </a:lnTo>
                <a:lnTo>
                  <a:pt x="116504" y="45091"/>
                </a:lnTo>
                <a:lnTo>
                  <a:pt x="115372" y="47920"/>
                </a:lnTo>
                <a:lnTo>
                  <a:pt x="113956" y="49806"/>
                </a:lnTo>
                <a:lnTo>
                  <a:pt x="108182" y="53082"/>
                </a:lnTo>
                <a:lnTo>
                  <a:pt x="96995" y="53535"/>
                </a:lnTo>
                <a:lnTo>
                  <a:pt x="96413" y="52227"/>
                </a:lnTo>
                <a:lnTo>
                  <a:pt x="95767" y="47245"/>
                </a:lnTo>
                <a:lnTo>
                  <a:pt x="94933" y="45387"/>
                </a:lnTo>
                <a:lnTo>
                  <a:pt x="93716" y="44149"/>
                </a:lnTo>
                <a:lnTo>
                  <a:pt x="89555" y="41817"/>
                </a:lnTo>
                <a:lnTo>
                  <a:pt x="61259" y="41672"/>
                </a:lnTo>
                <a:lnTo>
                  <a:pt x="56882" y="38512"/>
                </a:lnTo>
                <a:lnTo>
                  <a:pt x="55047" y="33432"/>
                </a:lnTo>
                <a:lnTo>
                  <a:pt x="53664" y="21215"/>
                </a:lnTo>
                <a:lnTo>
                  <a:pt x="52312" y="20097"/>
                </a:lnTo>
                <a:lnTo>
                  <a:pt x="47283" y="18854"/>
                </a:lnTo>
                <a:lnTo>
                  <a:pt x="45412" y="19184"/>
                </a:lnTo>
                <a:lnTo>
                  <a:pt x="44165" y="20065"/>
                </a:lnTo>
                <a:lnTo>
                  <a:pt x="43334" y="21315"/>
                </a:lnTo>
                <a:lnTo>
                  <a:pt x="42119" y="21486"/>
                </a:lnTo>
                <a:lnTo>
                  <a:pt x="33650" y="18772"/>
                </a:lnTo>
                <a:lnTo>
                  <a:pt x="19262" y="17913"/>
                </a:lnTo>
                <a:lnTo>
                  <a:pt x="5957" y="23811"/>
                </a:lnTo>
                <a:lnTo>
                  <a:pt x="5953" y="11552"/>
                </a:lnTo>
                <a:lnTo>
                  <a:pt x="5953" y="14174"/>
                </a:lnTo>
                <a:lnTo>
                  <a:pt x="5291" y="15403"/>
                </a:lnTo>
                <a:lnTo>
                  <a:pt x="4189" y="16222"/>
                </a:lnTo>
                <a:lnTo>
                  <a:pt x="0" y="17860"/>
                </a:ln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676400" y="1589568"/>
            <a:ext cx="4343400" cy="4811233"/>
          </a:xfrm>
        </p:spPr>
        <p:txBody>
          <a:bodyPr>
            <a:normAutofit fontScale="92500"/>
          </a:bodyPr>
          <a:lstStyle/>
          <a:p>
            <a:pPr lvl="1"/>
            <a:r>
              <a:rPr lang="en-US" sz="2800" dirty="0">
                <a:latin typeface="Oswald Regular" pitchFamily="2" charset="0"/>
              </a:rPr>
              <a:t>Black is the ultimate power color - it suggests strength, potency, authority, boldness, seriousness, stability and elegance. </a:t>
            </a:r>
          </a:p>
          <a:p>
            <a:pPr lvl="1"/>
            <a:r>
              <a:rPr lang="en-US" sz="2800" dirty="0">
                <a:latin typeface="Oswald Regular" pitchFamily="2" charset="0"/>
              </a:rPr>
              <a:t>It’s distinguished and classic, great for creating drama. </a:t>
            </a:r>
          </a:p>
          <a:p>
            <a:pPr lvl="1"/>
            <a:r>
              <a:rPr lang="en-US" sz="2800" dirty="0">
                <a:latin typeface="Oswald Regular" pitchFamily="2" charset="0"/>
              </a:rPr>
              <a:t>However, black has more weight than other colors. Too much can seem dark and dreary. </a:t>
            </a:r>
            <a:endParaRPr lang="en-US" sz="3600" dirty="0">
              <a:latin typeface="Oswald Regular" pitchFamily="2" charset="0"/>
            </a:endParaRPr>
          </a:p>
          <a:p>
            <a:endParaRPr lang="en-US" dirty="0">
              <a:latin typeface="Oswald Regular" pitchFamily="2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2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latin typeface="Oswald Regular" pitchFamily="2" charset="0"/>
              </a:rPr>
              <a:t>Examples: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046737" y="228600"/>
            <a:ext cx="2610010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914377"/>
            <a:r>
              <a:rPr lang="en-US" sz="66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Oswald" pitchFamily="2" charset="0"/>
              </a:rPr>
              <a:t>BLACK</a:t>
            </a:r>
          </a:p>
        </p:txBody>
      </p:sp>
      <p:pic>
        <p:nvPicPr>
          <p:cNvPr id="9" name="Picture 8" descr="5gum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34202" y="4191000"/>
            <a:ext cx="2847975" cy="2133600"/>
          </a:xfrm>
          <a:prstGeom prst="rect">
            <a:avLst/>
          </a:prstGeom>
        </p:spPr>
      </p:pic>
      <p:pic>
        <p:nvPicPr>
          <p:cNvPr id="10" name="Picture 9" descr="monster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391402" y="2133602"/>
            <a:ext cx="1704975" cy="17049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en-US" sz="2800" dirty="0">
                <a:latin typeface="Oswald Regular" pitchFamily="2" charset="0"/>
              </a:rPr>
              <a:t>Gray can be associated with conservative qualities and considered traditional. </a:t>
            </a:r>
          </a:p>
          <a:p>
            <a:pPr lvl="1"/>
            <a:r>
              <a:rPr lang="en-US" sz="2800" dirty="0">
                <a:latin typeface="Oswald Regular" pitchFamily="2" charset="0"/>
              </a:rPr>
              <a:t>Business-wise, it symbolizes high tech and suggests authority, practicality, and creativity. </a:t>
            </a:r>
          </a:p>
          <a:p>
            <a:pPr lvl="1"/>
            <a:r>
              <a:rPr lang="en-US" sz="2800" dirty="0">
                <a:latin typeface="Oswald Regular" pitchFamily="2" charset="0"/>
              </a:rPr>
              <a:t>Examples:</a:t>
            </a:r>
          </a:p>
          <a:p>
            <a:pPr lvl="1">
              <a:buNone/>
            </a:pPr>
            <a:endParaRPr lang="en-US" sz="3600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032036" y="304801"/>
            <a:ext cx="5558573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914377"/>
            <a:r>
              <a:rPr lang="en-US" sz="6000" b="1" spc="51" dirty="0">
                <a:ln w="13500">
                  <a:solidFill>
                    <a:prstClr val="white">
                      <a:lumMod val="85000"/>
                      <a:alpha val="6500"/>
                    </a:prstClr>
                  </a:solidFill>
                  <a:prstDash val="solid"/>
                </a:ln>
                <a:solidFill>
                  <a:prstClr val="white">
                    <a:lumMod val="65000"/>
                  </a:prst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  <a:latin typeface="Oswald" pitchFamily="2" charset="0"/>
              </a:rPr>
              <a:t>GRAY OR SILVER</a:t>
            </a:r>
          </a:p>
        </p:txBody>
      </p:sp>
      <p:pic>
        <p:nvPicPr>
          <p:cNvPr id="6" name="Picture 5" descr="grey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62201" y="4191001"/>
            <a:ext cx="1885951" cy="1885951"/>
          </a:xfrm>
          <a:prstGeom prst="rect">
            <a:avLst/>
          </a:prstGeom>
        </p:spPr>
      </p:pic>
      <p:pic>
        <p:nvPicPr>
          <p:cNvPr id="8" name="Picture 7" descr="silver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724401" y="4191001"/>
            <a:ext cx="2800351" cy="1866900"/>
          </a:xfrm>
          <a:prstGeom prst="rect">
            <a:avLst/>
          </a:prstGeom>
        </p:spPr>
      </p:pic>
      <p:pic>
        <p:nvPicPr>
          <p:cNvPr id="9" name="Picture 8" descr="silver2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924801" y="4419600"/>
            <a:ext cx="1809751" cy="150209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8308848" cy="4495800"/>
          </a:xfrm>
        </p:spPr>
        <p:txBody>
          <a:bodyPr/>
          <a:lstStyle/>
          <a:p>
            <a:pPr lvl="1"/>
            <a:r>
              <a:rPr lang="en-US" sz="3000" dirty="0">
                <a:latin typeface="Oswald Regular" pitchFamily="2" charset="0"/>
              </a:rPr>
              <a:t>Gold suggests wealth and luxury</a:t>
            </a:r>
          </a:p>
          <a:p>
            <a:pPr lvl="1"/>
            <a:r>
              <a:rPr lang="en-US" sz="3000" dirty="0">
                <a:latin typeface="Oswald Regular" pitchFamily="2" charset="0"/>
              </a:rPr>
              <a:t>Gold products want to convey the message that they are very classy. </a:t>
            </a:r>
          </a:p>
          <a:p>
            <a:pPr lvl="1"/>
            <a:r>
              <a:rPr lang="en-US" sz="3000" dirty="0">
                <a:latin typeface="Oswald Regular" pitchFamily="2" charset="0"/>
              </a:rPr>
              <a:t> They also want to give the message that they are high quality.</a:t>
            </a:r>
          </a:p>
          <a:p>
            <a:pPr lvl="1"/>
            <a:r>
              <a:rPr lang="en-US" sz="3000" dirty="0">
                <a:latin typeface="Oswald Regular" pitchFamily="2" charset="0"/>
              </a:rPr>
              <a:t>Examples:</a:t>
            </a:r>
          </a:p>
          <a:p>
            <a:pPr lvl="1">
              <a:buNone/>
            </a:pPr>
            <a:endParaRPr lang="en-US" sz="3000" dirty="0"/>
          </a:p>
          <a:p>
            <a:pPr lvl="1">
              <a:buNone/>
            </a:pPr>
            <a:endParaRPr lang="en-US" sz="3000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221138" y="228600"/>
            <a:ext cx="2190022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 defTabSz="914377"/>
            <a:r>
              <a:rPr lang="en-US" sz="66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CCCC00"/>
                </a:solidFill>
                <a:latin typeface="Oswald" pitchFamily="2" charset="0"/>
              </a:rPr>
              <a:t>GOLD</a:t>
            </a:r>
          </a:p>
        </p:txBody>
      </p:sp>
      <p:pic>
        <p:nvPicPr>
          <p:cNvPr id="7" name="Picture 6" descr="Haribogold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620000" y="4267200"/>
            <a:ext cx="2143125" cy="2143125"/>
          </a:xfrm>
          <a:prstGeom prst="rect">
            <a:avLst/>
          </a:prstGeom>
        </p:spPr>
      </p:pic>
      <p:pic>
        <p:nvPicPr>
          <p:cNvPr id="8" name="Picture 7" descr="lancome gold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410200" y="4495800"/>
            <a:ext cx="2057400" cy="2057400"/>
          </a:xfrm>
          <a:prstGeom prst="rect">
            <a:avLst/>
          </a:prstGeom>
        </p:spPr>
      </p:pic>
      <p:pic>
        <p:nvPicPr>
          <p:cNvPr id="9" name="Picture 8" descr="ferrero-rocher-gold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667000" y="4724400"/>
            <a:ext cx="2235200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52600" y="1752601"/>
            <a:ext cx="4419600" cy="4408967"/>
          </a:xfrm>
        </p:spPr>
        <p:txBody>
          <a:bodyPr>
            <a:normAutofit/>
          </a:bodyPr>
          <a:lstStyle/>
          <a:p>
            <a:pPr lvl="1"/>
            <a:r>
              <a:rPr lang="en-US" sz="2800" dirty="0">
                <a:latin typeface="Oswald Regular" pitchFamily="2" charset="0"/>
              </a:rPr>
              <a:t>Blue is the favorite color of many businesses. </a:t>
            </a:r>
          </a:p>
          <a:p>
            <a:pPr lvl="1"/>
            <a:r>
              <a:rPr lang="en-US" sz="2800" dirty="0">
                <a:latin typeface="Oswald Regular" pitchFamily="2" charset="0"/>
              </a:rPr>
              <a:t>Blue suggests wholesomeness and fiscal responsibility. It can also inspire confidence. </a:t>
            </a:r>
          </a:p>
          <a:p>
            <a:pPr lvl="1"/>
            <a:r>
              <a:rPr lang="en-US" sz="2800" dirty="0">
                <a:latin typeface="Oswald Regular" pitchFamily="2" charset="0"/>
              </a:rPr>
              <a:t>Blue is the most popular color and second most powerful color. </a:t>
            </a:r>
          </a:p>
          <a:p>
            <a:endParaRPr lang="en-US" dirty="0">
              <a:latin typeface="Oswald Regular" pitchFamily="2" charset="0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324600" y="2133600"/>
            <a:ext cx="3886200" cy="4343400"/>
          </a:xfrm>
        </p:spPr>
        <p:txBody>
          <a:bodyPr>
            <a:normAutofit/>
          </a:bodyPr>
          <a:lstStyle/>
          <a:p>
            <a:pPr lvl="1"/>
            <a:r>
              <a:rPr lang="en-US" sz="2400" dirty="0">
                <a:latin typeface="Oswald Regular" pitchFamily="2" charset="0"/>
              </a:rPr>
              <a:t>Darker shades are authoritative. </a:t>
            </a:r>
          </a:p>
          <a:p>
            <a:pPr lvl="1"/>
            <a:r>
              <a:rPr lang="en-US" sz="2400" dirty="0">
                <a:latin typeface="Oswald Regular" pitchFamily="2" charset="0"/>
              </a:rPr>
              <a:t>Dark and bright blues represent trust, security, faithfulness and dignity. </a:t>
            </a:r>
          </a:p>
          <a:p>
            <a:pPr lvl="1"/>
            <a:r>
              <a:rPr lang="en-US" sz="2400" dirty="0">
                <a:latin typeface="Oswald Regular" pitchFamily="2" charset="0"/>
              </a:rPr>
              <a:t>Paler shades can imply freshness and cleanliness, although they can imply weakness too. 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286001" y="152401"/>
            <a:ext cx="2062095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914377"/>
            <a:r>
              <a:rPr lang="en-US" sz="6600" b="1" dirty="0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4F81BD">
                        <a:tint val="40000"/>
                        <a:satMod val="250000"/>
                      </a:srgbClr>
                    </a:gs>
                    <a:gs pos="9000">
                      <a:srgbClr val="4F81BD">
                        <a:tint val="52000"/>
                        <a:satMod val="300000"/>
                      </a:srgbClr>
                    </a:gs>
                    <a:gs pos="50000">
                      <a:srgbClr val="4F81BD">
                        <a:shade val="20000"/>
                        <a:satMod val="300000"/>
                      </a:srgbClr>
                    </a:gs>
                    <a:gs pos="79000">
                      <a:srgbClr val="4F81BD">
                        <a:tint val="52000"/>
                        <a:satMod val="300000"/>
                      </a:srgbClr>
                    </a:gs>
                    <a:gs pos="100000">
                      <a:srgbClr val="4F81BD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latin typeface="Oswald" pitchFamily="2" charset="0"/>
              </a:rPr>
              <a:t>BLUE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136648" y="1828800"/>
            <a:ext cx="8153400" cy="4267200"/>
          </a:xfrm>
        </p:spPr>
        <p:txBody>
          <a:bodyPr>
            <a:normAutofit/>
          </a:bodyPr>
          <a:lstStyle/>
          <a:p>
            <a:pPr lvl="1"/>
            <a:r>
              <a:rPr lang="en-US" sz="3000" dirty="0">
                <a:latin typeface="Oswald Regular" pitchFamily="2" charset="0"/>
              </a:rPr>
              <a:t>Popular brands marketed in blue include: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128906" y="228601"/>
            <a:ext cx="2138295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914377"/>
            <a:r>
              <a:rPr lang="en-US" sz="6600" b="1" dirty="0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4F81BD">
                        <a:tint val="40000"/>
                        <a:satMod val="250000"/>
                      </a:srgbClr>
                    </a:gs>
                    <a:gs pos="9000">
                      <a:srgbClr val="4F81BD">
                        <a:tint val="52000"/>
                        <a:satMod val="300000"/>
                      </a:srgbClr>
                    </a:gs>
                    <a:gs pos="50000">
                      <a:srgbClr val="4F81BD">
                        <a:shade val="20000"/>
                        <a:satMod val="300000"/>
                      </a:srgbClr>
                    </a:gs>
                    <a:gs pos="79000">
                      <a:srgbClr val="4F81BD">
                        <a:tint val="52000"/>
                        <a:satMod val="300000"/>
                      </a:srgbClr>
                    </a:gs>
                    <a:gs pos="100000">
                      <a:srgbClr val="4F81BD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latin typeface="Oswald" pitchFamily="2" charset="0"/>
              </a:rPr>
              <a:t>BLUE</a:t>
            </a:r>
          </a:p>
        </p:txBody>
      </p:sp>
      <p:pic>
        <p:nvPicPr>
          <p:cNvPr id="8" name="Picture 7" descr="ortega-taco-shell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105400" y="4419600"/>
            <a:ext cx="1924051" cy="1924051"/>
          </a:xfrm>
          <a:prstGeom prst="rect">
            <a:avLst/>
          </a:prstGeom>
        </p:spPr>
      </p:pic>
      <p:pic>
        <p:nvPicPr>
          <p:cNvPr id="9" name="Picture 8" descr="pepsi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86001" y="4648200"/>
            <a:ext cx="2206451" cy="1295400"/>
          </a:xfrm>
          <a:prstGeom prst="rect">
            <a:avLst/>
          </a:prstGeom>
        </p:spPr>
      </p:pic>
      <p:pic>
        <p:nvPicPr>
          <p:cNvPr id="12" name="Picture 11" descr="200px-Frosted-flakes.cbx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543800" y="2743201"/>
            <a:ext cx="2224720" cy="3181351"/>
          </a:xfrm>
          <a:prstGeom prst="rect">
            <a:avLst/>
          </a:prstGeom>
        </p:spPr>
      </p:pic>
      <p:pic>
        <p:nvPicPr>
          <p:cNvPr id="14" name="Picture 13" descr="crest.png"/>
          <p:cNvPicPr>
            <a:picLocks noChangeAspect="1"/>
          </p:cNvPicPr>
          <p:nvPr/>
        </p:nvPicPr>
        <p:blipFill>
          <a:blip r:embed="rId5" cstate="print"/>
          <a:srcRect r="26000"/>
          <a:stretch>
            <a:fillRect/>
          </a:stretch>
        </p:blipFill>
        <p:spPr>
          <a:xfrm>
            <a:off x="3429000" y="2438401"/>
            <a:ext cx="2819400" cy="1943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905000" y="1752601"/>
            <a:ext cx="4191000" cy="4876801"/>
          </a:xfrm>
        </p:spPr>
        <p:txBody>
          <a:bodyPr>
            <a:normAutofit fontScale="92500" lnSpcReduction="10000"/>
          </a:bodyPr>
          <a:lstStyle/>
          <a:p>
            <a:pPr lvl="1"/>
            <a:r>
              <a:rPr lang="en-US" sz="2800" dirty="0">
                <a:latin typeface="Oswald Regular" pitchFamily="2" charset="0"/>
              </a:rPr>
              <a:t>Red commands attention, alerts us and creates a sense of urgency. It’s considered the most passionate of all colors. </a:t>
            </a:r>
          </a:p>
          <a:p>
            <a:pPr lvl="1">
              <a:buNone/>
            </a:pPr>
            <a:endParaRPr lang="en-US" sz="2800" dirty="0">
              <a:latin typeface="Oswald Regular" pitchFamily="2" charset="0"/>
            </a:endParaRPr>
          </a:p>
          <a:p>
            <a:pPr lvl="1"/>
            <a:r>
              <a:rPr lang="en-US" sz="2800" dirty="0">
                <a:latin typeface="Oswald Regular" pitchFamily="2" charset="0"/>
              </a:rPr>
              <a:t>Red symbolizes heat, fire, blood, love, warmth, power, excitement, energy, strength, passion, vitality, risk, danger and aggressiveness. </a:t>
            </a:r>
            <a:endParaRPr lang="en-US" sz="3600" dirty="0">
              <a:latin typeface="Oswald Regular" pitchFamily="2" charset="0"/>
            </a:endParaRPr>
          </a:p>
          <a:p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2"/>
          </p:nvPr>
        </p:nvSpPr>
        <p:spPr/>
        <p:txBody>
          <a:bodyPr>
            <a:normAutofit fontScale="92500" lnSpcReduction="10000"/>
          </a:bodyPr>
          <a:lstStyle/>
          <a:p>
            <a:pPr marL="320032" lvl="1" indent="-320032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US" sz="2800" dirty="0">
                <a:latin typeface="Oswald Regular" pitchFamily="2" charset="0"/>
              </a:rPr>
              <a:t>Red has been known to stimulate the appetite.</a:t>
            </a:r>
          </a:p>
          <a:p>
            <a:r>
              <a:rPr lang="en-US" dirty="0">
                <a:latin typeface="Oswald Regular" pitchFamily="2" charset="0"/>
              </a:rPr>
              <a:t>Popular examples:</a:t>
            </a:r>
          </a:p>
        </p:txBody>
      </p:sp>
      <p:sp>
        <p:nvSpPr>
          <p:cNvPr id="4" name="Rectangle 3"/>
          <p:cNvSpPr/>
          <p:nvPr/>
        </p:nvSpPr>
        <p:spPr>
          <a:xfrm>
            <a:off x="2438401" y="228601"/>
            <a:ext cx="1766259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defTabSz="914377"/>
            <a:r>
              <a:rPr lang="en-US" sz="6600" b="1" dirty="0">
                <a:ln w="11430"/>
                <a:solidFill>
                  <a:srgbClr val="C0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Oswald" pitchFamily="2" charset="0"/>
              </a:rPr>
              <a:t>RED</a:t>
            </a:r>
          </a:p>
        </p:txBody>
      </p:sp>
      <p:pic>
        <p:nvPicPr>
          <p:cNvPr id="14" name="Picture 13" descr="coke.jpg"/>
          <p:cNvPicPr>
            <a:picLocks noChangeAspect="1"/>
          </p:cNvPicPr>
          <p:nvPr/>
        </p:nvPicPr>
        <p:blipFill>
          <a:blip r:embed="rId2" cstate="print"/>
          <a:srcRect l="14458" r="18072"/>
          <a:stretch>
            <a:fillRect/>
          </a:stretch>
        </p:blipFill>
        <p:spPr>
          <a:xfrm>
            <a:off x="9372601" y="4876800"/>
            <a:ext cx="1028241" cy="1524000"/>
          </a:xfrm>
          <a:prstGeom prst="rect">
            <a:avLst/>
          </a:prstGeom>
        </p:spPr>
      </p:pic>
      <p:pic>
        <p:nvPicPr>
          <p:cNvPr id="15" name="Picture 14" descr="Duncan-194x200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924800" y="5105400"/>
            <a:ext cx="1552195" cy="1600200"/>
          </a:xfrm>
          <a:prstGeom prst="rect">
            <a:avLst/>
          </a:prstGeom>
        </p:spPr>
      </p:pic>
      <p:pic>
        <p:nvPicPr>
          <p:cNvPr id="16" name="Picture 15" descr="pringles.jpg"/>
          <p:cNvPicPr>
            <a:picLocks noChangeAspect="1"/>
          </p:cNvPicPr>
          <p:nvPr/>
        </p:nvPicPr>
        <p:blipFill>
          <a:blip r:embed="rId4" cstate="print"/>
          <a:srcRect r="50000"/>
          <a:stretch>
            <a:fillRect/>
          </a:stretch>
        </p:blipFill>
        <p:spPr>
          <a:xfrm>
            <a:off x="6858001" y="3124201"/>
            <a:ext cx="619881" cy="1562100"/>
          </a:xfrm>
          <a:prstGeom prst="rect">
            <a:avLst/>
          </a:prstGeom>
        </p:spPr>
      </p:pic>
      <p:pic>
        <p:nvPicPr>
          <p:cNvPr id="17" name="Picture 16" descr="ritz-crackers-169158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400800" y="4800600"/>
            <a:ext cx="1620253" cy="1620253"/>
          </a:xfrm>
          <a:prstGeom prst="rect">
            <a:avLst/>
          </a:prstGeom>
        </p:spPr>
      </p:pic>
      <p:pic>
        <p:nvPicPr>
          <p:cNvPr id="18" name="Picture 17" descr="mcd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001000" y="3124201"/>
            <a:ext cx="2002643" cy="15954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800" decel="100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8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981200" y="1648645"/>
            <a:ext cx="8308848" cy="4495800"/>
          </a:xfrm>
        </p:spPr>
        <p:txBody>
          <a:bodyPr/>
          <a:lstStyle/>
          <a:p>
            <a:pPr lvl="1"/>
            <a:r>
              <a:rPr lang="en-US" sz="2800" dirty="0">
                <a:latin typeface="Oswald Regular" pitchFamily="2" charset="0"/>
              </a:rPr>
              <a:t>Yellow is the sunshine color. Yellow represents a warning, but it can also bring happiness and warmth. </a:t>
            </a:r>
          </a:p>
          <a:p>
            <a:pPr lvl="1"/>
            <a:r>
              <a:rPr lang="en-US" sz="2800" dirty="0">
                <a:latin typeface="Oswald Regular" pitchFamily="2" charset="0"/>
              </a:rPr>
              <a:t>The most preferred yellows are the creamy and warm ones. Bright yellow can be irritable to the eye in large quantities. </a:t>
            </a:r>
          </a:p>
          <a:p>
            <a:pPr lvl="1"/>
            <a:r>
              <a:rPr lang="en-US" sz="2800" dirty="0">
                <a:latin typeface="Oswald Regular" pitchFamily="2" charset="0"/>
              </a:rPr>
              <a:t>Yellow speeds metabolism. Many snack food packages are yellow.  Examples include:</a:t>
            </a:r>
            <a:endParaRPr lang="en-US" sz="3600" dirty="0">
              <a:latin typeface="Oswald Regular" pitchFamily="2" charset="0"/>
            </a:endParaRPr>
          </a:p>
          <a:p>
            <a:r>
              <a:rPr lang="en-US" dirty="0"/>
              <a:t>O</a:t>
            </a:r>
          </a:p>
        </p:txBody>
      </p:sp>
      <p:sp>
        <p:nvSpPr>
          <p:cNvPr id="4" name="Rectangle 3"/>
          <p:cNvSpPr/>
          <p:nvPr/>
        </p:nvSpPr>
        <p:spPr>
          <a:xfrm>
            <a:off x="2200665" y="228601"/>
            <a:ext cx="3666737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US" sz="6000" b="1" dirty="0">
                <a:ln>
                  <a:solidFill>
                    <a:prstClr val="black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88000" dist="50800" dir="5040000" algn="tl">
                    <a:srgbClr val="8064A2">
                      <a:tint val="80000"/>
                      <a:satMod val="250000"/>
                      <a:alpha val="45000"/>
                    </a:srgbClr>
                  </a:outerShdw>
                </a:effectLst>
                <a:latin typeface="Oswald" pitchFamily="2" charset="0"/>
              </a:rPr>
              <a:t>YELLOW</a:t>
            </a:r>
          </a:p>
        </p:txBody>
      </p:sp>
      <p:pic>
        <p:nvPicPr>
          <p:cNvPr id="8" name="Picture 7" descr="Wiki_cheerio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05800" y="4495800"/>
            <a:ext cx="1828800" cy="2063496"/>
          </a:xfrm>
          <a:prstGeom prst="rect">
            <a:avLst/>
          </a:prstGeom>
        </p:spPr>
      </p:pic>
      <p:pic>
        <p:nvPicPr>
          <p:cNvPr id="9" name="Picture 8" descr="starburst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248401" y="4724402"/>
            <a:ext cx="1885951" cy="1414463"/>
          </a:xfrm>
          <a:prstGeom prst="rect">
            <a:avLst/>
          </a:prstGeom>
        </p:spPr>
      </p:pic>
      <p:pic>
        <p:nvPicPr>
          <p:cNvPr id="10" name="Picture 9" descr="lays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267200" y="4876800"/>
            <a:ext cx="1762125" cy="1762125"/>
          </a:xfrm>
          <a:prstGeom prst="rect">
            <a:avLst/>
          </a:prstGeom>
        </p:spPr>
      </p:pic>
      <p:pic>
        <p:nvPicPr>
          <p:cNvPr id="11" name="Picture 10" descr="Candy-Peanut-MMs-Wrapper-Small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133601" y="5029201"/>
            <a:ext cx="1812324" cy="838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52600" y="1589568"/>
            <a:ext cx="4267200" cy="4811233"/>
          </a:xfrm>
        </p:spPr>
        <p:txBody>
          <a:bodyPr>
            <a:normAutofit fontScale="85000" lnSpcReduction="10000"/>
          </a:bodyPr>
          <a:lstStyle/>
          <a:p>
            <a:pPr lvl="1"/>
            <a:r>
              <a:rPr lang="en-US" sz="2800" dirty="0">
                <a:latin typeface="Oswald Regular" pitchFamily="2" charset="0"/>
              </a:rPr>
              <a:t>People associate green with the color of money, as well as nature. </a:t>
            </a:r>
          </a:p>
          <a:p>
            <a:pPr lvl="2"/>
            <a:r>
              <a:rPr lang="en-US" sz="2500" dirty="0">
                <a:latin typeface="Oswald Regular" pitchFamily="2" charset="0"/>
              </a:rPr>
              <a:t>Green suggests life, freedom, healing and tranquility. </a:t>
            </a:r>
          </a:p>
          <a:p>
            <a:pPr lvl="2"/>
            <a:r>
              <a:rPr lang="en-US" sz="2500" dirty="0">
                <a:latin typeface="Oswald Regular" pitchFamily="2" charset="0"/>
              </a:rPr>
              <a:t>Green can also represent jealousy. Businesses use it to communicate status and wealth. </a:t>
            </a:r>
          </a:p>
          <a:p>
            <a:pPr lvl="2"/>
            <a:r>
              <a:rPr lang="en-US" sz="2500" dirty="0">
                <a:latin typeface="Oswald Regular" pitchFamily="2" charset="0"/>
              </a:rPr>
              <a:t>Olive greens are associated with health and freshness — a good choice for environmental concerns. </a:t>
            </a:r>
          </a:p>
          <a:p>
            <a:pPr lvl="2"/>
            <a:r>
              <a:rPr lang="en-US" sz="2500" dirty="0">
                <a:latin typeface="Oswald Regular" pitchFamily="2" charset="0"/>
              </a:rPr>
              <a:t>Green is a calming, refreshing color that is very easy on the eyes. </a:t>
            </a:r>
            <a:endParaRPr lang="en-US" sz="3300" dirty="0">
              <a:latin typeface="Oswald Regular" pitchFamily="2" charset="0"/>
            </a:endParaRPr>
          </a:p>
          <a:p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latin typeface="Oswald Regular" pitchFamily="2" charset="0"/>
              </a:rPr>
              <a:t>Popular green examples:</a:t>
            </a:r>
          </a:p>
        </p:txBody>
      </p:sp>
      <p:sp>
        <p:nvSpPr>
          <p:cNvPr id="4" name="Rectangle 3"/>
          <p:cNvSpPr/>
          <p:nvPr/>
        </p:nvSpPr>
        <p:spPr>
          <a:xfrm>
            <a:off x="2133600" y="228601"/>
            <a:ext cx="2895600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b="1" dirty="0">
                <a:ln w="19050">
                  <a:solidFill>
                    <a:srgbClr val="1F497D">
                      <a:tint val="1000"/>
                    </a:srgbClr>
                  </a:solidFill>
                  <a:prstDash val="solid"/>
                </a:ln>
                <a:solidFill>
                  <a:srgbClr val="9BBB59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latin typeface="Oswald" pitchFamily="2" charset="0"/>
              </a:rPr>
              <a:t>GREEN</a:t>
            </a:r>
          </a:p>
        </p:txBody>
      </p:sp>
      <p:pic>
        <p:nvPicPr>
          <p:cNvPr id="12" name="Picture 11" descr="wholefoods.jpg"/>
          <p:cNvPicPr>
            <a:picLocks noChangeAspect="1"/>
          </p:cNvPicPr>
          <p:nvPr/>
        </p:nvPicPr>
        <p:blipFill>
          <a:blip r:embed="rId2" cstate="print"/>
          <a:srcRect r="36000"/>
          <a:stretch>
            <a:fillRect/>
          </a:stretch>
        </p:blipFill>
        <p:spPr>
          <a:xfrm>
            <a:off x="6324600" y="3886201"/>
            <a:ext cx="1828800" cy="1495425"/>
          </a:xfrm>
          <a:prstGeom prst="rect">
            <a:avLst/>
          </a:prstGeom>
        </p:spPr>
      </p:pic>
      <p:pic>
        <p:nvPicPr>
          <p:cNvPr id="13" name="Picture 12" descr="irish spring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705600" y="2209802"/>
            <a:ext cx="2008197" cy="1372791"/>
          </a:xfrm>
          <a:prstGeom prst="rect">
            <a:avLst/>
          </a:prstGeom>
        </p:spPr>
      </p:pic>
      <p:pic>
        <p:nvPicPr>
          <p:cNvPr id="14" name="Picture 13" descr="Canada_dry_crop.jpg"/>
          <p:cNvPicPr>
            <a:picLocks noChangeAspect="1"/>
          </p:cNvPicPr>
          <p:nvPr/>
        </p:nvPicPr>
        <p:blipFill>
          <a:blip r:embed="rId4" cstate="print"/>
          <a:srcRect l="31317" t="24533" r="28648" b="9253"/>
          <a:stretch>
            <a:fillRect/>
          </a:stretch>
        </p:blipFill>
        <p:spPr>
          <a:xfrm>
            <a:off x="9067800" y="2743200"/>
            <a:ext cx="967155" cy="1676400"/>
          </a:xfrm>
          <a:prstGeom prst="rect">
            <a:avLst/>
          </a:prstGeom>
        </p:spPr>
      </p:pic>
      <p:pic>
        <p:nvPicPr>
          <p:cNvPr id="15" name="Picture 14" descr="Sprite-Can-330ml_Soft-Drink_113737_(6970877038).jpg"/>
          <p:cNvPicPr>
            <a:picLocks noChangeAspect="1"/>
          </p:cNvPicPr>
          <p:nvPr/>
        </p:nvPicPr>
        <p:blipFill>
          <a:blip r:embed="rId5" cstate="print"/>
          <a:srcRect l="15833" t="5556" r="30833" b="18889"/>
          <a:stretch>
            <a:fillRect/>
          </a:stretch>
        </p:blipFill>
        <p:spPr>
          <a:xfrm>
            <a:off x="8458200" y="4724402"/>
            <a:ext cx="1676400" cy="1781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800" dirty="0">
                <a:latin typeface="Oswald Regular" pitchFamily="2" charset="0"/>
              </a:rPr>
              <a:t>Brown is associated with nature and the earth. Brown and shades of cream are associated with warmth and coziness. </a:t>
            </a:r>
          </a:p>
          <a:p>
            <a:r>
              <a:rPr lang="en-US" sz="2800" dirty="0">
                <a:latin typeface="Oswald Regular" pitchFamily="2" charset="0"/>
              </a:rPr>
              <a:t>Brown suggests richness, politeness, helpfulness and effectiveness. It is solid, credible, mature and reliable. Light brown implies genuineness. </a:t>
            </a:r>
            <a:endParaRPr lang="en-US" sz="3600" dirty="0">
              <a:latin typeface="Oswald Regular" pitchFamily="2" charset="0"/>
            </a:endParaRPr>
          </a:p>
          <a:p>
            <a:r>
              <a:rPr lang="en-US" dirty="0">
                <a:latin typeface="Oswald Regular" pitchFamily="2" charset="0"/>
              </a:rPr>
              <a:t>MANY brown packages are for chocolate-flavored items!</a:t>
            </a:r>
          </a:p>
        </p:txBody>
      </p:sp>
      <p:sp>
        <p:nvSpPr>
          <p:cNvPr id="4" name="Rectangle 3"/>
          <p:cNvSpPr/>
          <p:nvPr/>
        </p:nvSpPr>
        <p:spPr>
          <a:xfrm>
            <a:off x="1988946" y="228601"/>
            <a:ext cx="3192655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b="1" dirty="0">
                <a:ln w="12700">
                  <a:solidFill>
                    <a:srgbClr val="EEECE1">
                      <a:lumMod val="50000"/>
                    </a:srgbClr>
                  </a:solidFill>
                  <a:prstDash val="solid"/>
                </a:ln>
                <a:solidFill>
                  <a:srgbClr val="97695B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Oswald" pitchFamily="2" charset="0"/>
              </a:rPr>
              <a:t>BROWN</a:t>
            </a:r>
          </a:p>
        </p:txBody>
      </p:sp>
      <p:pic>
        <p:nvPicPr>
          <p:cNvPr id="11" name="Picture 10" descr="cocoakrisp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1" y="4572000"/>
            <a:ext cx="1490980" cy="1990565"/>
          </a:xfrm>
          <a:prstGeom prst="rect">
            <a:avLst/>
          </a:prstGeom>
        </p:spPr>
      </p:pic>
      <p:pic>
        <p:nvPicPr>
          <p:cNvPr id="12" name="Picture 11" descr="sugarraw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20002" y="4876800"/>
            <a:ext cx="2162175" cy="1619544"/>
          </a:xfrm>
          <a:prstGeom prst="rect">
            <a:avLst/>
          </a:prstGeom>
        </p:spPr>
      </p:pic>
      <p:pic>
        <p:nvPicPr>
          <p:cNvPr id="13" name="Picture 12" descr="snickers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1782477">
            <a:off x="4733517" y="5071025"/>
            <a:ext cx="2624731" cy="9186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828800" y="1600200"/>
            <a:ext cx="8534400" cy="5105400"/>
          </a:xfrm>
        </p:spPr>
        <p:txBody>
          <a:bodyPr>
            <a:normAutofit lnSpcReduction="10000"/>
          </a:bodyPr>
          <a:lstStyle/>
          <a:p>
            <a:pPr lvl="1"/>
            <a:r>
              <a:rPr lang="en-US" sz="2800" dirty="0">
                <a:latin typeface="Oswald Regular" pitchFamily="2" charset="0"/>
              </a:rPr>
              <a:t>Orange is associated with vibrancy and the tropics, as well as warmth and contentment. </a:t>
            </a:r>
          </a:p>
          <a:p>
            <a:pPr lvl="1"/>
            <a:r>
              <a:rPr lang="en-US" sz="2800" dirty="0">
                <a:latin typeface="Oswald Regular" pitchFamily="2" charset="0"/>
              </a:rPr>
              <a:t>Orange can instill a sense of fun and excitement. </a:t>
            </a:r>
          </a:p>
          <a:p>
            <a:pPr lvl="1"/>
            <a:r>
              <a:rPr lang="en-US" sz="2800" dirty="0">
                <a:latin typeface="Oswald Regular" pitchFamily="2" charset="0"/>
              </a:rPr>
              <a:t>It can make an expensive product seem more affordable. </a:t>
            </a:r>
            <a:endParaRPr lang="en-US" dirty="0"/>
          </a:p>
          <a:p>
            <a:pPr lvl="1"/>
            <a:r>
              <a:rPr lang="en-US" sz="2800" dirty="0">
                <a:latin typeface="Oswald Regular" pitchFamily="2" charset="0"/>
              </a:rPr>
              <a:t>Like brown, many orange packages are simply orange to convey the flavoring of what’s inside:</a:t>
            </a:r>
          </a:p>
          <a:p>
            <a:pPr lvl="1"/>
            <a:endParaRPr lang="en-US" sz="2800" dirty="0">
              <a:latin typeface="Oswald Regular" pitchFamily="2" charset="0"/>
            </a:endParaRPr>
          </a:p>
          <a:p>
            <a:pPr lvl="1"/>
            <a:endParaRPr lang="en-US" sz="2800" dirty="0">
              <a:latin typeface="Oswald Regular" pitchFamily="2" charset="0"/>
            </a:endParaRPr>
          </a:p>
          <a:p>
            <a:pPr lvl="1"/>
            <a:endParaRPr lang="en-US" sz="2800" dirty="0">
              <a:latin typeface="Oswald Regular" pitchFamily="2" charset="0"/>
            </a:endParaRPr>
          </a:p>
          <a:p>
            <a:pPr lvl="1"/>
            <a:r>
              <a:rPr lang="en-US" sz="2800" dirty="0">
                <a:latin typeface="Oswald Regular" pitchFamily="2" charset="0"/>
              </a:rPr>
              <a:t>Interestingly – when surveyed, both men and women report orange as their LEAST favorite color!</a:t>
            </a:r>
          </a:p>
        </p:txBody>
      </p:sp>
      <p:sp>
        <p:nvSpPr>
          <p:cNvPr id="4" name="Rectangle 3"/>
          <p:cNvSpPr/>
          <p:nvPr/>
        </p:nvSpPr>
        <p:spPr>
          <a:xfrm>
            <a:off x="2194514" y="228601"/>
            <a:ext cx="3520487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000" b="1" dirty="0">
                <a:ln w="31550" cmpd="sng">
                  <a:gradFill>
                    <a:gsLst>
                      <a:gs pos="70000">
                        <a:srgbClr val="F79646">
                          <a:shade val="50000"/>
                          <a:satMod val="190000"/>
                        </a:srgbClr>
                      </a:gs>
                      <a:gs pos="0">
                        <a:srgbClr val="F79646">
                          <a:tint val="77000"/>
                          <a:satMod val="180000"/>
                        </a:srgbClr>
                      </a:gs>
                    </a:gsLst>
                    <a:lin ang="5400000"/>
                  </a:gradFill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  <a:latin typeface="Oswald" pitchFamily="2" charset="0"/>
              </a:rPr>
              <a:t>ORANGE</a:t>
            </a:r>
          </a:p>
        </p:txBody>
      </p:sp>
      <p:pic>
        <p:nvPicPr>
          <p:cNvPr id="8" name="Picture 7" descr="download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038601" y="4267202"/>
            <a:ext cx="1407443" cy="1247775"/>
          </a:xfrm>
          <a:prstGeom prst="rect">
            <a:avLst/>
          </a:prstGeom>
        </p:spPr>
      </p:pic>
      <p:pic>
        <p:nvPicPr>
          <p:cNvPr id="9" name="Picture 8" descr="cheetos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248402" y="4114801"/>
            <a:ext cx="1092151" cy="14637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136648" y="1828800"/>
            <a:ext cx="8153400" cy="4267200"/>
          </a:xfrm>
        </p:spPr>
        <p:txBody>
          <a:bodyPr/>
          <a:lstStyle/>
          <a:p>
            <a:pPr lvl="1"/>
            <a:r>
              <a:rPr lang="en-US" sz="2800">
                <a:latin typeface="Oswald Regular" pitchFamily="2" charset="0"/>
              </a:rPr>
              <a:t>Pink </a:t>
            </a:r>
            <a:r>
              <a:rPr lang="en-US" sz="2800" dirty="0">
                <a:latin typeface="Oswald Regular" pitchFamily="2" charset="0"/>
              </a:rPr>
              <a:t>represents gentleness, romance, well being and innocence. </a:t>
            </a:r>
            <a:endParaRPr lang="en-US" sz="3600" dirty="0">
              <a:latin typeface="Oswald Regular" pitchFamily="2" charset="0"/>
            </a:endParaRP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020589" y="228601"/>
            <a:ext cx="2018011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CC00CC"/>
                </a:solidFill>
                <a:latin typeface="Oswald" pitchFamily="2" charset="0"/>
              </a:rPr>
              <a:t>P</a:t>
            </a:r>
            <a:r>
              <a:rPr lang="en-US" sz="66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99FF"/>
                </a:solidFill>
                <a:latin typeface="Oswald" pitchFamily="2" charset="0"/>
              </a:rPr>
              <a:t>I</a:t>
            </a:r>
            <a:r>
              <a:rPr lang="en-US" sz="66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D60093"/>
                </a:solidFill>
                <a:latin typeface="Oswald" pitchFamily="2" charset="0"/>
              </a:rPr>
              <a:t>N</a:t>
            </a:r>
            <a:r>
              <a:rPr lang="en-US" sz="66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CCCC"/>
                </a:solidFill>
                <a:latin typeface="Oswald" pitchFamily="2" charset="0"/>
              </a:rPr>
              <a:t>K</a:t>
            </a:r>
          </a:p>
        </p:txBody>
      </p:sp>
      <p:pic>
        <p:nvPicPr>
          <p:cNvPr id="8" name="Picture 7" descr="th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876800" y="4114800"/>
            <a:ext cx="2305051" cy="2305051"/>
          </a:xfrm>
          <a:prstGeom prst="rect">
            <a:avLst/>
          </a:prstGeom>
        </p:spPr>
      </p:pic>
      <p:pic>
        <p:nvPicPr>
          <p:cNvPr id="9" name="Picture 8" descr="download (1)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86001" y="3733800"/>
            <a:ext cx="2486025" cy="1838325"/>
          </a:xfrm>
          <a:prstGeom prst="rect">
            <a:avLst/>
          </a:prstGeom>
        </p:spPr>
      </p:pic>
      <p:pic>
        <p:nvPicPr>
          <p:cNvPr id="10" name="Picture 9" descr="babylotion maybe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239002" y="3733800"/>
            <a:ext cx="2466975" cy="18478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6648" y="228600"/>
            <a:ext cx="8153400" cy="990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981200" y="1828800"/>
            <a:ext cx="8308848" cy="4267200"/>
          </a:xfrm>
        </p:spPr>
        <p:txBody>
          <a:bodyPr/>
          <a:lstStyle/>
          <a:p>
            <a:pPr lvl="1"/>
            <a:r>
              <a:rPr lang="en-US" sz="2800" dirty="0">
                <a:latin typeface="Oswald Regular" pitchFamily="2" charset="0"/>
              </a:rPr>
              <a:t>Purple represents royalty and luxury. </a:t>
            </a:r>
          </a:p>
          <a:p>
            <a:pPr lvl="1"/>
            <a:r>
              <a:rPr lang="en-US" sz="2800" dirty="0">
                <a:latin typeface="Oswald Regular" pitchFamily="2" charset="0"/>
              </a:rPr>
              <a:t>Purple can suggest spirituality and sophistication. </a:t>
            </a:r>
          </a:p>
          <a:p>
            <a:pPr lvl="1"/>
            <a:r>
              <a:rPr lang="en-US" sz="2800" dirty="0">
                <a:latin typeface="Oswald Regular" pitchFamily="2" charset="0"/>
              </a:rPr>
              <a:t>In darker shades, purple is considered a wealthy color. </a:t>
            </a:r>
          </a:p>
          <a:p>
            <a:pPr lvl="1"/>
            <a:r>
              <a:rPr lang="en-US" sz="2800" dirty="0">
                <a:latin typeface="Oswald Regular" pitchFamily="2" charset="0"/>
              </a:rPr>
              <a:t>In paler shades, such as lavender, it’s romantic.</a:t>
            </a:r>
          </a:p>
          <a:p>
            <a:pPr lvl="1"/>
            <a:r>
              <a:rPr lang="en-US" sz="2800" dirty="0">
                <a:latin typeface="Oswald Regular" pitchFamily="2" charset="0"/>
              </a:rPr>
              <a:t>Examples:</a:t>
            </a:r>
            <a:endParaRPr lang="en-US" sz="3600" dirty="0">
              <a:latin typeface="Oswald Regular" pitchFamily="2" charset="0"/>
            </a:endParaRP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955668" y="228601"/>
            <a:ext cx="2744661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1" cap="all" dirty="0">
                <a:ln w="9000" cmpd="sng">
                  <a:solidFill>
                    <a:srgbClr val="1F497D">
                      <a:lumMod val="40000"/>
                      <a:lumOff val="60000"/>
                    </a:srgbClr>
                  </a:solidFill>
                  <a:prstDash val="solid"/>
                </a:ln>
                <a:solidFill>
                  <a:srgbClr val="7030A0"/>
                </a:solidFill>
                <a:effectLst>
                  <a:reflection blurRad="12700" stA="28000" endPos="45000" dist="1000" dir="5400000" sy="-100000" algn="bl" rotWithShape="0"/>
                </a:effectLst>
                <a:latin typeface="Oswald" pitchFamily="2" charset="0"/>
              </a:rPr>
              <a:t>purple</a:t>
            </a:r>
          </a:p>
        </p:txBody>
      </p:sp>
      <p:pic>
        <p:nvPicPr>
          <p:cNvPr id="8" name="Picture 7" descr="cadbury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62200" y="5257801"/>
            <a:ext cx="2362200" cy="1010099"/>
          </a:xfrm>
          <a:prstGeom prst="rect">
            <a:avLst/>
          </a:prstGeom>
        </p:spPr>
      </p:pic>
      <p:pic>
        <p:nvPicPr>
          <p:cNvPr id="9" name="Picture 8" descr="JBperfume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029200" y="3886200"/>
            <a:ext cx="2514600" cy="1828800"/>
          </a:xfrm>
          <a:prstGeom prst="rect">
            <a:avLst/>
          </a:prstGeom>
        </p:spPr>
      </p:pic>
      <p:pic>
        <p:nvPicPr>
          <p:cNvPr id="10" name="Picture 9" descr="lavender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924800" y="4648201"/>
            <a:ext cx="2363053" cy="19097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70" decel="100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770" decel="100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9" dur="77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2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1" dur="77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2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70" decel="100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770" decel="100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30" dur="77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3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2" dur="77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3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4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70" decel="100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770" decel="100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3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39" dur="77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4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1" dur="77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4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3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70" decel="100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6" dur="770" decel="100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4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48" dur="77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4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50" dur="77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5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6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0" presetID="26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6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4" presetID="26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0" presetID="26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rgbClr val="FF0000"/>
                </a:solidFill>
                <a:latin typeface="Oswald" pitchFamily="2" charset="0"/>
              </a:rPr>
              <a:t>C</a:t>
            </a:r>
            <a:r>
              <a:rPr lang="en-US" sz="5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Oswald" pitchFamily="2" charset="0"/>
              </a:rPr>
              <a:t>O</a:t>
            </a:r>
            <a:r>
              <a:rPr lang="en-US" sz="5400" b="1" dirty="0">
                <a:solidFill>
                  <a:schemeClr val="accent4">
                    <a:lumMod val="75000"/>
                  </a:schemeClr>
                </a:solidFill>
                <a:latin typeface="Oswald" pitchFamily="2" charset="0"/>
              </a:rPr>
              <a:t>L</a:t>
            </a:r>
            <a:r>
              <a:rPr lang="en-US" sz="5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Oswald" pitchFamily="2" charset="0"/>
              </a:rPr>
              <a:t>O</a:t>
            </a:r>
            <a:r>
              <a:rPr lang="en-US" sz="5400" b="1" dirty="0">
                <a:solidFill>
                  <a:schemeClr val="accent3">
                    <a:lumMod val="75000"/>
                  </a:schemeClr>
                </a:solidFill>
                <a:latin typeface="Oswald" pitchFamily="2" charset="0"/>
              </a:rPr>
              <a:t>R</a:t>
            </a:r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Oswald" pitchFamily="2" charset="0"/>
              </a:rPr>
              <a:t>S</a:t>
            </a:r>
            <a:r>
              <a:rPr lang="en-US" sz="5400" b="1" dirty="0">
                <a:solidFill>
                  <a:schemeClr val="tx1"/>
                </a:solidFill>
                <a:latin typeface="Oswald" pitchFamily="2" charset="0"/>
              </a:rPr>
              <a:t>, cont.</a:t>
            </a:r>
            <a:endParaRPr lang="en-US" sz="5400" dirty="0">
              <a:solidFill>
                <a:schemeClr val="tx1"/>
              </a:solidFill>
              <a:latin typeface="Oswald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136648" y="1905000"/>
            <a:ext cx="8153400" cy="4191000"/>
          </a:xfrm>
        </p:spPr>
        <p:txBody>
          <a:bodyPr/>
          <a:lstStyle/>
          <a:p>
            <a:pPr lvl="0"/>
            <a:r>
              <a:rPr lang="en-US" dirty="0">
                <a:latin typeface="Oswald Regular" pitchFamily="2" charset="0"/>
              </a:rPr>
              <a:t>Use this knowledge to your advantage!  </a:t>
            </a:r>
          </a:p>
          <a:p>
            <a:pPr lvl="0"/>
            <a:r>
              <a:rPr lang="en-US" dirty="0">
                <a:latin typeface="Oswald Regular" pitchFamily="2" charset="0"/>
              </a:rPr>
              <a:t>The primary color of your packaging should express the feeling(s) that you want to be associated with your product.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28305B-D8E9-4277-A3CD-8E162F8F1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 Meanings in Marketing</a:t>
            </a:r>
          </a:p>
        </p:txBody>
      </p:sp>
      <p:pic>
        <p:nvPicPr>
          <p:cNvPr id="8" name="Picture 7" descr="Chart, diagram, sunburst chart&#10;&#10;Description automatically generated">
            <a:extLst>
              <a:ext uri="{FF2B5EF4-FFF2-40B4-BE49-F238E27FC236}">
                <a16:creationId xmlns:a16="http://schemas.microsoft.com/office/drawing/2014/main" id="{16BC67FF-E419-4AF9-A08C-498284DF3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920" y="1694058"/>
            <a:ext cx="5257839" cy="497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4302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F224FA1-6D81-47BC-B3A5-E73332DAA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Psychology of Color</a:t>
            </a:r>
          </a:p>
        </p:txBody>
      </p:sp>
      <p:pic>
        <p:nvPicPr>
          <p:cNvPr id="2" name="Online Media 1" title="The Psychology Of Color In Marketing And Branding">
            <a:hlinkClick r:id="" action="ppaction://media"/>
            <a:extLst>
              <a:ext uri="{FF2B5EF4-FFF2-40B4-BE49-F238E27FC236}">
                <a16:creationId xmlns:a16="http://schemas.microsoft.com/office/drawing/2014/main" id="{2FA1D85E-0912-4795-87C5-74125888DE7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032000" y="1629562"/>
            <a:ext cx="812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565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FD52E16-112A-48DC-A550-959189B95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Influencers</a:t>
            </a:r>
          </a:p>
        </p:txBody>
      </p:sp>
    </p:spTree>
    <p:extLst>
      <p:ext uri="{BB962C8B-B14F-4D97-AF65-F5344CB8AC3E}">
        <p14:creationId xmlns:p14="http://schemas.microsoft.com/office/powerpoint/2010/main" val="40870313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5992BB4-85E7-4CD0-88E9-E932FC94B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Influencers are different than brand ambassadors! What are they promoting here?</a:t>
            </a:r>
          </a:p>
        </p:txBody>
      </p:sp>
      <p:pic>
        <p:nvPicPr>
          <p:cNvPr id="5" name="Online Media 4" title="Taylor Swift - &quot;Blank Space&quot;  PARODY (Mom Version)">
            <a:hlinkClick r:id="" action="ppaction://media"/>
            <a:extLst>
              <a:ext uri="{FF2B5EF4-FFF2-40B4-BE49-F238E27FC236}">
                <a16:creationId xmlns:a16="http://schemas.microsoft.com/office/drawing/2014/main" id="{9C4B3894-1B08-4C3F-BBD5-D14BF7BD0EB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032000" y="1143000"/>
            <a:ext cx="812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811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9998FC3-384A-466D-9E76-C66A0D11B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Influencers – What are they selling here?</a:t>
            </a:r>
          </a:p>
        </p:txBody>
      </p:sp>
      <p:pic>
        <p:nvPicPr>
          <p:cNvPr id="2" name="Online Media 1" title="BACK TO SCHOOL, MOMS GO WILD!!">
            <a:hlinkClick r:id="" action="ppaction://media"/>
            <a:extLst>
              <a:ext uri="{FF2B5EF4-FFF2-40B4-BE49-F238E27FC236}">
                <a16:creationId xmlns:a16="http://schemas.microsoft.com/office/drawing/2014/main" id="{82256DA6-1A8E-4FA8-9CFB-07C0E185CBA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826000" y="2711450"/>
            <a:ext cx="2540000" cy="143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884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FD52E16-112A-48DC-A550-959189B95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Placement</a:t>
            </a:r>
          </a:p>
        </p:txBody>
      </p:sp>
    </p:spTree>
    <p:extLst>
      <p:ext uri="{BB962C8B-B14F-4D97-AF65-F5344CB8AC3E}">
        <p14:creationId xmlns:p14="http://schemas.microsoft.com/office/powerpoint/2010/main" val="4011245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AAC70E8-D8EA-19CD-B562-8779BBECBE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You will never be able to watch tv shows or movie the same way again</a:t>
            </a:r>
          </a:p>
          <a:p>
            <a:r>
              <a:rPr lang="en-US" dirty="0"/>
              <a:t>Who’s paying the movie studio?</a:t>
            </a:r>
          </a:p>
          <a:p>
            <a:r>
              <a:rPr lang="en-US" dirty="0"/>
              <a:t>Everything is marketing to you! </a:t>
            </a:r>
          </a:p>
          <a:p>
            <a:r>
              <a:rPr lang="en-US" dirty="0"/>
              <a:t>Amount of time product is shown onscreen means more money the company is paying the movie studio</a:t>
            </a:r>
          </a:p>
          <a:p>
            <a:r>
              <a:rPr lang="en-US" dirty="0"/>
              <a:t>Who is using it counts (</a:t>
            </a:r>
            <a:r>
              <a:rPr lang="en-US" dirty="0" err="1"/>
              <a:t>villians</a:t>
            </a:r>
            <a:r>
              <a:rPr lang="en-US" dirty="0"/>
              <a:t> not allowed to use Apple products)</a:t>
            </a:r>
          </a:p>
          <a:p>
            <a:r>
              <a:rPr lang="en-US" dirty="0"/>
              <a:t>If logo grayed out, that means the company didn’t allow use of it/didn’t pay the movie to show it</a:t>
            </a:r>
          </a:p>
          <a:p>
            <a:r>
              <a:rPr lang="en-US" dirty="0"/>
              <a:t>Lots of generic products (especially in grocery store scenes)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A8E53D-0547-D9FB-9156-BD2E9C849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into your subconscious works better than outright advertising to you</a:t>
            </a:r>
          </a:p>
        </p:txBody>
      </p:sp>
    </p:spTree>
    <p:extLst>
      <p:ext uri="{BB962C8B-B14F-4D97-AF65-F5344CB8AC3E}">
        <p14:creationId xmlns:p14="http://schemas.microsoft.com/office/powerpoint/2010/main" val="18074560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A036C5-D107-4498-AB02-794E1E150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Placement – amount of screen time matters</a:t>
            </a:r>
          </a:p>
        </p:txBody>
      </p:sp>
      <p:pic>
        <p:nvPicPr>
          <p:cNvPr id="4" name="Online Media 3" title="top 10 product placements in 2019 movies">
            <a:hlinkClick r:id="" action="ppaction://media"/>
            <a:extLst>
              <a:ext uri="{FF2B5EF4-FFF2-40B4-BE49-F238E27FC236}">
                <a16:creationId xmlns:a16="http://schemas.microsoft.com/office/drawing/2014/main" id="{EE22F617-8339-41C2-BC23-7BE4FD4E3AC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032000" y="1143000"/>
            <a:ext cx="812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028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8E3F8E-AF51-467B-980B-14F586F4A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watches Stranger Things? How many product placements did you notice?</a:t>
            </a:r>
          </a:p>
        </p:txBody>
      </p:sp>
      <p:pic>
        <p:nvPicPr>
          <p:cNvPr id="4" name="Online Media 3" title="Stranger Things Product Placement">
            <a:hlinkClick r:id="" action="ppaction://media"/>
            <a:extLst>
              <a:ext uri="{FF2B5EF4-FFF2-40B4-BE49-F238E27FC236}">
                <a16:creationId xmlns:a16="http://schemas.microsoft.com/office/drawing/2014/main" id="{2BB07693-4D4B-438F-AB9B-E452FE5E5E9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032000" y="1143000"/>
            <a:ext cx="812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757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D39C7ED-E464-25ED-2856-8DEBEDFCB53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Truman Show advertisements (youtube.com)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Truman Show was a movie about a man whose whole life was a tv show, but he didn’t know it.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5E967CB-D3AA-808F-DD84-B4F1F735D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Parody of Product Placement</a:t>
            </a:r>
          </a:p>
        </p:txBody>
      </p:sp>
    </p:spTree>
    <p:extLst>
      <p:ext uri="{BB962C8B-B14F-4D97-AF65-F5344CB8AC3E}">
        <p14:creationId xmlns:p14="http://schemas.microsoft.com/office/powerpoint/2010/main" val="32098240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Main Master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200" dirty="0" err="1" smtClean="0">
            <a:latin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eatle Genetics 1" id="{53984AC2-015D-554A-9215-CAF5E42331BB}" vid="{AC78D1C2-67FA-E942-9EA9-D2954BBFA017}"/>
    </a:ext>
  </a:extLst>
</a:theme>
</file>

<file path=ppt/theme/theme2.xml><?xml version="1.0" encoding="utf-8"?>
<a:theme xmlns:a="http://schemas.openxmlformats.org/drawingml/2006/main" name="Medi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D57B4BF11F21345B20997717CDA30C6" ma:contentTypeVersion="12" ma:contentTypeDescription="Create a new document." ma:contentTypeScope="" ma:versionID="c624f27fae93c500efb73f69f6662374">
  <xsd:schema xmlns:xsd="http://www.w3.org/2001/XMLSchema" xmlns:xs="http://www.w3.org/2001/XMLSchema" xmlns:p="http://schemas.microsoft.com/office/2006/metadata/properties" xmlns:ns3="771fa23e-d6f3-4d07-90b4-be592549ff5b" xmlns:ns4="aec7f61e-5566-4536-8105-cc3e741150bf" targetNamespace="http://schemas.microsoft.com/office/2006/metadata/properties" ma:root="true" ma:fieldsID="c55ef6a5a70e57cb7ff22ca8034d25aa" ns3:_="" ns4:_="">
    <xsd:import namespace="771fa23e-d6f3-4d07-90b4-be592549ff5b"/>
    <xsd:import namespace="aec7f61e-5566-4536-8105-cc3e741150b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1fa23e-d6f3-4d07-90b4-be592549ff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c7f61e-5566-4536-8105-cc3e741150bf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AD0BDA8-D755-4FB5-863F-2C315957E8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71fa23e-d6f3-4d07-90b4-be592549ff5b"/>
    <ds:schemaRef ds:uri="aec7f61e-5566-4536-8105-cc3e741150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ADC611F-FF84-43C9-AE5C-4D5F725490F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6B8E545-789E-4B0D-A54F-7748CF9E4752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1379</Words>
  <Application>Microsoft Office PowerPoint</Application>
  <PresentationFormat>Widescreen</PresentationFormat>
  <Paragraphs>171</Paragraphs>
  <Slides>38</Slides>
  <Notes>12</Notes>
  <HiddenSlides>0</HiddenSlides>
  <MMClips>9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Arial</vt:lpstr>
      <vt:lpstr>Calibri</vt:lpstr>
      <vt:lpstr>Courier New</vt:lpstr>
      <vt:lpstr>Oswald</vt:lpstr>
      <vt:lpstr>Oswald Regular</vt:lpstr>
      <vt:lpstr>Tw Cen MT</vt:lpstr>
      <vt:lpstr>Wingdings</vt:lpstr>
      <vt:lpstr>Wingdings 2</vt:lpstr>
      <vt:lpstr>Main Master</vt:lpstr>
      <vt:lpstr>Median</vt:lpstr>
      <vt:lpstr>Business, Marketing, Entrepreneurship, Digital Marketing, and Econ  Mrs. Schafer Class </vt:lpstr>
      <vt:lpstr>PowerPoint Presentation</vt:lpstr>
      <vt:lpstr>Brand Ambassador</vt:lpstr>
      <vt:lpstr>Brand Ambassador</vt:lpstr>
      <vt:lpstr>Brand Ambassadors Do More Promotion and Affect Sales</vt:lpstr>
      <vt:lpstr>Parodies Help the Brand!</vt:lpstr>
      <vt:lpstr>Brad Pitt – Chanel Brand Ambassador</vt:lpstr>
      <vt:lpstr>Brad Pitt – Chanel Brand Ambassador Parody</vt:lpstr>
      <vt:lpstr>Use of colors in marketing</vt:lpstr>
      <vt:lpstr>Lesson Objective</vt:lpstr>
      <vt:lpstr>COLORS</vt:lpstr>
      <vt:lpstr>COLORS</vt:lpstr>
      <vt:lpstr>The use of specific colors in marketing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COLORS, cont.</vt:lpstr>
      <vt:lpstr>Color Meanings in Marketing</vt:lpstr>
      <vt:lpstr>The Psychology of Color</vt:lpstr>
      <vt:lpstr>Influencers</vt:lpstr>
      <vt:lpstr>Influencers are different than brand ambassadors! What are they promoting here?</vt:lpstr>
      <vt:lpstr>Influencers – What are they selling here?</vt:lpstr>
      <vt:lpstr>Product Placement</vt:lpstr>
      <vt:lpstr>Getting into your subconscious works better than outright advertising to you</vt:lpstr>
      <vt:lpstr>Product Placement – amount of screen time matters</vt:lpstr>
      <vt:lpstr>Who watches Stranger Things? How many product placements did you notice?</vt:lpstr>
      <vt:lpstr>Parody of Product Placement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Schafer, Ryfka</dc:creator>
  <cp:lastModifiedBy>Ryfka Schafer</cp:lastModifiedBy>
  <cp:revision>10</cp:revision>
  <dcterms:created xsi:type="dcterms:W3CDTF">2020-12-11T18:29:10Z</dcterms:created>
  <dcterms:modified xsi:type="dcterms:W3CDTF">2026-03-04T16:55:02Z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0x0101007D57B4BF11F21345B20997717CDA30C6</vt:lpwstr>
  </property>
</Properties>
</file>