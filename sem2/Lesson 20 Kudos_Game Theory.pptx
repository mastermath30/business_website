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4"/>
  </p:sldMasterIdLst>
  <p:notesMasterIdLst>
    <p:notesMasterId r:id="rId20"/>
  </p:notesMasterIdLst>
  <p:handoutMasterIdLst>
    <p:handoutMasterId r:id="rId21"/>
  </p:handoutMasterIdLst>
  <p:sldIdLst>
    <p:sldId id="420" r:id="rId5"/>
    <p:sldId id="421" r:id="rId6"/>
    <p:sldId id="424" r:id="rId7"/>
    <p:sldId id="426" r:id="rId8"/>
    <p:sldId id="428" r:id="rId9"/>
    <p:sldId id="434" r:id="rId10"/>
    <p:sldId id="433" r:id="rId11"/>
    <p:sldId id="430" r:id="rId12"/>
    <p:sldId id="425" r:id="rId13"/>
    <p:sldId id="435" r:id="rId14"/>
    <p:sldId id="436" r:id="rId15"/>
    <p:sldId id="427" r:id="rId16"/>
    <p:sldId id="429" r:id="rId17"/>
    <p:sldId id="437" r:id="rId18"/>
    <p:sldId id="423" r:id="rId19"/>
  </p:sldIdLst>
  <p:sldSz cx="9144000" cy="5143500" type="screen16x9"/>
  <p:notesSz cx="7010400" cy="9296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3" pos="2232"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C24"/>
    <a:srgbClr val="E89024"/>
    <a:srgbClr val="414042"/>
    <a:srgbClr val="595959"/>
    <a:srgbClr val="E2F0D0"/>
    <a:srgbClr val="91CAAA"/>
    <a:srgbClr val="DBDADC"/>
    <a:srgbClr val="2597CB"/>
    <a:srgbClr val="2370AF"/>
    <a:srgbClr val="4EA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5A0EE-C30E-4385-9633-DBA66836342D}" v="19" dt="2026-03-05T22:13:41.445"/>
  </p1510:revLst>
</p1510:revInfo>
</file>

<file path=ppt/tableStyles.xml><?xml version="1.0" encoding="utf-8"?>
<a:tblStyleLst xmlns:a="http://schemas.openxmlformats.org/drawingml/2006/main" def="{2D5ABB26-0587-4C30-8999-92F81FD0307C}">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50775" autoAdjust="0"/>
  </p:normalViewPr>
  <p:slideViewPr>
    <p:cSldViewPr snapToGrid="0">
      <p:cViewPr varScale="1">
        <p:scale>
          <a:sx n="94" d="100"/>
          <a:sy n="94" d="100"/>
        </p:scale>
        <p:origin x="408" y="44"/>
      </p:cViewPr>
      <p:guideLst>
        <p:guide pos="2880"/>
        <p:guide pos="2232"/>
        <p:guide orient="horz" pos="162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Schafer" userId="318b1ac2-30d3-4beb-81ce-7e66308a1db1" providerId="ADAL" clId="{6ADB8242-FC07-4006-B08C-E5283FADA5DD}"/>
    <pc:docChg chg="custSel modSld">
      <pc:chgData name="Ryfka Schafer" userId="318b1ac2-30d3-4beb-81ce-7e66308a1db1" providerId="ADAL" clId="{6ADB8242-FC07-4006-B08C-E5283FADA5DD}" dt="2026-03-05T22:13:41.445" v="36"/>
      <pc:docMkLst>
        <pc:docMk/>
      </pc:docMkLst>
      <pc:sldChg chg="addSp delSp modSp mod">
        <pc:chgData name="Ryfka Schafer" userId="318b1ac2-30d3-4beb-81ce-7e66308a1db1" providerId="ADAL" clId="{6ADB8242-FC07-4006-B08C-E5283FADA5DD}" dt="2026-03-05T22:13:41.445" v="36"/>
        <pc:sldMkLst>
          <pc:docMk/>
          <pc:sldMk cId="2441473781" sldId="425"/>
        </pc:sldMkLst>
        <pc:spChg chg="add del mod">
          <ac:chgData name="Ryfka Schafer" userId="318b1ac2-30d3-4beb-81ce-7e66308a1db1" providerId="ADAL" clId="{6ADB8242-FC07-4006-B08C-E5283FADA5DD}" dt="2026-03-05T22:13:05.774" v="32"/>
          <ac:spMkLst>
            <pc:docMk/>
            <pc:sldMk cId="2441473781" sldId="425"/>
            <ac:spMk id="2" creationId="{9EEAF8E5-2BA9-1A4A-F6B5-36549D2054F5}"/>
          </ac:spMkLst>
        </pc:spChg>
        <pc:spChg chg="add mod">
          <ac:chgData name="Ryfka Schafer" userId="318b1ac2-30d3-4beb-81ce-7e66308a1db1" providerId="ADAL" clId="{6ADB8242-FC07-4006-B08C-E5283FADA5DD}" dt="2026-03-05T22:13:41.445" v="36"/>
          <ac:spMkLst>
            <pc:docMk/>
            <pc:sldMk cId="2441473781" sldId="425"/>
            <ac:spMk id="5" creationId="{4B02A371-FD7A-57D0-0448-1CC8041906BC}"/>
          </ac:spMkLst>
        </pc:spChg>
      </pc:sldChg>
      <pc:sldChg chg="addSp delSp modSp mod">
        <pc:chgData name="Ryfka Schafer" userId="318b1ac2-30d3-4beb-81ce-7e66308a1db1" providerId="ADAL" clId="{6ADB8242-FC07-4006-B08C-E5283FADA5DD}" dt="2026-03-05T22:01:46.725" v="24"/>
        <pc:sldMkLst>
          <pc:docMk/>
          <pc:sldMk cId="1058167363" sldId="430"/>
        </pc:sldMkLst>
        <pc:spChg chg="add mod">
          <ac:chgData name="Ryfka Schafer" userId="318b1ac2-30d3-4beb-81ce-7e66308a1db1" providerId="ADAL" clId="{6ADB8242-FC07-4006-B08C-E5283FADA5DD}" dt="2026-03-05T22:01:46.725" v="24"/>
          <ac:spMkLst>
            <pc:docMk/>
            <pc:sldMk cId="1058167363" sldId="430"/>
            <ac:spMk id="2" creationId="{5FD94364-806D-3682-B1AE-3CC76DE600BE}"/>
          </ac:spMkLst>
        </pc:spChg>
        <pc:spChg chg="add del mod">
          <ac:chgData name="Ryfka Schafer" userId="318b1ac2-30d3-4beb-81ce-7e66308a1db1" providerId="ADAL" clId="{6ADB8242-FC07-4006-B08C-E5283FADA5DD}" dt="2026-03-05T20:12:41.466" v="7"/>
          <ac:spMkLst>
            <pc:docMk/>
            <pc:sldMk cId="1058167363" sldId="430"/>
            <ac:spMk id="2" creationId="{E798CE65-A7F9-9CBE-4C7C-AB7F1A310DFD}"/>
          </ac:spMkLst>
        </pc:spChg>
        <pc:spChg chg="add del mod">
          <ac:chgData name="Ryfka Schafer" userId="318b1ac2-30d3-4beb-81ce-7e66308a1db1" providerId="ADAL" clId="{6ADB8242-FC07-4006-B08C-E5283FADA5DD}" dt="2026-03-05T21:55:41.518" v="20"/>
          <ac:spMkLst>
            <pc:docMk/>
            <pc:sldMk cId="1058167363" sldId="430"/>
            <ac:spMk id="5" creationId="{9AFCDEC1-9C52-0F6F-6EF0-362832CE2C34}"/>
          </ac:spMkLst>
        </pc:spChg>
        <pc:spChg chg="del">
          <ac:chgData name="Ryfka Schafer" userId="318b1ac2-30d3-4beb-81ce-7e66308a1db1" providerId="ADAL" clId="{6ADB8242-FC07-4006-B08C-E5283FADA5DD}" dt="2026-03-05T17:51:26.982" v="1"/>
          <ac:spMkLst>
            <pc:docMk/>
            <pc:sldMk cId="1058167363" sldId="430"/>
            <ac:spMk id="5" creationId="{E751D58B-27D4-46BF-A18C-225B477C985D}"/>
          </ac:spMkLst>
        </pc:spChg>
      </pc:sldChg>
      <pc:sldChg chg="addSp delSp modSp mod">
        <pc:chgData name="Ryfka Schafer" userId="318b1ac2-30d3-4beb-81ce-7e66308a1db1" providerId="ADAL" clId="{6ADB8242-FC07-4006-B08C-E5283FADA5DD}" dt="2026-03-05T22:07:24.089" v="30"/>
        <pc:sldMkLst>
          <pc:docMk/>
          <pc:sldMk cId="1546697240" sldId="436"/>
        </pc:sldMkLst>
        <pc:spChg chg="add mod">
          <ac:chgData name="Ryfka Schafer" userId="318b1ac2-30d3-4beb-81ce-7e66308a1db1" providerId="ADAL" clId="{6ADB8242-FC07-4006-B08C-E5283FADA5DD}" dt="2026-03-05T20:29:50.827" v="14" actId="767"/>
          <ac:spMkLst>
            <pc:docMk/>
            <pc:sldMk cId="1546697240" sldId="436"/>
            <ac:spMk id="2" creationId="{774D18A1-9D8A-6F55-F77B-80E4DB98EDEB}"/>
          </ac:spMkLst>
        </pc:spChg>
        <pc:spChg chg="del">
          <ac:chgData name="Ryfka Schafer" userId="318b1ac2-30d3-4beb-81ce-7e66308a1db1" providerId="ADAL" clId="{6ADB8242-FC07-4006-B08C-E5283FADA5DD}" dt="2026-03-05T20:24:14.108" v="13"/>
          <ac:spMkLst>
            <pc:docMk/>
            <pc:sldMk cId="1546697240" sldId="436"/>
            <ac:spMk id="4" creationId="{DC7D8DB6-2009-4B68-A64C-BB7B00487E0B}"/>
          </ac:spMkLst>
        </pc:spChg>
        <pc:spChg chg="add del mod">
          <ac:chgData name="Ryfka Schafer" userId="318b1ac2-30d3-4beb-81ce-7e66308a1db1" providerId="ADAL" clId="{6ADB8242-FC07-4006-B08C-E5283FADA5DD}" dt="2026-03-05T22:07:24.089" v="30"/>
          <ac:spMkLst>
            <pc:docMk/>
            <pc:sldMk cId="1546697240" sldId="436"/>
            <ac:spMk id="5" creationId="{47A60D91-DCFA-E96C-28A7-AC2477018BF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6" name="Date Placeholder 5"/>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200"/>
            </a:lvl1pPr>
          </a:lstStyle>
          <a:p>
            <a:fld id="{4888D498-CA9B-8D40-B07D-EB92BE597C17}" type="datetimeFigureOut">
              <a:rPr lang="en-US" smtClean="0"/>
              <a:t>3/5/2026</a:t>
            </a:fld>
            <a:endParaRPr lang="en-US"/>
          </a:p>
        </p:txBody>
      </p:sp>
    </p:spTree>
    <p:extLst>
      <p:ext uri="{BB962C8B-B14F-4D97-AF65-F5344CB8AC3E}">
        <p14:creationId xmlns:p14="http://schemas.microsoft.com/office/powerpoint/2010/main" val="61527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200"/>
            </a:lvl1pPr>
          </a:lstStyle>
          <a:p>
            <a:fld id="{13AAC0AE-F2B6-6846-ABA1-89ECC7B4183F}" type="datetimeFigureOut">
              <a:rPr lang="en-US" smtClean="0"/>
              <a:t>3/5/2026</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200"/>
            </a:lvl1pPr>
          </a:lstStyle>
          <a:p>
            <a:fld id="{75EC4D74-3CE0-A14E-94A9-E88D6AC0C899}" type="slidenum">
              <a:rPr lang="en-US" smtClean="0"/>
              <a:t>‹#›</a:t>
            </a:fld>
            <a:endParaRPr lang="en-US"/>
          </a:p>
        </p:txBody>
      </p:sp>
    </p:spTree>
    <p:extLst>
      <p:ext uri="{BB962C8B-B14F-4D97-AF65-F5344CB8AC3E}">
        <p14:creationId xmlns:p14="http://schemas.microsoft.com/office/powerpoint/2010/main" val="5263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volunteer from class to go rob a bank together</a:t>
            </a:r>
          </a:p>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8</a:t>
            </a:fld>
            <a:endParaRPr lang="en-US"/>
          </a:p>
        </p:txBody>
      </p:sp>
    </p:spTree>
    <p:extLst>
      <p:ext uri="{BB962C8B-B14F-4D97-AF65-F5344CB8AC3E}">
        <p14:creationId xmlns:p14="http://schemas.microsoft.com/office/powerpoint/2010/main" val="1376178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volunteer from class to go rob a bank together</a:t>
            </a:r>
          </a:p>
          <a:p>
            <a:endParaRPr lang="en-US" dirty="0"/>
          </a:p>
        </p:txBody>
      </p:sp>
      <p:sp>
        <p:nvSpPr>
          <p:cNvPr id="4" name="Slide Number Placeholder 3"/>
          <p:cNvSpPr>
            <a:spLocks noGrp="1"/>
          </p:cNvSpPr>
          <p:nvPr>
            <p:ph type="sldNum" sz="quarter" idx="5"/>
          </p:nvPr>
        </p:nvSpPr>
        <p:spPr/>
        <p:txBody>
          <a:bodyPr/>
          <a:lstStyle/>
          <a:p>
            <a:fld id="{75EC4D74-3CE0-A14E-94A9-E88D6AC0C899}" type="slidenum">
              <a:rPr lang="en-US" smtClean="0"/>
              <a:t>9</a:t>
            </a:fld>
            <a:endParaRPr lang="en-US"/>
          </a:p>
        </p:txBody>
      </p:sp>
    </p:spTree>
    <p:extLst>
      <p:ext uri="{BB962C8B-B14F-4D97-AF65-F5344CB8AC3E}">
        <p14:creationId xmlns:p14="http://schemas.microsoft.com/office/powerpoint/2010/main" val="630648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9144000" cy="51435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8"/>
          <p:cNvSpPr>
            <a:spLocks noGrp="1"/>
          </p:cNvSpPr>
          <p:nvPr>
            <p:ph type="body" sz="quarter" idx="10" hasCustomPrompt="1"/>
          </p:nvPr>
        </p:nvSpPr>
        <p:spPr>
          <a:xfrm>
            <a:off x="1728216" y="3295142"/>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1728216" y="2230871"/>
            <a:ext cx="5687568" cy="952270"/>
          </a:xfrm>
          <a:prstGeom prst="rect">
            <a:avLst/>
          </a:prstGeom>
        </p:spPr>
        <p:txBody>
          <a:bodyPr anchor="b"/>
          <a:lstStyle>
            <a:lvl1pPr algn="ctr">
              <a:defRPr sz="2000"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4036022" y="424100"/>
            <a:ext cx="1071956" cy="13748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3997019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40087360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94737960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36062824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1662544"/>
            <a:ext cx="9144000" cy="1715445"/>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1728216" y="2871807"/>
            <a:ext cx="5687568" cy="352160"/>
          </a:xfrm>
          <a:prstGeom prst="rect">
            <a:avLst/>
          </a:prstGeom>
        </p:spPr>
        <p:txBody>
          <a:bodyPr>
            <a:normAutofit/>
          </a:bodyPr>
          <a:lstStyle>
            <a:lvl1pPr marL="0" marR="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sz="1200" baseline="0">
                <a:solidFill>
                  <a:schemeClr val="bg1"/>
                </a:solidFill>
              </a:defRPr>
            </a:lvl1pPr>
            <a:lvl3pPr marL="685800"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1728216" y="1807536"/>
            <a:ext cx="5687568" cy="952270"/>
          </a:xfrm>
          <a:prstGeom prst="rect">
            <a:avLst/>
          </a:prstGeom>
        </p:spPr>
        <p:txBody>
          <a:bodyPr anchor="b"/>
          <a:lstStyle>
            <a:lvl1pPr algn="ctr">
              <a:defRPr sz="2000"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011690" y="302969"/>
            <a:ext cx="7120619" cy="4260503"/>
          </a:xfrm>
          <a:prstGeom prst="rect">
            <a:avLst/>
          </a:prstGeom>
        </p:spPr>
      </p:pic>
    </p:spTree>
    <p:extLst>
      <p:ext uri="{BB962C8B-B14F-4D97-AF65-F5344CB8AC3E}">
        <p14:creationId xmlns:p14="http://schemas.microsoft.com/office/powerpoint/2010/main" val="14527766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2793883" y="8682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2793883" y="1020696"/>
            <a:ext cx="0" cy="3216977"/>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509695" y="2243735"/>
            <a:ext cx="2098939" cy="584775"/>
          </a:xfrm>
          <a:prstGeom prst="rect">
            <a:avLst/>
          </a:prstGeom>
          <a:noFill/>
        </p:spPr>
        <p:txBody>
          <a:bodyPr wrap="square" rtlCol="0">
            <a:spAutoFit/>
          </a:bodyPr>
          <a:lstStyle/>
          <a:p>
            <a:pPr algn="ctr"/>
            <a:r>
              <a:rPr lang="en-US" sz="3200">
                <a:solidFill>
                  <a:srgbClr val="2597CB"/>
                </a:solidFill>
              </a:rPr>
              <a:t>AGENDA</a:t>
            </a:r>
            <a:endParaRPr lang="en-US" sz="3200">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3233738" y="1075638"/>
            <a:ext cx="5203825" cy="3162035"/>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9158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692306" y="865565"/>
            <a:ext cx="7746421"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03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692306" y="866121"/>
            <a:ext cx="7765894" cy="237970"/>
          </a:xfrm>
          <a:prstGeom prst="rect">
            <a:avLst/>
          </a:prstGeom>
        </p:spPr>
        <p:txBody>
          <a:bodyPr>
            <a:noAutofit/>
          </a:bodyPr>
          <a:lstStyle>
            <a:lvl1pPr marL="0" indent="0">
              <a:spcBef>
                <a:spcPts val="0"/>
              </a:spcBef>
              <a:buNone/>
              <a:defRPr sz="1600"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692306" y="1207501"/>
            <a:ext cx="7746421" cy="324522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41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692307" y="865565"/>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4652151" y="857250"/>
            <a:ext cx="3794760" cy="3554299"/>
          </a:xfrm>
          <a:prstGeom prst="rect">
            <a:avLst/>
          </a:prstGeom>
        </p:spPr>
        <p:txBody>
          <a:bodyPr lIns="0" tIns="0" rIns="0" bIns="0"/>
          <a:lstStyle>
            <a:lvl1pPr marL="228600" marR="0" indent="-228600" algn="l" defTabSz="914400" rtl="0" eaLnBrk="1" fontAlgn="auto" latinLnBrk="0" hangingPunct="1">
              <a:lnSpc>
                <a:spcPct val="90000"/>
              </a:lnSpc>
              <a:spcBef>
                <a:spcPts val="1000"/>
              </a:spcBef>
              <a:spcAft>
                <a:spcPts val="0"/>
              </a:spcAft>
              <a:buClr>
                <a:schemeClr val="accent3"/>
              </a:buClr>
              <a:buSzPct val="140000"/>
              <a:buFont typeface="Arial"/>
              <a:buChar char="•"/>
              <a:tabLst/>
              <a:defRPr baseline="0"/>
            </a:lvl1pPr>
            <a:lvl2pPr marL="685800" marR="0" indent="-228600" algn="l" defTabSz="914400" rtl="0" eaLnBrk="1" fontAlgn="auto" latinLnBrk="0" hangingPunct="1">
              <a:lnSpc>
                <a:spcPct val="90000"/>
              </a:lnSpc>
              <a:spcBef>
                <a:spcPts val="500"/>
              </a:spcBef>
              <a:spcAft>
                <a:spcPts val="0"/>
              </a:spcAft>
              <a:buClr>
                <a:schemeClr val="accent3"/>
              </a:buClr>
              <a:buSzTx/>
              <a:buFont typeface="Courier New" charset="0"/>
              <a:buChar char="o"/>
              <a:tabLst/>
              <a:defRPr baseline="0"/>
            </a:lvl2pPr>
            <a:lvl3pPr marL="11430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3pPr>
            <a:lvl4pPr marL="1600200" marR="0" indent="-228600" algn="l" defTabSz="914400" rtl="0" eaLnBrk="1" fontAlgn="auto" latinLnBrk="0" hangingPunct="1">
              <a:lnSpc>
                <a:spcPct val="90000"/>
              </a:lnSpc>
              <a:spcBef>
                <a:spcPts val="500"/>
              </a:spcBef>
              <a:spcAft>
                <a:spcPts val="0"/>
              </a:spcAft>
              <a:buClr>
                <a:schemeClr val="accent3"/>
              </a:buClr>
              <a:buSzPct val="60000"/>
              <a:buFont typeface="Courier New" charset="0"/>
              <a:buChar char="o"/>
              <a:tabLst/>
              <a:defRPr baseline="0"/>
            </a:lvl4pPr>
            <a:lvl5pPr marL="2057400" marR="0" indent="-228600" algn="l" defTabSz="914400" rtl="0" eaLnBrk="1" fontAlgn="auto" latinLnBrk="0" hangingPunct="1">
              <a:lnSpc>
                <a:spcPct val="90000"/>
              </a:lnSpc>
              <a:spcBef>
                <a:spcPts val="500"/>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692306" y="139129"/>
            <a:ext cx="7739647" cy="382198"/>
          </a:xfrm>
          <a:prstGeom prst="rect">
            <a:avLst/>
          </a:prstGeom>
        </p:spPr>
        <p:txBody>
          <a:bodyPr lIns="0">
            <a:noAutofit/>
          </a:bodyPr>
          <a:lstStyle>
            <a:lvl1pPr>
              <a:defRPr sz="2000"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695833" y="684557"/>
            <a:ext cx="7752333"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7034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4827579"/>
            <a:ext cx="9144000" cy="323236"/>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94944" y="164592"/>
            <a:ext cx="7735824" cy="384048"/>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685800" y="865565"/>
            <a:ext cx="7759699" cy="376676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8360163" y="4923587"/>
            <a:ext cx="496793" cy="110639"/>
          </a:xfrm>
          <a:prstGeom prst="rect">
            <a:avLst/>
          </a:prstGeom>
          <a:noFill/>
        </p:spPr>
        <p:txBody>
          <a:bodyPr wrap="square" lIns="0" tIns="0" rIns="0" bIns="0" rtlCol="0">
            <a:spAutoFit/>
          </a:bodyPr>
          <a:lstStyle/>
          <a:p>
            <a:pPr algn="r"/>
            <a:fld id="{198DCDC1-55DC-4367-A313-31C40E88617A}" type="slidenum">
              <a:rPr lang="en-US" sz="700" smtClean="0">
                <a:solidFill>
                  <a:srgbClr val="414042"/>
                </a:solidFill>
              </a:rPr>
              <a:t>‹#›</a:t>
            </a:fld>
            <a:endParaRPr lang="en-US" sz="700"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194553" y="4260715"/>
            <a:ext cx="184731" cy="276999"/>
          </a:xfrm>
          <a:prstGeom prst="rect">
            <a:avLst/>
          </a:prstGeom>
          <a:noFill/>
        </p:spPr>
        <p:txBody>
          <a:bodyPr wrap="none" rtlCol="0">
            <a:spAutoFit/>
          </a:bodyPr>
          <a:lstStyle/>
          <a:p>
            <a:endParaRPr lang="en-US" sz="12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694944" y="4866086"/>
            <a:ext cx="3384260"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7774169" y="4855795"/>
            <a:ext cx="784189" cy="246221"/>
          </a:xfrm>
          <a:prstGeom prst="rect">
            <a:avLst/>
          </a:prstGeom>
          <a:noFill/>
        </p:spPr>
        <p:txBody>
          <a:bodyPr wrap="none" rtlCol="0">
            <a:spAutoFit/>
          </a:bodyPr>
          <a:lstStyle/>
          <a:p>
            <a:r>
              <a:rPr lang="en-US" sz="1000"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30075" y="4500484"/>
            <a:ext cx="416155" cy="5337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382473"/>
      </p:ext>
    </p:extLst>
  </p:cSld>
  <p:clrMap bg1="lt1" tx1="dk1" bg2="lt2" tx2="dk2" accent1="accent1" accent2="accent2" accent3="accent3" accent4="accent4" accent5="accent5" accent6="accent6" hlink="hlink" folHlink="folHlink"/>
  <p:sldLayoutIdLst>
    <p:sldLayoutId id="2147483831" r:id="rId1"/>
    <p:sldLayoutId id="2147483846" r:id="rId2"/>
    <p:sldLayoutId id="2147483847" r:id="rId3"/>
    <p:sldLayoutId id="2147483844" r:id="rId4"/>
    <p:sldLayoutId id="2147483845" r:id="rId5"/>
    <p:sldLayoutId id="2147483834" r:id="rId6"/>
    <p:sldLayoutId id="2147483836" r:id="rId7"/>
    <p:sldLayoutId id="2147483839" r:id="rId8"/>
    <p:sldLayoutId id="2147483782" r:id="rId9"/>
    <p:sldLayoutId id="2147483848" r:id="rId10"/>
    <p:sldLayoutId id="2147483818" r:id="rId11"/>
  </p:sldLayoutIdLst>
  <p:hf hdr="0" ftr="0" dt="0"/>
  <p:txStyles>
    <p:title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Clr>
          <a:srgbClr val="2597CB"/>
        </a:buClr>
        <a:buSzPct val="140000"/>
        <a:buFont typeface="Arial"/>
        <a:buChar char="•"/>
        <a:defRPr sz="1600" kern="1200">
          <a:solidFill>
            <a:srgbClr val="414042"/>
          </a:solidFill>
          <a:latin typeface="Arial" charset="0"/>
          <a:ea typeface="Arial" charset="0"/>
          <a:cs typeface="Arial" charset="0"/>
        </a:defRPr>
      </a:lvl1pPr>
      <a:lvl2pPr marL="687388" indent="-234950" algn="l" defTabSz="914400" rtl="0" eaLnBrk="1" latinLnBrk="0" hangingPunct="1">
        <a:lnSpc>
          <a:spcPct val="90000"/>
        </a:lnSpc>
        <a:spcBef>
          <a:spcPts val="500"/>
        </a:spcBef>
        <a:buClr>
          <a:srgbClr val="2597CB"/>
        </a:buClr>
        <a:buFont typeface="Courier New" charset="0"/>
        <a:buChar char="o"/>
        <a:defRPr sz="1400" kern="1200">
          <a:solidFill>
            <a:srgbClr val="414042"/>
          </a:solidFill>
          <a:latin typeface="Arial" charset="0"/>
          <a:ea typeface="Arial" charset="0"/>
          <a:cs typeface="Arial" charset="0"/>
        </a:defRPr>
      </a:lvl2pPr>
      <a:lvl3pPr marL="1141413" indent="-230188" algn="l" defTabSz="914400" rtl="0" eaLnBrk="1" latinLnBrk="0" hangingPunct="1">
        <a:lnSpc>
          <a:spcPct val="90000"/>
        </a:lnSpc>
        <a:spcBef>
          <a:spcPts val="500"/>
        </a:spcBef>
        <a:buClr>
          <a:srgbClr val="2597CB"/>
        </a:buClr>
        <a:buFont typeface="Arial"/>
        <a:buChar char="•"/>
        <a:defRPr sz="1200" kern="1200">
          <a:solidFill>
            <a:srgbClr val="414042"/>
          </a:solidFill>
          <a:latin typeface="Arial" charset="0"/>
          <a:ea typeface="Arial" charset="0"/>
          <a:cs typeface="Arial" charset="0"/>
        </a:defRPr>
      </a:lvl3pPr>
      <a:lvl4pPr marL="1601788" indent="-228600" algn="l" defTabSz="914400" rtl="0" eaLnBrk="1" latinLnBrk="0" hangingPunct="1">
        <a:lnSpc>
          <a:spcPct val="90000"/>
        </a:lnSpc>
        <a:spcBef>
          <a:spcPts val="500"/>
        </a:spcBef>
        <a:buClr>
          <a:srgbClr val="703F85"/>
        </a:buClr>
        <a:buSzPct val="60000"/>
        <a:buFont typeface="Courier New" charset="0"/>
        <a:buChar char="o"/>
        <a:defRPr sz="1100" kern="1200">
          <a:solidFill>
            <a:schemeClr val="tx1"/>
          </a:solidFill>
          <a:latin typeface="Arial" charset="0"/>
          <a:ea typeface="Arial" charset="0"/>
          <a:cs typeface="Arial" charset="0"/>
        </a:defRPr>
      </a:lvl4pPr>
      <a:lvl5pPr marL="2055813" indent="-230188" algn="l" defTabSz="914400" rtl="0" eaLnBrk="1" latinLnBrk="0" hangingPunct="1">
        <a:lnSpc>
          <a:spcPct val="90000"/>
        </a:lnSpc>
        <a:spcBef>
          <a:spcPts val="500"/>
        </a:spcBef>
        <a:buClr>
          <a:srgbClr val="703F85"/>
        </a:buClr>
        <a:buFont typeface="Arial"/>
        <a:buChar char="•"/>
        <a:defRPr sz="11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userDrawn="1">
          <p15:clr>
            <a:srgbClr val="F26B43"/>
          </p15:clr>
        </p15:guide>
        <p15:guide id="4" orient="horz" pos="540">
          <p15:clr>
            <a:srgbClr val="F26B43"/>
          </p15:clr>
        </p15:guide>
        <p15:guide id="5" orient="horz" pos="3156" userDrawn="1">
          <p15:clr>
            <a:srgbClr val="F26B43"/>
          </p15:clr>
        </p15:guide>
        <p15:guide id="6" pos="2880" userDrawn="1">
          <p15:clr>
            <a:srgbClr val="F26B43"/>
          </p15:clr>
        </p15:guide>
        <p15:guide id="7" orient="horz" pos="17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gaming.stackexchange.com/questions/132046/in-what-year-is-the-game-occurring" TargetMode="External"/><Relationship Id="rId2" Type="http://schemas.openxmlformats.org/officeDocument/2006/relationships/image" Target="../media/image4.jpg"/><Relationship Id="rId1" Type="http://schemas.openxmlformats.org/officeDocument/2006/relationships/slideLayout" Target="../slideLayouts/slideLayout11.xml"/><Relationship Id="rId4" Type="http://schemas.openxmlformats.org/officeDocument/2006/relationships/hyperlink" Target="https://creativecommons.org/licenses/by-sa/3.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www.spaulforrest.com/2011/06/private-prisons-and-american-police.html"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hyperlink" Target="https://www.sketchport.com/drawing/4583797297250304/spread-kindness-lov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theconversation.com/feedback-from-teachers-doesnt-always-help-pupils-improve-41000" TargetMode="External"/><Relationship Id="rId2" Type="http://schemas.openxmlformats.org/officeDocument/2006/relationships/image" Target="../media/image1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6F389E-DF5C-41EB-9EED-BCA8E7DFEF8A}"/>
              </a:ext>
            </a:extLst>
          </p:cNvPr>
          <p:cNvSpPr>
            <a:spLocks noGrp="1"/>
          </p:cNvSpPr>
          <p:nvPr>
            <p:ph type="body" sz="quarter" idx="10"/>
          </p:nvPr>
        </p:nvSpPr>
        <p:spPr/>
        <p:txBody>
          <a:bodyPr>
            <a:normAutofit/>
          </a:bodyPr>
          <a:lstStyle/>
          <a:p>
            <a:r>
              <a:rPr lang="en-US" dirty="0"/>
              <a:t>Mrs. Schafer</a:t>
            </a:r>
          </a:p>
        </p:txBody>
      </p:sp>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p:txBody>
          <a:bodyPr/>
          <a:lstStyle/>
          <a:p>
            <a:r>
              <a:rPr lang="en-US" dirty="0"/>
              <a:t>Business &amp; Marketing, Digital Marketing &amp; Social Media, &amp; Economics</a:t>
            </a:r>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a:xfrm>
            <a:off x="3091912" y="1773568"/>
            <a:ext cx="5203825" cy="1648901"/>
          </a:xfrm>
        </p:spPr>
        <p:txBody>
          <a:bodyPr/>
          <a:lstStyle/>
          <a:p>
            <a:r>
              <a:rPr lang="en-US" sz="2000" dirty="0"/>
              <a:t>Microeconomics</a:t>
            </a:r>
          </a:p>
          <a:p>
            <a:pPr lvl="1"/>
            <a:r>
              <a:rPr lang="en-US" sz="1800" dirty="0"/>
              <a:t>Game Theory</a:t>
            </a:r>
          </a:p>
          <a:p>
            <a:r>
              <a:rPr lang="en-US" sz="2000" dirty="0"/>
              <a:t>March Precept</a:t>
            </a:r>
          </a:p>
          <a:p>
            <a:r>
              <a:rPr lang="en-US" sz="2000" dirty="0"/>
              <a:t>Give to Get</a:t>
            </a:r>
          </a:p>
          <a:p>
            <a:pPr lvl="1"/>
            <a:r>
              <a:rPr lang="en-US" sz="1800" dirty="0"/>
              <a:t>Kudos assignment</a:t>
            </a:r>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E159DC-C4BB-4ED9-8CBA-67BB6289CC6F}"/>
              </a:ext>
            </a:extLst>
          </p:cNvPr>
          <p:cNvSpPr>
            <a:spLocks noGrp="1"/>
          </p:cNvSpPr>
          <p:nvPr>
            <p:ph type="title"/>
          </p:nvPr>
        </p:nvSpPr>
        <p:spPr>
          <a:xfrm>
            <a:off x="1728216" y="2184061"/>
            <a:ext cx="5687568" cy="952270"/>
          </a:xfrm>
        </p:spPr>
        <p:txBody>
          <a:bodyPr/>
          <a:lstStyle/>
          <a:p>
            <a:r>
              <a:rPr lang="en-US" dirty="0"/>
              <a:t>Game THEORY!!!</a:t>
            </a:r>
          </a:p>
        </p:txBody>
      </p:sp>
    </p:spTree>
    <p:extLst>
      <p:ext uri="{BB962C8B-B14F-4D97-AF65-F5344CB8AC3E}">
        <p14:creationId xmlns:p14="http://schemas.microsoft.com/office/powerpoint/2010/main" val="2970944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B83D5BCF-3C52-4C5F-842D-9A0F0B766366}"/>
              </a:ext>
            </a:extLst>
          </p:cNvPr>
          <p:cNvSpPr txBox="1">
            <a:spLocks/>
          </p:cNvSpPr>
          <p:nvPr/>
        </p:nvSpPr>
        <p:spPr>
          <a:xfrm>
            <a:off x="0" y="139129"/>
            <a:ext cx="9144000" cy="382198"/>
          </a:xfrm>
          <a:prstGeom prst="rect">
            <a:avLst/>
          </a:prstGeom>
        </p:spPr>
        <p:txBody>
          <a:bodyPr/>
          <a:lstStyle>
            <a:lvl1pPr algn="l" defTabSz="914400" rtl="0" eaLnBrk="1" latinLnBrk="0" hangingPunct="1">
              <a:lnSpc>
                <a:spcPct val="90000"/>
              </a:lnSpc>
              <a:spcBef>
                <a:spcPct val="0"/>
              </a:spcBef>
              <a:buNone/>
              <a:defRPr sz="2000" kern="1200">
                <a:solidFill>
                  <a:schemeClr val="bg1"/>
                </a:solidFill>
                <a:latin typeface="Arial" charset="0"/>
                <a:ea typeface="Arial" charset="0"/>
                <a:cs typeface="Arial" charset="0"/>
              </a:defRPr>
            </a:lvl1pPr>
          </a:lstStyle>
          <a:p>
            <a:pPr algn="ctr"/>
            <a:r>
              <a:rPr lang="en-US" dirty="0">
                <a:solidFill>
                  <a:schemeClr val="tx1"/>
                </a:solidFill>
              </a:rPr>
              <a:t>Who volunteers to rob a bank together? (Need 2 volunteers)</a:t>
            </a:r>
            <a:endParaRPr lang="en-US" dirty="0"/>
          </a:p>
        </p:txBody>
      </p:sp>
      <p:pic>
        <p:nvPicPr>
          <p:cNvPr id="5" name="Picture 4" descr="Text&#10;&#10;Description automatically generated">
            <a:extLst>
              <a:ext uri="{FF2B5EF4-FFF2-40B4-BE49-F238E27FC236}">
                <a16:creationId xmlns:a16="http://schemas.microsoft.com/office/drawing/2014/main" id="{E83F137D-08CC-4E68-B67D-564FA46B8513}"/>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8450"/>
          <a:stretch/>
        </p:blipFill>
        <p:spPr>
          <a:xfrm>
            <a:off x="1042333" y="782562"/>
            <a:ext cx="7059334" cy="3578376"/>
          </a:xfrm>
          <a:prstGeom prst="rect">
            <a:avLst/>
          </a:prstGeom>
        </p:spPr>
      </p:pic>
      <p:sp>
        <p:nvSpPr>
          <p:cNvPr id="7" name="TextBox 6">
            <a:extLst>
              <a:ext uri="{FF2B5EF4-FFF2-40B4-BE49-F238E27FC236}">
                <a16:creationId xmlns:a16="http://schemas.microsoft.com/office/drawing/2014/main" id="{F6F237D3-C308-40A6-9FF4-2FBAE4C61DAB}"/>
              </a:ext>
            </a:extLst>
          </p:cNvPr>
          <p:cNvSpPr txBox="1"/>
          <p:nvPr/>
        </p:nvSpPr>
        <p:spPr>
          <a:xfrm>
            <a:off x="959601" y="5737860"/>
            <a:ext cx="8128000" cy="230832"/>
          </a:xfrm>
          <a:prstGeom prst="rect">
            <a:avLst/>
          </a:prstGeom>
          <a:noFill/>
        </p:spPr>
        <p:txBody>
          <a:bodyPr wrap="square" rtlCol="0">
            <a:spAutoFit/>
          </a:bodyPr>
          <a:lstStyle/>
          <a:p>
            <a:r>
              <a:rPr lang="en-US" sz="900">
                <a:hlinkClick r:id="rId3" tooltip="http://gaming.stackexchange.com/questions/132046/in-what-year-is-the-game-occurring"/>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514156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9076DE-EABF-403F-B3EA-4DC77640FE76}"/>
              </a:ext>
            </a:extLst>
          </p:cNvPr>
          <p:cNvSpPr>
            <a:spLocks noGrp="1"/>
          </p:cNvSpPr>
          <p:nvPr>
            <p:ph type="body" sz="quarter" idx="18"/>
          </p:nvPr>
        </p:nvSpPr>
        <p:spPr>
          <a:xfrm>
            <a:off x="692306" y="865565"/>
            <a:ext cx="4120993" cy="3554299"/>
          </a:xfrm>
        </p:spPr>
        <p:txBody>
          <a:bodyPr/>
          <a:lstStyle/>
          <a:p>
            <a:r>
              <a:rPr lang="en-US" dirty="0"/>
              <a:t>Both members of the bank heist are arrested and imprisoned. </a:t>
            </a:r>
          </a:p>
          <a:p>
            <a:r>
              <a:rPr lang="en-US" dirty="0"/>
              <a:t>Each prisoner is in solitary confinement with no means of communicating with the other. The prosecutors lack sufficient evidence to convict the pair on the full robbery, but they have enough to convict both on a lesser charge—parking illegally. </a:t>
            </a:r>
          </a:p>
          <a:p>
            <a:r>
              <a:rPr lang="en-US" dirty="0"/>
              <a:t>Simultaneously, the prosecutors offer each prisoner a bargain. Each prisoner is given the opportunity either to betray the other by testifying that the other committed the crime or they can remain silent. </a:t>
            </a:r>
          </a:p>
          <a:p>
            <a:r>
              <a:rPr lang="en-US" dirty="0"/>
              <a:t>What are you going to do?</a:t>
            </a:r>
          </a:p>
        </p:txBody>
      </p:sp>
      <p:sp>
        <p:nvSpPr>
          <p:cNvPr id="3" name="Title 2">
            <a:extLst>
              <a:ext uri="{FF2B5EF4-FFF2-40B4-BE49-F238E27FC236}">
                <a16:creationId xmlns:a16="http://schemas.microsoft.com/office/drawing/2014/main" id="{FEF45FE7-108E-40E5-9250-C7D5063F5C4A}"/>
              </a:ext>
            </a:extLst>
          </p:cNvPr>
          <p:cNvSpPr>
            <a:spLocks noGrp="1"/>
          </p:cNvSpPr>
          <p:nvPr>
            <p:ph type="title"/>
          </p:nvPr>
        </p:nvSpPr>
        <p:spPr/>
        <p:txBody>
          <a:bodyPr/>
          <a:lstStyle/>
          <a:p>
            <a:r>
              <a:rPr lang="en-US" dirty="0"/>
              <a:t>SHUCKS! YOU GOT CAUGHT!</a:t>
            </a:r>
          </a:p>
        </p:txBody>
      </p:sp>
      <p:pic>
        <p:nvPicPr>
          <p:cNvPr id="5" name="Picture 4" descr="A picture containing outdoor&#10;&#10;Description automatically generated">
            <a:extLst>
              <a:ext uri="{FF2B5EF4-FFF2-40B4-BE49-F238E27FC236}">
                <a16:creationId xmlns:a16="http://schemas.microsoft.com/office/drawing/2014/main" id="{C27B0E14-E52A-4E4C-B97F-ADFAF859091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08595" y="1428750"/>
            <a:ext cx="3772378" cy="2513936"/>
          </a:xfrm>
          <a:prstGeom prst="rect">
            <a:avLst/>
          </a:prstGeom>
        </p:spPr>
      </p:pic>
    </p:spTree>
    <p:extLst>
      <p:ext uri="{BB962C8B-B14F-4D97-AF65-F5344CB8AC3E}">
        <p14:creationId xmlns:p14="http://schemas.microsoft.com/office/powerpoint/2010/main" val="242764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AC7093-A942-4745-8B61-BB6C42596BAF}"/>
              </a:ext>
            </a:extLst>
          </p:cNvPr>
          <p:cNvSpPr>
            <a:spLocks noGrp="1"/>
          </p:cNvSpPr>
          <p:nvPr>
            <p:ph type="title"/>
          </p:nvPr>
        </p:nvSpPr>
        <p:spPr>
          <a:xfrm>
            <a:off x="1728216" y="2055186"/>
            <a:ext cx="5687568" cy="952270"/>
          </a:xfrm>
        </p:spPr>
        <p:txBody>
          <a:bodyPr/>
          <a:lstStyle/>
          <a:p>
            <a:r>
              <a:rPr lang="en-US" dirty="0"/>
              <a:t>Welcome to the Prisoner’s Dilemma…</a:t>
            </a:r>
          </a:p>
        </p:txBody>
      </p:sp>
    </p:spTree>
    <p:extLst>
      <p:ext uri="{BB962C8B-B14F-4D97-AF65-F5344CB8AC3E}">
        <p14:creationId xmlns:p14="http://schemas.microsoft.com/office/powerpoint/2010/main" val="222836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4BD9C-686C-459D-B5A8-CF95B75B2BE1}"/>
              </a:ext>
            </a:extLst>
          </p:cNvPr>
          <p:cNvSpPr>
            <a:spLocks noGrp="1"/>
          </p:cNvSpPr>
          <p:nvPr>
            <p:ph type="title"/>
          </p:nvPr>
        </p:nvSpPr>
        <p:spPr>
          <a:xfrm>
            <a:off x="1728216" y="2112336"/>
            <a:ext cx="5687568" cy="952270"/>
          </a:xfrm>
        </p:spPr>
        <p:txBody>
          <a:bodyPr/>
          <a:lstStyle/>
          <a:p>
            <a:r>
              <a:rPr lang="en-US" dirty="0"/>
              <a:t>Breakout 1: Each Prisoner with Their </a:t>
            </a:r>
            <a:r>
              <a:rPr lang="en-US" dirty="0" err="1"/>
              <a:t>LawyerS</a:t>
            </a:r>
            <a:endParaRPr lang="en-US" dirty="0"/>
          </a:p>
        </p:txBody>
      </p:sp>
    </p:spTree>
    <p:extLst>
      <p:ext uri="{BB962C8B-B14F-4D97-AF65-F5344CB8AC3E}">
        <p14:creationId xmlns:p14="http://schemas.microsoft.com/office/powerpoint/2010/main" val="1774816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82D542-F9DC-4334-BF00-81E3060E5222}"/>
              </a:ext>
            </a:extLst>
          </p:cNvPr>
          <p:cNvSpPr>
            <a:spLocks noGrp="1"/>
          </p:cNvSpPr>
          <p:nvPr>
            <p:ph type="title"/>
          </p:nvPr>
        </p:nvSpPr>
        <p:spPr>
          <a:xfrm>
            <a:off x="692307" y="139129"/>
            <a:ext cx="3187170" cy="382198"/>
          </a:xfrm>
        </p:spPr>
        <p:txBody>
          <a:bodyPr/>
          <a:lstStyle/>
          <a:p>
            <a:r>
              <a:rPr lang="en-US" dirty="0"/>
              <a:t>Are you going to rat out your partner?</a:t>
            </a:r>
          </a:p>
        </p:txBody>
      </p:sp>
      <p:pic>
        <p:nvPicPr>
          <p:cNvPr id="1028" name="Picture 4" descr="Game theory - The prisoner's dilemma | Britannica">
            <a:extLst>
              <a:ext uri="{FF2B5EF4-FFF2-40B4-BE49-F238E27FC236}">
                <a16:creationId xmlns:a16="http://schemas.microsoft.com/office/drawing/2014/main" id="{82EDCC37-DC60-4E6E-A1C6-C378AAB97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525" y="139129"/>
            <a:ext cx="4541742" cy="45417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0A4981-D02C-4D61-BEA3-55FB1520291D}"/>
              </a:ext>
            </a:extLst>
          </p:cNvPr>
          <p:cNvSpPr txBox="1"/>
          <p:nvPr/>
        </p:nvSpPr>
        <p:spPr>
          <a:xfrm>
            <a:off x="779712" y="1054522"/>
            <a:ext cx="2931676" cy="1754326"/>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rPr>
              <a:t>What will you do?</a:t>
            </a:r>
          </a:p>
          <a:p>
            <a:pPr marL="171450" indent="-171450">
              <a:buFont typeface="Arial" panose="020B0604020202020204" pitchFamily="34" charset="0"/>
              <a:buChar char="•"/>
            </a:pPr>
            <a:endParaRPr lang="en-US" sz="1200" dirty="0">
              <a:latin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rPr>
              <a:t>Break the class into two groups for 5 min. </a:t>
            </a:r>
          </a:p>
          <a:p>
            <a:pPr marL="171450" indent="-171450">
              <a:buFont typeface="Arial" panose="020B0604020202020204" pitchFamily="34" charset="0"/>
              <a:buChar char="•"/>
            </a:pPr>
            <a:endParaRPr lang="en-US" sz="1200" dirty="0">
              <a:latin typeface="Arial" panose="020B0604020202020204" pitchFamily="34" charset="0"/>
            </a:endParaRPr>
          </a:p>
          <a:p>
            <a:pPr marL="171450" indent="-171450">
              <a:buFont typeface="Arial" panose="020B0604020202020204" pitchFamily="34" charset="0"/>
              <a:buChar char="•"/>
            </a:pPr>
            <a:r>
              <a:rPr lang="en-US" sz="1200" dirty="0">
                <a:latin typeface="Arial" panose="020B0604020202020204" pitchFamily="34" charset="0"/>
              </a:rPr>
              <a:t>Objective: to give advice to the criminal—should they confess or remain silent?</a:t>
            </a:r>
          </a:p>
          <a:p>
            <a:pPr marL="171450" indent="-171450">
              <a:buFont typeface="Arial" panose="020B0604020202020204" pitchFamily="34" charset="0"/>
              <a:buChar char="•"/>
            </a:pPr>
            <a:endParaRPr lang="en-US" sz="1200" dirty="0">
              <a:latin typeface="Arial" panose="020B0604020202020204" pitchFamily="34" charset="0"/>
            </a:endParaRPr>
          </a:p>
        </p:txBody>
      </p:sp>
      <p:sp>
        <p:nvSpPr>
          <p:cNvPr id="2" name="SMARTInkShape-1">
            <a:extLst>
              <a:ext uri="{FF2B5EF4-FFF2-40B4-BE49-F238E27FC236}">
                <a16:creationId xmlns:a16="http://schemas.microsoft.com/office/drawing/2014/main" id="{5FD94364-806D-3682-B1AE-3CC76DE600BE}"/>
              </a:ext>
            </a:extLst>
          </p:cNvPr>
          <p:cNvSpPr/>
          <p:nvPr>
            <p:custDataLst>
              <p:tags r:id="rId1"/>
            </p:custDataLst>
          </p:nvPr>
        </p:nvSpPr>
        <p:spPr>
          <a:xfrm>
            <a:off x="14288" y="3286125"/>
            <a:ext cx="17860" cy="42864"/>
          </a:xfrm>
          <a:custGeom>
            <a:avLst/>
            <a:gdLst/>
            <a:ahLst/>
            <a:cxnLst/>
            <a:rect l="0" t="0" r="0" b="0"/>
            <a:pathLst>
              <a:path w="17860" h="42864">
                <a:moveTo>
                  <a:pt x="0" y="0"/>
                </a:moveTo>
                <a:lnTo>
                  <a:pt x="0" y="0"/>
                </a:lnTo>
                <a:lnTo>
                  <a:pt x="9943" y="11840"/>
                </a:lnTo>
                <a:lnTo>
                  <a:pt x="17249" y="27278"/>
                </a:lnTo>
                <a:lnTo>
                  <a:pt x="17056" y="28107"/>
                </a:lnTo>
                <a:lnTo>
                  <a:pt x="15782" y="30087"/>
                </a:lnTo>
                <a:lnTo>
                  <a:pt x="15681" y="30774"/>
                </a:lnTo>
                <a:lnTo>
                  <a:pt x="16010" y="31231"/>
                </a:lnTo>
                <a:lnTo>
                  <a:pt x="16626" y="31536"/>
                </a:lnTo>
                <a:lnTo>
                  <a:pt x="17037" y="32137"/>
                </a:lnTo>
                <a:lnTo>
                  <a:pt x="17827" y="35556"/>
                </a:lnTo>
                <a:lnTo>
                  <a:pt x="17859" y="42863"/>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58167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82D542-F9DC-4334-BF00-81E3060E5222}"/>
              </a:ext>
            </a:extLst>
          </p:cNvPr>
          <p:cNvSpPr>
            <a:spLocks noGrp="1"/>
          </p:cNvSpPr>
          <p:nvPr>
            <p:ph type="title"/>
          </p:nvPr>
        </p:nvSpPr>
        <p:spPr>
          <a:xfrm>
            <a:off x="692307" y="139129"/>
            <a:ext cx="3187170" cy="382198"/>
          </a:xfrm>
        </p:spPr>
        <p:txBody>
          <a:bodyPr/>
          <a:lstStyle/>
          <a:p>
            <a:r>
              <a:rPr lang="en-US" dirty="0"/>
              <a:t>Are you going to rat out your partner?</a:t>
            </a:r>
          </a:p>
        </p:txBody>
      </p:sp>
      <p:pic>
        <p:nvPicPr>
          <p:cNvPr id="1028" name="Picture 4" descr="Game theory - The prisoner's dilemma | Britannica">
            <a:extLst>
              <a:ext uri="{FF2B5EF4-FFF2-40B4-BE49-F238E27FC236}">
                <a16:creationId xmlns:a16="http://schemas.microsoft.com/office/drawing/2014/main" id="{82EDCC37-DC60-4E6E-A1C6-C378AAB97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525" y="139129"/>
            <a:ext cx="4541742" cy="45417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0A4981-D02C-4D61-BEA3-55FB1520291D}"/>
              </a:ext>
            </a:extLst>
          </p:cNvPr>
          <p:cNvSpPr txBox="1"/>
          <p:nvPr/>
        </p:nvSpPr>
        <p:spPr>
          <a:xfrm>
            <a:off x="779712" y="1054522"/>
            <a:ext cx="2931676" cy="2562240"/>
          </a:xfrm>
          <a:prstGeom prst="rect">
            <a:avLst/>
          </a:prstGeom>
          <a:noFill/>
        </p:spPr>
        <p:txBody>
          <a:bodyPr wrap="square" rtlCol="0">
            <a:spAutoFit/>
          </a:bodyPr>
          <a:lstStyle/>
          <a:p>
            <a:endParaRPr lang="en-US" sz="1200" dirty="0">
              <a:latin typeface="Arial" panose="020B0604020202020204" pitchFamily="34" charset="0"/>
            </a:endParaRPr>
          </a:p>
          <a:p>
            <a:pPr marL="171450" indent="-171450">
              <a:buFont typeface="Arial" panose="020B0604020202020204" pitchFamily="34" charset="0"/>
              <a:buChar char="•"/>
            </a:pPr>
            <a:r>
              <a:rPr lang="en-US" dirty="0"/>
              <a:t>The </a:t>
            </a:r>
            <a:r>
              <a:rPr lang="en-US" b="1" dirty="0"/>
              <a:t>prisoner's dilemma</a:t>
            </a:r>
            <a:r>
              <a:rPr lang="en-US" dirty="0"/>
              <a:t> is a paradox in decision analysis in which two individuals acting in their own self-interests do not produce the optimal outcome.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typical </a:t>
            </a:r>
            <a:r>
              <a:rPr lang="en-US" b="1" dirty="0"/>
              <a:t>prisoner's dilemma</a:t>
            </a:r>
            <a:r>
              <a:rPr lang="en-US" dirty="0"/>
              <a:t> is set up in such a way that both parties choose to protect themselves at the expense of the other participant.</a:t>
            </a:r>
            <a:endParaRPr lang="en-US" sz="1200" dirty="0">
              <a:latin typeface="Arial" panose="020B0604020202020204" pitchFamily="34" charset="0"/>
            </a:endParaRPr>
          </a:p>
        </p:txBody>
      </p:sp>
      <p:sp>
        <p:nvSpPr>
          <p:cNvPr id="5" name="SMARTInkShape-3">
            <a:extLst>
              <a:ext uri="{FF2B5EF4-FFF2-40B4-BE49-F238E27FC236}">
                <a16:creationId xmlns:a16="http://schemas.microsoft.com/office/drawing/2014/main" id="{4B02A371-FD7A-57D0-0448-1CC8041906BC}"/>
              </a:ext>
            </a:extLst>
          </p:cNvPr>
          <p:cNvSpPr/>
          <p:nvPr>
            <p:custDataLst>
              <p:tags r:id="rId1"/>
            </p:custDataLst>
          </p:nvPr>
        </p:nvSpPr>
        <p:spPr>
          <a:xfrm>
            <a:off x="0" y="4548188"/>
            <a:ext cx="7145" cy="1"/>
          </a:xfrm>
          <a:custGeom>
            <a:avLst/>
            <a:gdLst/>
            <a:ahLst/>
            <a:cxnLst/>
            <a:rect l="0" t="0" r="0" b="0"/>
            <a:pathLst>
              <a:path w="7145" h="1">
                <a:moveTo>
                  <a:pt x="0" y="0"/>
                </a:moveTo>
                <a:lnTo>
                  <a:pt x="0" y="0"/>
                </a:lnTo>
                <a:lnTo>
                  <a:pt x="7144" y="0"/>
                </a:lnTo>
              </a:path>
            </a:pathLst>
          </a:custGeom>
          <a:ln w="1905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41473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4BD9C-686C-459D-B5A8-CF95B75B2BE1}"/>
              </a:ext>
            </a:extLst>
          </p:cNvPr>
          <p:cNvSpPr>
            <a:spLocks noGrp="1"/>
          </p:cNvSpPr>
          <p:nvPr>
            <p:ph type="title"/>
          </p:nvPr>
        </p:nvSpPr>
        <p:spPr>
          <a:xfrm>
            <a:off x="1728216" y="2436186"/>
            <a:ext cx="5687568" cy="952270"/>
          </a:xfrm>
        </p:spPr>
        <p:txBody>
          <a:bodyPr/>
          <a:lstStyle/>
          <a:p>
            <a:r>
              <a:rPr lang="en-US" dirty="0"/>
              <a:t>Breakout 2: Let’s Try Again</a:t>
            </a:r>
            <a:br>
              <a:rPr lang="en-US" dirty="0"/>
            </a:br>
            <a:br>
              <a:rPr lang="en-US" dirty="0"/>
            </a:br>
            <a:r>
              <a:rPr lang="en-US" dirty="0"/>
              <a:t>Each Prisoner with Their </a:t>
            </a:r>
            <a:r>
              <a:rPr lang="en-US" dirty="0" err="1"/>
              <a:t>LawyerS</a:t>
            </a:r>
            <a:r>
              <a:rPr lang="en-US" dirty="0"/>
              <a:t>, now that they know what the other robber might do</a:t>
            </a:r>
          </a:p>
        </p:txBody>
      </p:sp>
    </p:spTree>
    <p:extLst>
      <p:ext uri="{BB962C8B-B14F-4D97-AF65-F5344CB8AC3E}">
        <p14:creationId xmlns:p14="http://schemas.microsoft.com/office/powerpoint/2010/main" val="954853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64BD9C-686C-459D-B5A8-CF95B75B2BE1}"/>
              </a:ext>
            </a:extLst>
          </p:cNvPr>
          <p:cNvSpPr>
            <a:spLocks noGrp="1"/>
          </p:cNvSpPr>
          <p:nvPr>
            <p:ph type="title"/>
          </p:nvPr>
        </p:nvSpPr>
        <p:spPr>
          <a:xfrm>
            <a:off x="1728216" y="2436186"/>
            <a:ext cx="5687568" cy="952270"/>
          </a:xfrm>
        </p:spPr>
        <p:txBody>
          <a:bodyPr/>
          <a:lstStyle/>
          <a:p>
            <a:r>
              <a:rPr lang="en-US" dirty="0"/>
              <a:t>Breakout 3: One Last Time</a:t>
            </a:r>
            <a:br>
              <a:rPr lang="en-US" dirty="0"/>
            </a:br>
            <a:br>
              <a:rPr lang="en-US" dirty="0"/>
            </a:br>
            <a:r>
              <a:rPr lang="en-US" dirty="0"/>
              <a:t>What if the prisoners trust each other a lot? (Need two Really Good Friends to volunteer)</a:t>
            </a:r>
          </a:p>
        </p:txBody>
      </p:sp>
      <p:sp>
        <p:nvSpPr>
          <p:cNvPr id="2" name="TextBox 1">
            <a:extLst>
              <a:ext uri="{FF2B5EF4-FFF2-40B4-BE49-F238E27FC236}">
                <a16:creationId xmlns:a16="http://schemas.microsoft.com/office/drawing/2014/main" id="{774D18A1-9D8A-6F55-F77B-80E4DB98EDEB}"/>
              </a:ext>
            </a:extLst>
          </p:cNvPr>
          <p:cNvSpPr txBox="1"/>
          <p:nvPr/>
        </p:nvSpPr>
        <p:spPr>
          <a:xfrm>
            <a:off x="3625850" y="1698625"/>
            <a:ext cx="1828800" cy="1828800"/>
          </a:xfrm>
          <a:prstGeom prst="rect">
            <a:avLst/>
          </a:prstGeom>
          <a:noFill/>
        </p:spPr>
        <p:txBody>
          <a:bodyPr wrap="square" rtlCol="0">
            <a:spAutoFit/>
          </a:bodyPr>
          <a:lstStyle/>
          <a:p>
            <a:r>
              <a:rPr lang="en-US" sz="1200" kern="1200" dirty="0" err="1">
                <a:solidFill>
                  <a:schemeClr val="tx1"/>
                </a:solidFill>
                <a:latin typeface="Arial" panose="020B0604020202020204" pitchFamily="34" charset="0"/>
                <a:ea typeface="+mn-ea"/>
                <a:cs typeface="+mn-cs"/>
              </a:rPr>
              <a:t>Your text here</a:t>
            </a:r>
          </a:p>
        </p:txBody>
      </p:sp>
    </p:spTree>
    <p:extLst>
      <p:ext uri="{BB962C8B-B14F-4D97-AF65-F5344CB8AC3E}">
        <p14:creationId xmlns:p14="http://schemas.microsoft.com/office/powerpoint/2010/main" val="1546697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356E59-5AF0-4246-BE04-3A0EFF48CA32}"/>
              </a:ext>
            </a:extLst>
          </p:cNvPr>
          <p:cNvSpPr>
            <a:spLocks noGrp="1"/>
          </p:cNvSpPr>
          <p:nvPr>
            <p:ph type="body" sz="quarter" idx="18"/>
          </p:nvPr>
        </p:nvSpPr>
        <p:spPr>
          <a:xfrm>
            <a:off x="692306" y="865565"/>
            <a:ext cx="6100380" cy="3554299"/>
          </a:xfrm>
        </p:spPr>
        <p:txBody>
          <a:bodyPr/>
          <a:lstStyle/>
          <a:p>
            <a:r>
              <a:rPr lang="en-US" b="1" dirty="0"/>
              <a:t>Prisoner's dilemma</a:t>
            </a:r>
            <a:r>
              <a:rPr lang="en-US" dirty="0"/>
              <a:t> is </a:t>
            </a:r>
            <a:r>
              <a:rPr lang="en-US" dirty="0">
                <a:solidFill>
                  <a:schemeClr val="tx1"/>
                </a:solidFill>
              </a:rPr>
              <a:t>a standard example of a game analyzed in game theory that shows why two completely rational individuals might not cooperate, even if it appears that it is in their best interests to do so</a:t>
            </a:r>
          </a:p>
          <a:p>
            <a:r>
              <a:rPr lang="en-US" b="1" dirty="0">
                <a:solidFill>
                  <a:schemeClr val="tx1"/>
                </a:solidFill>
              </a:rPr>
              <a:t>Game theory</a:t>
            </a:r>
            <a:r>
              <a:rPr lang="en-US" dirty="0">
                <a:solidFill>
                  <a:schemeClr val="tx1"/>
                </a:solidFill>
              </a:rPr>
              <a:t> is the study of mathematical models of strategic interaction among rational decision-makers. It has applications in all fields of social science and computer science. </a:t>
            </a:r>
          </a:p>
          <a:p>
            <a:r>
              <a:rPr lang="en-US" dirty="0">
                <a:solidFill>
                  <a:schemeClr val="tx1"/>
                </a:solidFill>
              </a:rPr>
              <a:t>Game theory did not really exist as a unique field until John von Neumann published the paper </a:t>
            </a:r>
            <a:r>
              <a:rPr lang="en-US" i="1" dirty="0">
                <a:solidFill>
                  <a:schemeClr val="tx1"/>
                </a:solidFill>
              </a:rPr>
              <a:t>On the Theory of Games of Strategy</a:t>
            </a:r>
            <a:r>
              <a:rPr lang="en-US" dirty="0">
                <a:solidFill>
                  <a:schemeClr val="tx1"/>
                </a:solidFill>
              </a:rPr>
              <a:t> in 1928.</a:t>
            </a:r>
          </a:p>
          <a:p>
            <a:r>
              <a:rPr lang="en-US" b="1" dirty="0">
                <a:solidFill>
                  <a:schemeClr val="tx1"/>
                </a:solidFill>
              </a:rPr>
              <a:t>Brinkmanship</a:t>
            </a:r>
            <a:r>
              <a:rPr lang="en-US" dirty="0">
                <a:solidFill>
                  <a:schemeClr val="tx1"/>
                </a:solidFill>
              </a:rPr>
              <a:t> is a way this theory is used in diplomacy: </a:t>
            </a:r>
            <a:r>
              <a:rPr lang="en-US" dirty="0"/>
              <a:t>the practice of trying to achieve an advantageous outcome by pushing dangerous events to the brink of active conflict. The tactic occurs in international politics, foreign policy, labor relations, contemporary military strategy, and high-stakes litigation. </a:t>
            </a:r>
            <a:endParaRPr lang="en-US" dirty="0">
              <a:solidFill>
                <a:schemeClr val="tx1"/>
              </a:solidFill>
            </a:endParaRPr>
          </a:p>
        </p:txBody>
      </p:sp>
      <p:sp>
        <p:nvSpPr>
          <p:cNvPr id="3" name="Title 2">
            <a:extLst>
              <a:ext uri="{FF2B5EF4-FFF2-40B4-BE49-F238E27FC236}">
                <a16:creationId xmlns:a16="http://schemas.microsoft.com/office/drawing/2014/main" id="{0BFCB459-B8AA-48D9-9DC0-AF097BFCF5FC}"/>
              </a:ext>
            </a:extLst>
          </p:cNvPr>
          <p:cNvSpPr>
            <a:spLocks noGrp="1"/>
          </p:cNvSpPr>
          <p:nvPr>
            <p:ph type="title"/>
          </p:nvPr>
        </p:nvSpPr>
        <p:spPr/>
        <p:txBody>
          <a:bodyPr/>
          <a:lstStyle/>
          <a:p>
            <a:r>
              <a:rPr lang="en-US" dirty="0"/>
              <a:t>Economics Game Theory</a:t>
            </a:r>
          </a:p>
        </p:txBody>
      </p:sp>
      <p:pic>
        <p:nvPicPr>
          <p:cNvPr id="2050" name="Picture 2">
            <a:extLst>
              <a:ext uri="{FF2B5EF4-FFF2-40B4-BE49-F238E27FC236}">
                <a16:creationId xmlns:a16="http://schemas.microsoft.com/office/drawing/2014/main" id="{93A76C2E-8625-4D14-9AAA-ACAA6BB0A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9327" y="2446509"/>
            <a:ext cx="161925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92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356E59-5AF0-4246-BE04-3A0EFF48CA32}"/>
              </a:ext>
            </a:extLst>
          </p:cNvPr>
          <p:cNvSpPr>
            <a:spLocks noGrp="1"/>
          </p:cNvSpPr>
          <p:nvPr>
            <p:ph type="body" sz="quarter" idx="18"/>
          </p:nvPr>
        </p:nvSpPr>
        <p:spPr/>
        <p:txBody>
          <a:bodyPr/>
          <a:lstStyle/>
          <a:p>
            <a:r>
              <a:rPr lang="en-US" dirty="0"/>
              <a:t>In 1950, the first mathematical discussion of the prison’s dilemma appeared, and an experiment was undertaken by notable mathematicians </a:t>
            </a:r>
            <a:r>
              <a:rPr lang="en-US" dirty="0" err="1"/>
              <a:t>Merill</a:t>
            </a:r>
            <a:r>
              <a:rPr lang="en-US" dirty="0"/>
              <a:t> M. Flood and Melvin Dresher, as part of the Rand Corporation’s investigations into game theory. RAND pursued the studies because of possible applications to global nuclear strategy. </a:t>
            </a:r>
          </a:p>
          <a:p>
            <a:r>
              <a:rPr lang="en-US" dirty="0"/>
              <a:t>In the 1970s, game theory was extensively applied in biology, largely as a result of the work of John Maynard Smith and his evolutionary stable strategy.</a:t>
            </a:r>
          </a:p>
          <a:p>
            <a:r>
              <a:rPr lang="en-US" dirty="0"/>
              <a:t>Where have you seen brinkmanship occurring in current events and/or history? </a:t>
            </a:r>
          </a:p>
        </p:txBody>
      </p:sp>
      <p:sp>
        <p:nvSpPr>
          <p:cNvPr id="3" name="Title 2">
            <a:extLst>
              <a:ext uri="{FF2B5EF4-FFF2-40B4-BE49-F238E27FC236}">
                <a16:creationId xmlns:a16="http://schemas.microsoft.com/office/drawing/2014/main" id="{0BFCB459-B8AA-48D9-9DC0-AF097BFCF5FC}"/>
              </a:ext>
            </a:extLst>
          </p:cNvPr>
          <p:cNvSpPr>
            <a:spLocks noGrp="1"/>
          </p:cNvSpPr>
          <p:nvPr>
            <p:ph type="title"/>
          </p:nvPr>
        </p:nvSpPr>
        <p:spPr/>
        <p:txBody>
          <a:bodyPr/>
          <a:lstStyle/>
          <a:p>
            <a:r>
              <a:rPr lang="en-US" dirty="0"/>
              <a:t>Applications in Government and Science</a:t>
            </a:r>
          </a:p>
        </p:txBody>
      </p:sp>
    </p:spTree>
    <p:extLst>
      <p:ext uri="{BB962C8B-B14F-4D97-AF65-F5344CB8AC3E}">
        <p14:creationId xmlns:p14="http://schemas.microsoft.com/office/powerpoint/2010/main" val="425983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855E71-BEA5-42B4-827C-72A6890E0C3A}"/>
              </a:ext>
            </a:extLst>
          </p:cNvPr>
          <p:cNvSpPr>
            <a:spLocks noGrp="1"/>
          </p:cNvSpPr>
          <p:nvPr>
            <p:ph type="body" sz="quarter" idx="18"/>
          </p:nvPr>
        </p:nvSpPr>
        <p:spPr/>
        <p:txBody>
          <a:bodyPr/>
          <a:lstStyle/>
          <a:p>
            <a:r>
              <a:rPr lang="en-US" dirty="0"/>
              <a:t>Kind words do not cost much. Yet they accomplish much. –Blaise Pascal (French Mathematician) </a:t>
            </a:r>
          </a:p>
        </p:txBody>
      </p:sp>
      <p:sp>
        <p:nvSpPr>
          <p:cNvPr id="3" name="Title 2">
            <a:extLst>
              <a:ext uri="{FF2B5EF4-FFF2-40B4-BE49-F238E27FC236}">
                <a16:creationId xmlns:a16="http://schemas.microsoft.com/office/drawing/2014/main" id="{9AD6D437-4E61-4FAF-9869-8C36BF707F0C}"/>
              </a:ext>
            </a:extLst>
          </p:cNvPr>
          <p:cNvSpPr>
            <a:spLocks noGrp="1"/>
          </p:cNvSpPr>
          <p:nvPr>
            <p:ph type="title"/>
          </p:nvPr>
        </p:nvSpPr>
        <p:spPr/>
        <p:txBody>
          <a:bodyPr/>
          <a:lstStyle/>
          <a:p>
            <a:r>
              <a:rPr lang="en-US" dirty="0"/>
              <a:t>March Precept</a:t>
            </a:r>
          </a:p>
        </p:txBody>
      </p:sp>
      <p:pic>
        <p:nvPicPr>
          <p:cNvPr id="1026" name="Picture 2" descr="Blaise Pascal | Christian History | Christianity Today">
            <a:extLst>
              <a:ext uri="{FF2B5EF4-FFF2-40B4-BE49-F238E27FC236}">
                <a16:creationId xmlns:a16="http://schemas.microsoft.com/office/drawing/2014/main" id="{2BF95CC1-CBD8-43D2-A9FB-45C4945FE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3450" y="2207997"/>
            <a:ext cx="4122420" cy="23154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iagram&#10;&#10;Description automatically generated">
            <a:extLst>
              <a:ext uri="{FF2B5EF4-FFF2-40B4-BE49-F238E27FC236}">
                <a16:creationId xmlns:a16="http://schemas.microsoft.com/office/drawing/2014/main" id="{AE404E0D-9569-4301-9B66-E09F71B1D6E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34390" y="1397269"/>
            <a:ext cx="3296221" cy="3242658"/>
          </a:xfrm>
          <a:prstGeom prst="rect">
            <a:avLst/>
          </a:prstGeom>
        </p:spPr>
      </p:pic>
    </p:spTree>
    <p:extLst>
      <p:ext uri="{BB962C8B-B14F-4D97-AF65-F5344CB8AC3E}">
        <p14:creationId xmlns:p14="http://schemas.microsoft.com/office/powerpoint/2010/main" val="227910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34DC0D-DFBC-4D80-9A6B-5E4F7F56BF81}"/>
              </a:ext>
            </a:extLst>
          </p:cNvPr>
          <p:cNvSpPr>
            <a:spLocks noGrp="1"/>
          </p:cNvSpPr>
          <p:nvPr>
            <p:ph type="body" sz="quarter" idx="18"/>
          </p:nvPr>
        </p:nvSpPr>
        <p:spPr/>
        <p:txBody>
          <a:bodyPr/>
          <a:lstStyle/>
          <a:p>
            <a:r>
              <a:rPr lang="en-US" dirty="0"/>
              <a:t>Concept of give to get</a:t>
            </a:r>
          </a:p>
          <a:p>
            <a:r>
              <a:rPr lang="en-US" dirty="0"/>
              <a:t>Giving kudos at work, gets you recognition, credit, and goodwill</a:t>
            </a:r>
          </a:p>
          <a:p>
            <a:r>
              <a:rPr lang="en-US" dirty="0"/>
              <a:t>Assignment: </a:t>
            </a:r>
          </a:p>
          <a:p>
            <a:pPr lvl="1"/>
            <a:r>
              <a:rPr lang="en-US" dirty="0"/>
              <a:t>Give written kudos to someone who helped you or who you thought did a good job. </a:t>
            </a:r>
          </a:p>
          <a:p>
            <a:pPr lvl="2"/>
            <a:r>
              <a:rPr lang="en-US" dirty="0"/>
              <a:t>Examples: Peer, Teacher, Coach, etc. (Can’t give kudos to Mrs. Schafer or any family members)</a:t>
            </a:r>
          </a:p>
          <a:p>
            <a:pPr lvl="1"/>
            <a:r>
              <a:rPr lang="en-US" dirty="0"/>
              <a:t>Send the written kudos to the person’s supervisor in an email and cc the person you’re giving kudos to</a:t>
            </a:r>
          </a:p>
          <a:p>
            <a:pPr lvl="1"/>
            <a:r>
              <a:rPr lang="en-US" dirty="0"/>
              <a:t>Watch for the reaction</a:t>
            </a:r>
          </a:p>
          <a:p>
            <a:pPr lvl="1"/>
            <a:r>
              <a:rPr lang="en-US" dirty="0"/>
              <a:t>Paste a screenshot of the written kudos and your observations on the reaction into your </a:t>
            </a:r>
            <a:r>
              <a:rPr lang="en-US"/>
              <a:t>Teams assignment</a:t>
            </a:r>
            <a:endParaRPr lang="en-US" dirty="0"/>
          </a:p>
          <a:p>
            <a:pPr lvl="2"/>
            <a:endParaRPr lang="en-US" dirty="0"/>
          </a:p>
        </p:txBody>
      </p:sp>
      <p:sp>
        <p:nvSpPr>
          <p:cNvPr id="3" name="Title 2">
            <a:extLst>
              <a:ext uri="{FF2B5EF4-FFF2-40B4-BE49-F238E27FC236}">
                <a16:creationId xmlns:a16="http://schemas.microsoft.com/office/drawing/2014/main" id="{7BB45C45-4D3B-4FC8-B3D9-06D66D6F21F6}"/>
              </a:ext>
            </a:extLst>
          </p:cNvPr>
          <p:cNvSpPr>
            <a:spLocks noGrp="1"/>
          </p:cNvSpPr>
          <p:nvPr>
            <p:ph type="title"/>
          </p:nvPr>
        </p:nvSpPr>
        <p:spPr/>
        <p:txBody>
          <a:bodyPr/>
          <a:lstStyle/>
          <a:p>
            <a:r>
              <a:rPr lang="en-US" dirty="0"/>
              <a:t>Assignment-Give Kudos</a:t>
            </a:r>
          </a:p>
        </p:txBody>
      </p:sp>
      <p:pic>
        <p:nvPicPr>
          <p:cNvPr id="8" name="Picture 7">
            <a:extLst>
              <a:ext uri="{FF2B5EF4-FFF2-40B4-BE49-F238E27FC236}">
                <a16:creationId xmlns:a16="http://schemas.microsoft.com/office/drawing/2014/main" id="{73A6469E-D631-4576-9D1D-ACA1737C158C}"/>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8973" b="33507"/>
          <a:stretch/>
        </p:blipFill>
        <p:spPr>
          <a:xfrm>
            <a:off x="2327957" y="3492348"/>
            <a:ext cx="4488086" cy="1271754"/>
          </a:xfrm>
          <a:prstGeom prst="rect">
            <a:avLst/>
          </a:prstGeom>
        </p:spPr>
      </p:pic>
    </p:spTree>
    <p:extLst>
      <p:ext uri="{BB962C8B-B14F-4D97-AF65-F5344CB8AC3E}">
        <p14:creationId xmlns:p14="http://schemas.microsoft.com/office/powerpoint/2010/main" val="4291133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DD89C5D911BC046B277DCAF5366D800" ma:contentTypeVersion="4" ma:contentTypeDescription="Create a new document." ma:contentTypeScope="" ma:versionID="2cc88ace384ab63cdfefd6ba4c9c6e19">
  <xsd:schema xmlns:xsd="http://www.w3.org/2001/XMLSchema" xmlns:xs="http://www.w3.org/2001/XMLSchema" xmlns:p="http://schemas.microsoft.com/office/2006/metadata/properties" xmlns:ns2="8203920f-e80a-4f40-891f-374d92aaa723" xmlns:ns3="94453763-5c73-4bc4-9bc2-0b162bd4cfed" targetNamespace="http://schemas.microsoft.com/office/2006/metadata/properties" ma:root="true" ma:fieldsID="b09e4c8b1d448c696d03e70d112964b5" ns2:_="" ns3:_="">
    <xsd:import namespace="8203920f-e80a-4f40-891f-374d92aaa723"/>
    <xsd:import namespace="94453763-5c73-4bc4-9bc2-0b162bd4cf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3920f-e80a-4f40-891f-374d92aaa7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453763-5c73-4bc4-9bc2-0b162bd4cf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1CF28C-A6CA-48EC-A751-93D4F186C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3920f-e80a-4f40-891f-374d92aaa723"/>
    <ds:schemaRef ds:uri="94453763-5c73-4bc4-9bc2-0b162bd4c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FEFE1D-2A63-4943-A8E9-412AC2E6794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1A84523-DC6D-4F6B-A4CC-3FF10C5ADA6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1613</TotalTime>
  <Words>720</Words>
  <Application>Microsoft Office PowerPoint</Application>
  <PresentationFormat>On-screen Show (16:9)</PresentationFormat>
  <Paragraphs>55</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Main Master</vt:lpstr>
      <vt:lpstr>Business &amp; Marketing, Digital Marketing &amp; Social Media, &amp; Economics</vt:lpstr>
      <vt:lpstr>PowerPoint Presentation</vt:lpstr>
      <vt:lpstr>Game THEORY!!!</vt:lpstr>
      <vt:lpstr>PowerPoint Presentation</vt:lpstr>
      <vt:lpstr>SHUCKS! YOU GOT CAUGHT!</vt:lpstr>
      <vt:lpstr>Welcome to the Prisoner’s Dilemma…</vt:lpstr>
      <vt:lpstr>Breakout 1: Each Prisoner with Their LawyerS</vt:lpstr>
      <vt:lpstr>Are you going to rat out your partner?</vt:lpstr>
      <vt:lpstr>Are you going to rat out your partner?</vt:lpstr>
      <vt:lpstr>Breakout 2: Let’s Try Again  Each Prisoner with Their LawyerS, now that they know what the other robber might do</vt:lpstr>
      <vt:lpstr>Breakout 3: One Last Time  What if the prisoners trust each other a lot? (Need two Really Good Friends to volunteer)</vt:lpstr>
      <vt:lpstr>Economics Game Theory</vt:lpstr>
      <vt:lpstr>Applications in Government and Science</vt:lpstr>
      <vt:lpstr>March Precept</vt:lpstr>
      <vt:lpstr>Assignment-Give Kudos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Sebastian Arias</dc:creator>
  <cp:keywords/>
  <dc:description/>
  <cp:lastModifiedBy>Ryfka Schafer</cp:lastModifiedBy>
  <cp:revision>20</cp:revision>
  <cp:lastPrinted>2018-04-23T17:55:37Z</cp:lastPrinted>
  <dcterms:created xsi:type="dcterms:W3CDTF">2017-07-25T22:09:28Z</dcterms:created>
  <dcterms:modified xsi:type="dcterms:W3CDTF">2026-03-05T22:13:52Z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0x0101009DD89C5D911BC046B277DCAF5366D800</vt:lpwstr>
  </property>
  <property fmtid="{D5CDD505-2E9C-101B-9397-08002B2CF9AE}" pid="3" name="Document Retention Period">
    <vt:lpwstr>2;#3 Yr|c8cd55a2-159d-41a5-94cb-7dd28dd1c861</vt:lpwstr>
  </property>
  <property fmtid="{D5CDD505-2E9C-101B-9397-08002B2CF9AE}" pid="4" name="_dlc_DocIdItemGuid">
    <vt:lpwstr>e1d96100-0888-476a-a9ce-609654440f9d</vt:lpwstr>
  </property>
</Properties>
</file>